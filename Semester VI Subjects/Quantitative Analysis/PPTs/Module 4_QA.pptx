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Montserra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AF312D-7578-4DB5-BFAC-BC315F1560DF}">
  <a:tblStyle styleId="{08AF312D-7578-4DB5-BFAC-BC315F1560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97bcb75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97bcb75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697bcb756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697bcb756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ba6ecd9938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ba6ecd993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ba6ecd9938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ba6ecd993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ba6ecd993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ba6ecd993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ba6ecd9938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ba6ecd9938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a6ecd9938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a6ecd9938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697bcb756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697bcb756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697bcb756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697bcb756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97bcb756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97bcb756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697bcb756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697bcb756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97bcb756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697bcb756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97bcb756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97bcb756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6ac6c58f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6ac6c58f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697bcb756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697bcb756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6ac6c58fd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6ac6c58fd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/>
              <a:t>Module 4</a:t>
            </a:r>
            <a:endParaRPr b="1" sz="4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/>
              <a:t>Multiple Linear Regression (MLR)		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 dependent variable (</a:t>
            </a:r>
            <a:r>
              <a:rPr i="1" lang="en" sz="1700">
                <a:solidFill>
                  <a:schemeClr val="dk1"/>
                </a:solidFill>
              </a:rPr>
              <a:t>y</a:t>
            </a:r>
            <a:r>
              <a:rPr lang="en" sz="1700">
                <a:solidFill>
                  <a:schemeClr val="dk1"/>
                </a:solidFill>
              </a:rPr>
              <a:t>) is related to more than one independent variable.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This relationship can be estimated, it may enable us to make more precise predictions of the dependent variable than would be possible by a simple linear regression.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Regressions based on more than one independent variable are called </a:t>
            </a:r>
            <a:r>
              <a:rPr b="1" lang="en" sz="1700">
                <a:solidFill>
                  <a:schemeClr val="dk1"/>
                </a:solidFill>
              </a:rPr>
              <a:t>multiple regressions</a:t>
            </a:r>
            <a:r>
              <a:rPr lang="en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Scatterplots, correlation, and least squares method are still essential components for a multiple regression.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The general linear regression model takes the form of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800" y="3413225"/>
            <a:ext cx="3020651" cy="3879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310850" y="3635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 is the random response variable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679125" y="3927575"/>
            <a:ext cx="656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β0, β1, β2, and βk are the parameters to be estimated based on the sample data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223125" y="4299050"/>
            <a:ext cx="8349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i="1" lang="en" sz="1200">
                <a:solidFill>
                  <a:schemeClr val="dk1"/>
                </a:solidFill>
              </a:rPr>
              <a:t>x</a:t>
            </a:r>
            <a:r>
              <a:rPr lang="en" sz="1200">
                <a:solidFill>
                  <a:schemeClr val="dk1"/>
                </a:solidFill>
              </a:rPr>
              <a:t>1</a:t>
            </a:r>
            <a:r>
              <a:rPr i="1" lang="en" sz="1200">
                <a:solidFill>
                  <a:schemeClr val="dk1"/>
                </a:solidFill>
              </a:rPr>
              <a:t>, x</a:t>
            </a:r>
            <a:r>
              <a:rPr lang="en" sz="1200">
                <a:solidFill>
                  <a:schemeClr val="dk1"/>
                </a:solidFill>
              </a:rPr>
              <a:t>2</a:t>
            </a:r>
            <a:r>
              <a:rPr i="1" lang="en" sz="1200">
                <a:solidFill>
                  <a:schemeClr val="dk1"/>
                </a:solidFill>
              </a:rPr>
              <a:t>,…, x</a:t>
            </a:r>
            <a:r>
              <a:rPr lang="en" sz="1200">
                <a:solidFill>
                  <a:schemeClr val="dk1"/>
                </a:solidFill>
              </a:rPr>
              <a:t>k are the predictor variables that are assumed to be non-random or fixed and measured without error, and k is the number of predictor variable,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and ε is the random error, which allows each response to deviate from the average value of </a:t>
            </a:r>
            <a:r>
              <a:rPr i="1" lang="en" sz="1200">
                <a:solidFill>
                  <a:schemeClr val="dk1"/>
                </a:solidFill>
              </a:rPr>
              <a:t>y</a:t>
            </a:r>
            <a:endParaRPr i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9"/>
              <a:t>Basic Condition for Multiple Regression</a:t>
            </a:r>
            <a:endParaRPr b="1" sz="1829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695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900">
                <a:solidFill>
                  <a:schemeClr val="dk1"/>
                </a:solidFill>
              </a:rPr>
              <a:t>There must be a linear relationship between the independent variable and the outcome variables.</a:t>
            </a:r>
            <a:endParaRPr sz="19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900">
                <a:solidFill>
                  <a:schemeClr val="dk1"/>
                </a:solidFill>
              </a:rPr>
              <a:t>It considers the residuals to be normally distributed.</a:t>
            </a:r>
            <a:endParaRPr sz="19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900">
                <a:solidFill>
                  <a:schemeClr val="dk1"/>
                </a:solidFill>
              </a:rPr>
              <a:t>It assumes that the independent variables are not highly correlated with each other.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963" y="2488875"/>
            <a:ext cx="6219825" cy="26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140225"/>
            <a:ext cx="8520600" cy="3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Formula</a:t>
            </a:r>
            <a:endParaRPr b="1"/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0" l="0" r="4452" t="0"/>
          <a:stretch/>
        </p:blipFill>
        <p:spPr>
          <a:xfrm>
            <a:off x="59599" y="630600"/>
            <a:ext cx="5826025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4">
            <a:alphaModFix/>
          </a:blip>
          <a:srcRect b="0" l="0" r="15404" t="0"/>
          <a:stretch/>
        </p:blipFill>
        <p:spPr>
          <a:xfrm>
            <a:off x="4702975" y="1149075"/>
            <a:ext cx="4129325" cy="381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576" y="669200"/>
            <a:ext cx="7509675" cy="379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>
            <p:ph type="title"/>
          </p:nvPr>
        </p:nvSpPr>
        <p:spPr>
          <a:xfrm>
            <a:off x="335325" y="161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/>
              <a:t>Numerical</a:t>
            </a:r>
            <a:endParaRPr b="1" sz="24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351" y="428100"/>
            <a:ext cx="7411899" cy="403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175" y="164150"/>
            <a:ext cx="6084749" cy="488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377" y="331827"/>
            <a:ext cx="7318851" cy="429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35325" y="161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/>
              <a:t>Numerical</a:t>
            </a:r>
            <a:endParaRPr b="1" sz="2420"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695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Suppose we have the following dataset with one response variable </a:t>
            </a:r>
            <a:r>
              <a:rPr i="1" lang="en" sz="1400">
                <a:solidFill>
                  <a:schemeClr val="dk1"/>
                </a:solidFill>
              </a:rPr>
              <a:t>y</a:t>
            </a:r>
            <a:r>
              <a:rPr lang="en" sz="1400">
                <a:solidFill>
                  <a:schemeClr val="dk1"/>
                </a:solidFill>
              </a:rPr>
              <a:t> and two predictor variables X</a:t>
            </a:r>
            <a:r>
              <a:rPr baseline="-25000" lang="en" sz="1400">
                <a:solidFill>
                  <a:schemeClr val="dk1"/>
                </a:solidFill>
              </a:rPr>
              <a:t>1</a:t>
            </a:r>
            <a:r>
              <a:rPr lang="en" sz="1400">
                <a:solidFill>
                  <a:schemeClr val="dk1"/>
                </a:solidFill>
              </a:rPr>
              <a:t> and X</a:t>
            </a:r>
            <a:r>
              <a:rPr baseline="-25000" lang="en" sz="1400">
                <a:solidFill>
                  <a:schemeClr val="dk1"/>
                </a:solidFill>
              </a:rPr>
              <a:t>2</a:t>
            </a:r>
            <a:r>
              <a:rPr lang="en" sz="1400">
                <a:solidFill>
                  <a:schemeClr val="dk1"/>
                </a:solidFill>
              </a:rPr>
              <a:t>:</a:t>
            </a:r>
            <a:endParaRPr sz="2100"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475" y="1215400"/>
            <a:ext cx="28575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1"/>
          <p:cNvSpPr txBox="1"/>
          <p:nvPr/>
        </p:nvSpPr>
        <p:spPr>
          <a:xfrm>
            <a:off x="212600" y="3785300"/>
            <a:ext cx="749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following steps to fit a multiple linear regression model to this dataset.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50" y="638175"/>
            <a:ext cx="8877300" cy="38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238" y="342900"/>
            <a:ext cx="8391525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300" y="506150"/>
            <a:ext cx="8353425" cy="38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800" y="327550"/>
            <a:ext cx="6764100" cy="444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750" y="355675"/>
            <a:ext cx="7736400" cy="403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Numerical</a:t>
            </a:r>
            <a:endParaRPr b="1"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736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multiple linear regression equation of y on X1 and X2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graphicFrame>
        <p:nvGraphicFramePr>
          <p:cNvPr id="141" name="Google Shape;141;p27"/>
          <p:cNvGraphicFramePr/>
          <p:nvPr/>
        </p:nvGraphicFramePr>
        <p:xfrm>
          <a:off x="774688" y="122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{08AF312D-7578-4DB5-BFAC-BC315F1560DF}</a:tableStyleId>
              </a:tblPr>
              <a:tblGrid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y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4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6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7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9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13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15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X1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15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12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8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6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4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3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X2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30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24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20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14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10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4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" name="Google Shape;142;p27"/>
          <p:cNvSpPr txBox="1"/>
          <p:nvPr/>
        </p:nvSpPr>
        <p:spPr>
          <a:xfrm>
            <a:off x="1258525" y="4090175"/>
            <a:ext cx="787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692625" y="2742300"/>
            <a:ext cx="6552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Ans: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Regression coefficient are: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b1= 0.389,                 b2=0.623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b0= 16.479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Write a multiple linear regression equation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277225" y="21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P</a:t>
            </a:r>
            <a:r>
              <a:rPr b="1" lang="en" sz="2300"/>
              <a:t>artial regression coefficient</a:t>
            </a:r>
            <a:endParaRPr sz="4000"/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311700" y="1054925"/>
            <a:ext cx="8520600" cy="33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A </a:t>
            </a:r>
            <a:r>
              <a:rPr b="1" lang="en" sz="1900">
                <a:solidFill>
                  <a:schemeClr val="dk1"/>
                </a:solidFill>
              </a:rPr>
              <a:t>partial regression coefficient</a:t>
            </a:r>
            <a:r>
              <a:rPr lang="en" sz="1900">
                <a:solidFill>
                  <a:schemeClr val="dk1"/>
                </a:solidFill>
              </a:rPr>
              <a:t> is the name given to the regression coefficients in a multiple linear regression model.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This is in contrast to a plain old “regression coefficient”, which is the name given to the regression coefficient in a simple linear regression model.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The way to interpret a </a:t>
            </a:r>
            <a:r>
              <a:rPr b="1" lang="en" sz="1900">
                <a:solidFill>
                  <a:schemeClr val="dk1"/>
                </a:solidFill>
              </a:rPr>
              <a:t>partial regression coefficient</a:t>
            </a:r>
            <a:r>
              <a:rPr lang="en" sz="1900">
                <a:solidFill>
                  <a:schemeClr val="dk1"/>
                </a:solidFill>
              </a:rPr>
              <a:t> is: The average change in the response variable associated with a one unit increase in a given predictor variable, assuming all other predictor variables are held constant.</a:t>
            </a:r>
            <a:endParaRPr sz="2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Interpreting Partial Regression Coefficients</a:t>
            </a:r>
            <a:endParaRPr b="1" sz="16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950">
                <a:solidFill>
                  <a:schemeClr val="dk1"/>
                </a:solidFill>
                <a:highlight>
                  <a:srgbClr val="FFFFFF"/>
                </a:highlight>
              </a:rPr>
              <a:t>Suppose one has to know if the number of hours spent studying and the number of prep exams taken affects the score that a student receives on a certain college entrance exam.</a:t>
            </a:r>
            <a:endParaRPr sz="19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50">
                <a:solidFill>
                  <a:schemeClr val="dk1"/>
                </a:solidFill>
                <a:highlight>
                  <a:srgbClr val="FFFFFF"/>
                </a:highlight>
              </a:rPr>
              <a:t>To explore this relationship, one can fit a multiple linear regression model using </a:t>
            </a:r>
            <a:r>
              <a:rPr b="1" lang="en" sz="1950">
                <a:solidFill>
                  <a:schemeClr val="dk1"/>
                </a:solidFill>
                <a:highlight>
                  <a:srgbClr val="FFFFFF"/>
                </a:highlight>
              </a:rPr>
              <a:t>hours studied</a:t>
            </a:r>
            <a:r>
              <a:rPr lang="en" sz="1950">
                <a:solidFill>
                  <a:schemeClr val="dk1"/>
                </a:solidFill>
                <a:highlight>
                  <a:srgbClr val="FFFFFF"/>
                </a:highlight>
              </a:rPr>
              <a:t> and </a:t>
            </a:r>
            <a:r>
              <a:rPr b="1" lang="en" sz="1950">
                <a:solidFill>
                  <a:schemeClr val="dk1"/>
                </a:solidFill>
                <a:highlight>
                  <a:srgbClr val="FFFFFF"/>
                </a:highlight>
              </a:rPr>
              <a:t>prep exams taken </a:t>
            </a:r>
            <a:r>
              <a:rPr lang="en" sz="1950">
                <a:solidFill>
                  <a:schemeClr val="dk1"/>
                </a:solidFill>
                <a:highlight>
                  <a:srgbClr val="FFFFFF"/>
                </a:highlight>
              </a:rPr>
              <a:t>as predictor variables and </a:t>
            </a:r>
            <a:r>
              <a:rPr b="1" lang="en" sz="1950">
                <a:solidFill>
                  <a:schemeClr val="dk1"/>
                </a:solidFill>
                <a:highlight>
                  <a:srgbClr val="FFFFFF"/>
                </a:highlight>
              </a:rPr>
              <a:t>exam score </a:t>
            </a:r>
            <a:r>
              <a:rPr lang="en" sz="1950">
                <a:solidFill>
                  <a:schemeClr val="dk1"/>
                </a:solidFill>
                <a:highlight>
                  <a:srgbClr val="FFFFFF"/>
                </a:highlight>
              </a:rPr>
              <a:t>as a response variable.</a:t>
            </a:r>
            <a:endParaRPr sz="19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55" name="Google Shape;155;p29"/>
          <p:cNvSpPr txBox="1"/>
          <p:nvPr>
            <p:ph type="title"/>
          </p:nvPr>
        </p:nvSpPr>
        <p:spPr>
          <a:xfrm>
            <a:off x="277225" y="21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/>
              <a:t>Partial regression coefficient</a:t>
            </a:r>
            <a:endParaRPr sz="4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