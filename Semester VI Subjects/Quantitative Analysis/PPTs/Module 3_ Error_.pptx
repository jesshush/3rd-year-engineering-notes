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1277AE6-E8DC-440F-A2DE-527C82D4E399}">
  <a:tblStyle styleId="{21277AE6-E8DC-440F-A2DE-527C82D4E39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6929adfa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6929adfa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6929adfa9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6929adfa9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6929adfa9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6929adfa9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6929adfa9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6929adfa9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6929adfa9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6929adfa9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6929adfa9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6929adfa9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6929adfa9a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6929adfa9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6929adfa9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6929adfa9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6929adfa9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6929adfa9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6929adfa9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6929adfa9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6929adfa9a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6929adfa9a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6929adfa9a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6929adfa9a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6929adfa9a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6929adfa9a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Module 3</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Error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lnSpc>
                <a:spcPct val="120000"/>
              </a:lnSpc>
              <a:spcBef>
                <a:spcPts val="0"/>
              </a:spcBef>
              <a:spcAft>
                <a:spcPts val="0"/>
              </a:spcAft>
              <a:buClr>
                <a:schemeClr val="dk1"/>
              </a:buClr>
              <a:buSzPts val="990"/>
              <a:buFont typeface="Arial"/>
              <a:buNone/>
            </a:pPr>
            <a:r>
              <a:rPr b="1" lang="en" sz="2630">
                <a:solidFill>
                  <a:srgbClr val="111111"/>
                </a:solidFill>
                <a:highlight>
                  <a:srgbClr val="FFFFFF"/>
                </a:highlight>
              </a:rPr>
              <a:t> Error Term</a:t>
            </a:r>
            <a:endParaRPr b="1" sz="2630">
              <a:solidFill>
                <a:srgbClr val="111111"/>
              </a:solidFill>
              <a:highlight>
                <a:srgbClr val="FFFFFF"/>
              </a:highlight>
            </a:endParaRPr>
          </a:p>
          <a:p>
            <a:pPr indent="0" lvl="0" marL="0" rtl="0" algn="l">
              <a:spcBef>
                <a:spcPts val="400"/>
              </a:spcBef>
              <a:spcAft>
                <a:spcPts val="0"/>
              </a:spcAft>
              <a:buSzPts val="990"/>
              <a:buNone/>
            </a:pPr>
            <a:r>
              <a:t/>
            </a:r>
            <a:endParaRPr sz="3620"/>
          </a:p>
        </p:txBody>
      </p:sp>
      <p:sp>
        <p:nvSpPr>
          <p:cNvPr id="61" name="Google Shape;61;p14"/>
          <p:cNvSpPr txBox="1"/>
          <p:nvPr>
            <p:ph idx="1" type="body"/>
          </p:nvPr>
        </p:nvSpPr>
        <p:spPr>
          <a:xfrm>
            <a:off x="311700" y="933600"/>
            <a:ext cx="8520600" cy="3416400"/>
          </a:xfrm>
          <a:prstGeom prst="rect">
            <a:avLst/>
          </a:prstGeom>
        </p:spPr>
        <p:txBody>
          <a:bodyPr anchorCtr="0" anchor="t" bIns="91425" lIns="91425" spcFirstLastPara="1" rIns="91425" wrap="square" tIns="91425">
            <a:normAutofit/>
          </a:bodyPr>
          <a:lstStyle/>
          <a:p>
            <a:pPr indent="-358775" lvl="0" marL="457200" rtl="0" algn="l">
              <a:spcBef>
                <a:spcPts val="0"/>
              </a:spcBef>
              <a:spcAft>
                <a:spcPts val="0"/>
              </a:spcAft>
              <a:buClr>
                <a:srgbClr val="111111"/>
              </a:buClr>
              <a:buSzPts val="2050"/>
              <a:buChar char="●"/>
            </a:pPr>
            <a:r>
              <a:rPr lang="en" sz="2050">
                <a:solidFill>
                  <a:srgbClr val="111111"/>
                </a:solidFill>
                <a:highlight>
                  <a:srgbClr val="FFFFFF"/>
                </a:highlight>
              </a:rPr>
              <a:t>An </a:t>
            </a:r>
            <a:r>
              <a:rPr b="1" lang="en" sz="2050">
                <a:solidFill>
                  <a:srgbClr val="111111"/>
                </a:solidFill>
                <a:highlight>
                  <a:srgbClr val="FFFFFF"/>
                </a:highlight>
              </a:rPr>
              <a:t>error term</a:t>
            </a:r>
            <a:r>
              <a:rPr lang="en" sz="2050">
                <a:solidFill>
                  <a:srgbClr val="111111"/>
                </a:solidFill>
                <a:highlight>
                  <a:srgbClr val="FFFFFF"/>
                </a:highlight>
              </a:rPr>
              <a:t> is a </a:t>
            </a:r>
            <a:r>
              <a:rPr b="1" lang="en" sz="2050">
                <a:solidFill>
                  <a:srgbClr val="111111"/>
                </a:solidFill>
                <a:highlight>
                  <a:srgbClr val="FFFFFF"/>
                </a:highlight>
              </a:rPr>
              <a:t>residual </a:t>
            </a:r>
            <a:r>
              <a:rPr lang="en" sz="2050">
                <a:solidFill>
                  <a:srgbClr val="111111"/>
                </a:solidFill>
                <a:highlight>
                  <a:srgbClr val="FFFFFF"/>
                </a:highlight>
              </a:rPr>
              <a:t>variable produced by a statistical or mathematical model, which is created when the model does not fully represent the actual relationship between the independent variables and the dependent variables. </a:t>
            </a:r>
            <a:endParaRPr sz="2050">
              <a:solidFill>
                <a:srgbClr val="111111"/>
              </a:solidFill>
              <a:highlight>
                <a:srgbClr val="FFFFFF"/>
              </a:highlight>
            </a:endParaRPr>
          </a:p>
          <a:p>
            <a:pPr indent="-358775" lvl="0" marL="457200" rtl="0" algn="l">
              <a:spcBef>
                <a:spcPts val="0"/>
              </a:spcBef>
              <a:spcAft>
                <a:spcPts val="0"/>
              </a:spcAft>
              <a:buClr>
                <a:srgbClr val="111111"/>
              </a:buClr>
              <a:buSzPts val="2050"/>
              <a:buChar char="●"/>
            </a:pPr>
            <a:r>
              <a:rPr lang="en" sz="2050">
                <a:solidFill>
                  <a:srgbClr val="111111"/>
                </a:solidFill>
                <a:highlight>
                  <a:srgbClr val="FFFFFF"/>
                </a:highlight>
              </a:rPr>
              <a:t>As a result of this incomplete relationship, the </a:t>
            </a:r>
            <a:r>
              <a:rPr b="1" lang="en" sz="2050">
                <a:solidFill>
                  <a:srgbClr val="111111"/>
                </a:solidFill>
                <a:highlight>
                  <a:srgbClr val="FFFFFF"/>
                </a:highlight>
              </a:rPr>
              <a:t>error term </a:t>
            </a:r>
            <a:r>
              <a:rPr lang="en" sz="2050">
                <a:solidFill>
                  <a:srgbClr val="111111"/>
                </a:solidFill>
                <a:highlight>
                  <a:srgbClr val="FFFFFF"/>
                </a:highlight>
              </a:rPr>
              <a:t>is the amount at which the equation may differ during empirical analysis.</a:t>
            </a:r>
            <a:endParaRPr sz="2050">
              <a:solidFill>
                <a:srgbClr val="111111"/>
              </a:solidFill>
              <a:highlight>
                <a:srgbClr val="FFFFFF"/>
              </a:highlight>
            </a:endParaRPr>
          </a:p>
          <a:p>
            <a:pPr indent="-358775" lvl="0" marL="457200" rtl="0" algn="l">
              <a:spcBef>
                <a:spcPts val="0"/>
              </a:spcBef>
              <a:spcAft>
                <a:spcPts val="0"/>
              </a:spcAft>
              <a:buClr>
                <a:srgbClr val="111111"/>
              </a:buClr>
              <a:buSzPts val="2050"/>
              <a:buChar char="●"/>
            </a:pPr>
            <a:r>
              <a:rPr lang="en" sz="2050">
                <a:solidFill>
                  <a:srgbClr val="111111"/>
                </a:solidFill>
                <a:highlight>
                  <a:srgbClr val="FFFFFF"/>
                </a:highlight>
              </a:rPr>
              <a:t>The </a:t>
            </a:r>
            <a:r>
              <a:rPr b="1" lang="en" sz="2050">
                <a:solidFill>
                  <a:srgbClr val="111111"/>
                </a:solidFill>
                <a:highlight>
                  <a:srgbClr val="FFFFFF"/>
                </a:highlight>
              </a:rPr>
              <a:t>error term </a:t>
            </a:r>
            <a:r>
              <a:rPr lang="en" sz="2050">
                <a:solidFill>
                  <a:srgbClr val="111111"/>
                </a:solidFill>
                <a:highlight>
                  <a:srgbClr val="FFFFFF"/>
                </a:highlight>
              </a:rPr>
              <a:t>is also known as the </a:t>
            </a:r>
            <a:r>
              <a:rPr b="1" lang="en" sz="2050">
                <a:solidFill>
                  <a:srgbClr val="111111"/>
                </a:solidFill>
                <a:highlight>
                  <a:srgbClr val="FFFFFF"/>
                </a:highlight>
              </a:rPr>
              <a:t>residual</a:t>
            </a:r>
            <a:r>
              <a:rPr lang="en" sz="2050">
                <a:solidFill>
                  <a:srgbClr val="111111"/>
                </a:solidFill>
                <a:highlight>
                  <a:srgbClr val="FFFFFF"/>
                </a:highlight>
              </a:rPr>
              <a:t>, disturbance, or remainder term, and is variously represented in models by the letters </a:t>
            </a:r>
            <a:r>
              <a:rPr i="1" lang="en" sz="2050">
                <a:solidFill>
                  <a:srgbClr val="111111"/>
                </a:solidFill>
                <a:highlight>
                  <a:srgbClr val="FFFFFF"/>
                </a:highlight>
              </a:rPr>
              <a:t>e, </a:t>
            </a:r>
            <a:r>
              <a:rPr lang="en" sz="2050">
                <a:solidFill>
                  <a:srgbClr val="111111"/>
                </a:solidFill>
                <a:highlight>
                  <a:srgbClr val="FFFFFF"/>
                </a:highlight>
              </a:rPr>
              <a:t>ε, or u.</a:t>
            </a:r>
            <a:endParaRPr sz="2050">
              <a:solidFill>
                <a:srgbClr val="111111"/>
              </a:solidFill>
              <a:highlight>
                <a:srgbClr val="FFFFFF"/>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idx="1" type="body"/>
          </p:nvPr>
        </p:nvSpPr>
        <p:spPr>
          <a:xfrm>
            <a:off x="311700" y="771475"/>
            <a:ext cx="8520600" cy="3416400"/>
          </a:xfrm>
          <a:prstGeom prst="rect">
            <a:avLst/>
          </a:prstGeom>
        </p:spPr>
        <p:txBody>
          <a:bodyPr anchorCtr="0" anchor="t" bIns="91425" lIns="91425" spcFirstLastPara="1" rIns="91425" wrap="square" tIns="91425">
            <a:noAutofit/>
          </a:bodyPr>
          <a:lstStyle/>
          <a:p>
            <a:pPr indent="-352425" lvl="0" marL="457200" rtl="0" algn="l">
              <a:spcBef>
                <a:spcPts val="0"/>
              </a:spcBef>
              <a:spcAft>
                <a:spcPts val="0"/>
              </a:spcAft>
              <a:buClr>
                <a:srgbClr val="111111"/>
              </a:buClr>
              <a:buSzPts val="1950"/>
              <a:buChar char="●"/>
            </a:pPr>
            <a:r>
              <a:rPr lang="en" sz="1950">
                <a:solidFill>
                  <a:srgbClr val="111111"/>
                </a:solidFill>
                <a:highlight>
                  <a:srgbClr val="FFFFFF"/>
                </a:highlight>
              </a:rPr>
              <a:t>An error term represents the margin of error within a statistical model; it refers to the sum of the deviations within the regression line, which provides an explanation for the difference between the theoretical value of the model and the actual observed results.</a:t>
            </a:r>
            <a:endParaRPr sz="1950">
              <a:solidFill>
                <a:srgbClr val="111111"/>
              </a:solidFill>
              <a:highlight>
                <a:srgbClr val="FFFFFF"/>
              </a:highlight>
            </a:endParaRPr>
          </a:p>
          <a:p>
            <a:pPr indent="-352425" lvl="0" marL="457200" rtl="0" algn="l">
              <a:spcBef>
                <a:spcPts val="0"/>
              </a:spcBef>
              <a:spcAft>
                <a:spcPts val="0"/>
              </a:spcAft>
              <a:buClr>
                <a:srgbClr val="111111"/>
              </a:buClr>
              <a:buSzPts val="1950"/>
              <a:buChar char="●"/>
            </a:pPr>
            <a:r>
              <a:rPr lang="en" sz="1950">
                <a:solidFill>
                  <a:srgbClr val="111111"/>
                </a:solidFill>
                <a:highlight>
                  <a:srgbClr val="FFFFFF"/>
                </a:highlight>
              </a:rPr>
              <a:t>Although the</a:t>
            </a:r>
            <a:r>
              <a:rPr b="1" lang="en" sz="1950">
                <a:solidFill>
                  <a:srgbClr val="111111"/>
                </a:solidFill>
                <a:highlight>
                  <a:srgbClr val="FFFFFF"/>
                </a:highlight>
              </a:rPr>
              <a:t> error term </a:t>
            </a:r>
            <a:r>
              <a:rPr lang="en" sz="1950">
                <a:solidFill>
                  <a:srgbClr val="111111"/>
                </a:solidFill>
                <a:highlight>
                  <a:srgbClr val="FFFFFF"/>
                </a:highlight>
              </a:rPr>
              <a:t>and </a:t>
            </a:r>
            <a:r>
              <a:rPr b="1" lang="en" sz="1950">
                <a:solidFill>
                  <a:srgbClr val="111111"/>
                </a:solidFill>
                <a:highlight>
                  <a:srgbClr val="FFFFFF"/>
                </a:highlight>
              </a:rPr>
              <a:t>residual </a:t>
            </a:r>
            <a:r>
              <a:rPr lang="en" sz="1950">
                <a:solidFill>
                  <a:srgbClr val="111111"/>
                </a:solidFill>
                <a:highlight>
                  <a:srgbClr val="FFFFFF"/>
                </a:highlight>
              </a:rPr>
              <a:t>are often used synonymously, there is an important formal difference. </a:t>
            </a:r>
            <a:endParaRPr sz="1950">
              <a:solidFill>
                <a:srgbClr val="111111"/>
              </a:solidFill>
              <a:highlight>
                <a:srgbClr val="FFFFFF"/>
              </a:highlight>
            </a:endParaRPr>
          </a:p>
          <a:p>
            <a:pPr indent="-352425" lvl="0" marL="457200" rtl="0" algn="l">
              <a:spcBef>
                <a:spcPts val="0"/>
              </a:spcBef>
              <a:spcAft>
                <a:spcPts val="0"/>
              </a:spcAft>
              <a:buClr>
                <a:srgbClr val="111111"/>
              </a:buClr>
              <a:buSzPts val="1950"/>
              <a:buChar char="●"/>
            </a:pPr>
            <a:r>
              <a:rPr lang="en" sz="1950">
                <a:solidFill>
                  <a:srgbClr val="111111"/>
                </a:solidFill>
                <a:highlight>
                  <a:srgbClr val="FFFFFF"/>
                </a:highlight>
              </a:rPr>
              <a:t>An </a:t>
            </a:r>
            <a:r>
              <a:rPr b="1" lang="en" sz="1950">
                <a:solidFill>
                  <a:srgbClr val="111111"/>
                </a:solidFill>
                <a:highlight>
                  <a:srgbClr val="FFFFFF"/>
                </a:highlight>
              </a:rPr>
              <a:t>error </a:t>
            </a:r>
            <a:r>
              <a:rPr lang="en" sz="1950">
                <a:solidFill>
                  <a:srgbClr val="111111"/>
                </a:solidFill>
                <a:highlight>
                  <a:srgbClr val="FFFFFF"/>
                </a:highlight>
              </a:rPr>
              <a:t>term is generally </a:t>
            </a:r>
            <a:r>
              <a:rPr b="1" lang="en" sz="1950">
                <a:solidFill>
                  <a:srgbClr val="111111"/>
                </a:solidFill>
                <a:highlight>
                  <a:srgbClr val="FFFFFF"/>
                </a:highlight>
              </a:rPr>
              <a:t>unobservable </a:t>
            </a:r>
            <a:r>
              <a:rPr lang="en" sz="1950">
                <a:solidFill>
                  <a:srgbClr val="111111"/>
                </a:solidFill>
                <a:highlight>
                  <a:srgbClr val="FFFFFF"/>
                </a:highlight>
              </a:rPr>
              <a:t>and a </a:t>
            </a:r>
            <a:r>
              <a:rPr b="1" lang="en" sz="1950">
                <a:solidFill>
                  <a:srgbClr val="111111"/>
                </a:solidFill>
                <a:highlight>
                  <a:srgbClr val="FFFFFF"/>
                </a:highlight>
              </a:rPr>
              <a:t>residual </a:t>
            </a:r>
            <a:r>
              <a:rPr lang="en" sz="1950">
                <a:solidFill>
                  <a:srgbClr val="111111"/>
                </a:solidFill>
                <a:highlight>
                  <a:srgbClr val="FFFFFF"/>
                </a:highlight>
              </a:rPr>
              <a:t>is observable and </a:t>
            </a:r>
            <a:r>
              <a:rPr b="1" lang="en" sz="1950">
                <a:solidFill>
                  <a:srgbClr val="111111"/>
                </a:solidFill>
                <a:highlight>
                  <a:srgbClr val="FFFFFF"/>
                </a:highlight>
              </a:rPr>
              <a:t>calculatable</a:t>
            </a:r>
            <a:r>
              <a:rPr lang="en" sz="1950">
                <a:solidFill>
                  <a:srgbClr val="111111"/>
                </a:solidFill>
                <a:highlight>
                  <a:srgbClr val="FFFFFF"/>
                </a:highlight>
              </a:rPr>
              <a:t>, making it much easier to quantify and visualize. </a:t>
            </a:r>
            <a:endParaRPr sz="1950">
              <a:solidFill>
                <a:srgbClr val="111111"/>
              </a:solidFill>
              <a:highlight>
                <a:srgbClr val="FFFFFF"/>
              </a:highlight>
            </a:endParaRPr>
          </a:p>
          <a:p>
            <a:pPr indent="-352425" lvl="0" marL="457200" rtl="0" algn="l">
              <a:spcBef>
                <a:spcPts val="0"/>
              </a:spcBef>
              <a:spcAft>
                <a:spcPts val="0"/>
              </a:spcAft>
              <a:buClr>
                <a:srgbClr val="111111"/>
              </a:buClr>
              <a:buSzPts val="1950"/>
              <a:buChar char="●"/>
            </a:pPr>
            <a:r>
              <a:rPr lang="en" sz="1950">
                <a:solidFill>
                  <a:srgbClr val="111111"/>
                </a:solidFill>
                <a:highlight>
                  <a:srgbClr val="FFFFFF"/>
                </a:highlight>
              </a:rPr>
              <a:t>In effect, while an </a:t>
            </a:r>
            <a:r>
              <a:rPr b="1" lang="en" sz="1950">
                <a:solidFill>
                  <a:srgbClr val="111111"/>
                </a:solidFill>
                <a:highlight>
                  <a:srgbClr val="FFFFFF"/>
                </a:highlight>
              </a:rPr>
              <a:t>error </a:t>
            </a:r>
            <a:r>
              <a:rPr lang="en" sz="1950">
                <a:solidFill>
                  <a:srgbClr val="111111"/>
                </a:solidFill>
                <a:highlight>
                  <a:srgbClr val="FFFFFF"/>
                </a:highlight>
              </a:rPr>
              <a:t>term represents the way observed data differs from the </a:t>
            </a:r>
            <a:r>
              <a:rPr b="1" lang="en" sz="1950">
                <a:solidFill>
                  <a:srgbClr val="111111"/>
                </a:solidFill>
                <a:highlight>
                  <a:srgbClr val="FFFFFF"/>
                </a:highlight>
              </a:rPr>
              <a:t>actual population</a:t>
            </a:r>
            <a:r>
              <a:rPr lang="en" sz="1950">
                <a:solidFill>
                  <a:srgbClr val="111111"/>
                </a:solidFill>
                <a:highlight>
                  <a:srgbClr val="FFFFFF"/>
                </a:highlight>
              </a:rPr>
              <a:t>, a </a:t>
            </a:r>
            <a:r>
              <a:rPr b="1" lang="en" sz="1950">
                <a:solidFill>
                  <a:srgbClr val="111111"/>
                </a:solidFill>
                <a:highlight>
                  <a:srgbClr val="FFFFFF"/>
                </a:highlight>
              </a:rPr>
              <a:t>residual </a:t>
            </a:r>
            <a:r>
              <a:rPr lang="en" sz="1950">
                <a:solidFill>
                  <a:srgbClr val="111111"/>
                </a:solidFill>
                <a:highlight>
                  <a:srgbClr val="FFFFFF"/>
                </a:highlight>
              </a:rPr>
              <a:t>represents the way observed data differs from </a:t>
            </a:r>
            <a:r>
              <a:rPr b="1" lang="en" sz="1950">
                <a:solidFill>
                  <a:srgbClr val="111111"/>
                </a:solidFill>
                <a:highlight>
                  <a:srgbClr val="FFFFFF"/>
                </a:highlight>
              </a:rPr>
              <a:t>sample population </a:t>
            </a:r>
            <a:r>
              <a:rPr lang="en" sz="1950">
                <a:solidFill>
                  <a:srgbClr val="111111"/>
                </a:solidFill>
                <a:highlight>
                  <a:srgbClr val="FFFFFF"/>
                </a:highlight>
              </a:rPr>
              <a:t>data.</a:t>
            </a:r>
            <a:endParaRPr sz="1950">
              <a:solidFill>
                <a:srgbClr val="111111"/>
              </a:solidFill>
              <a:highlight>
                <a:srgbClr val="FFFFFF"/>
              </a:highlight>
            </a:endParaRPr>
          </a:p>
        </p:txBody>
      </p:sp>
      <p:sp>
        <p:nvSpPr>
          <p:cNvPr id="67" name="Google Shape;67;p15"/>
          <p:cNvSpPr txBox="1"/>
          <p:nvPr>
            <p:ph type="title"/>
          </p:nvPr>
        </p:nvSpPr>
        <p:spPr>
          <a:xfrm>
            <a:off x="311700" y="140225"/>
            <a:ext cx="8520600" cy="572700"/>
          </a:xfrm>
          <a:prstGeom prst="rect">
            <a:avLst/>
          </a:prstGeom>
        </p:spPr>
        <p:txBody>
          <a:bodyPr anchorCtr="0" anchor="t" bIns="91425" lIns="91425" spcFirstLastPara="1" rIns="91425" wrap="square" tIns="91425">
            <a:noAutofit/>
          </a:bodyPr>
          <a:lstStyle/>
          <a:p>
            <a:pPr indent="0" lvl="0" marL="0" rtl="0" algn="l">
              <a:lnSpc>
                <a:spcPct val="120000"/>
              </a:lnSpc>
              <a:spcBef>
                <a:spcPts val="0"/>
              </a:spcBef>
              <a:spcAft>
                <a:spcPts val="0"/>
              </a:spcAft>
              <a:buSzPts val="990"/>
              <a:buNone/>
            </a:pPr>
            <a:r>
              <a:rPr b="1" lang="en" sz="2630">
                <a:solidFill>
                  <a:srgbClr val="111111"/>
                </a:solidFill>
                <a:highlight>
                  <a:srgbClr val="FFFFFF"/>
                </a:highlight>
              </a:rPr>
              <a:t> Error Term</a:t>
            </a:r>
            <a:endParaRPr b="1" sz="2630">
              <a:solidFill>
                <a:srgbClr val="111111"/>
              </a:solidFill>
              <a:highlight>
                <a:srgbClr val="FFFFFF"/>
              </a:highlight>
            </a:endParaRPr>
          </a:p>
          <a:p>
            <a:pPr indent="0" lvl="0" marL="0" rtl="0" algn="l">
              <a:spcBef>
                <a:spcPts val="400"/>
              </a:spcBef>
              <a:spcAft>
                <a:spcPts val="0"/>
              </a:spcAft>
              <a:buSzPts val="990"/>
              <a:buNone/>
            </a:pPr>
            <a:r>
              <a:t/>
            </a:r>
            <a:endParaRPr sz="362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lnSpc>
                <a:spcPct val="121428"/>
              </a:lnSpc>
              <a:spcBef>
                <a:spcPts val="0"/>
              </a:spcBef>
              <a:spcAft>
                <a:spcPts val="0"/>
              </a:spcAft>
              <a:buSzPts val="990"/>
              <a:buNone/>
            </a:pPr>
            <a:r>
              <a:rPr b="1" lang="en" sz="2390"/>
              <a:t>Comparing model predictions against actual values</a:t>
            </a:r>
            <a:endParaRPr b="1" sz="2390"/>
          </a:p>
          <a:p>
            <a:pPr indent="0" lvl="0" marL="0" rtl="0" algn="l">
              <a:spcBef>
                <a:spcPts val="600"/>
              </a:spcBef>
              <a:spcAft>
                <a:spcPts val="0"/>
              </a:spcAft>
              <a:buSzPts val="990"/>
              <a:buNone/>
            </a:pPr>
            <a:r>
              <a:t/>
            </a:r>
            <a:endParaRPr sz="3020"/>
          </a:p>
        </p:txBody>
      </p:sp>
      <p:sp>
        <p:nvSpPr>
          <p:cNvPr id="73" name="Google Shape;73;p16"/>
          <p:cNvSpPr txBox="1"/>
          <p:nvPr>
            <p:ph idx="1" type="body"/>
          </p:nvPr>
        </p:nvSpPr>
        <p:spPr>
          <a:xfrm>
            <a:off x="311700" y="771475"/>
            <a:ext cx="8520600" cy="39753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Clr>
                <a:srgbClr val="212529"/>
              </a:buClr>
              <a:buSzPts val="2100"/>
              <a:buChar char="●"/>
            </a:pPr>
            <a:r>
              <a:rPr lang="en" sz="2100">
                <a:solidFill>
                  <a:srgbClr val="212529"/>
                </a:solidFill>
              </a:rPr>
              <a:t>The difference between the actual value and the model’s estimate a </a:t>
            </a:r>
            <a:r>
              <a:rPr b="1" lang="en" sz="2100">
                <a:solidFill>
                  <a:srgbClr val="212529"/>
                </a:solidFill>
              </a:rPr>
              <a:t>residual.</a:t>
            </a:r>
            <a:endParaRPr b="1" sz="2100">
              <a:solidFill>
                <a:srgbClr val="212529"/>
              </a:solidFill>
            </a:endParaRPr>
          </a:p>
          <a:p>
            <a:pPr indent="-361950" lvl="0" marL="457200" rtl="0" algn="l">
              <a:spcBef>
                <a:spcPts val="0"/>
              </a:spcBef>
              <a:spcAft>
                <a:spcPts val="0"/>
              </a:spcAft>
              <a:buClr>
                <a:srgbClr val="212529"/>
              </a:buClr>
              <a:buSzPts val="2100"/>
              <a:buChar char="●"/>
            </a:pPr>
            <a:r>
              <a:rPr lang="en" sz="2100">
                <a:solidFill>
                  <a:srgbClr val="212529"/>
                </a:solidFill>
              </a:rPr>
              <a:t>Calculate the </a:t>
            </a:r>
            <a:r>
              <a:rPr b="1" lang="en" sz="2100">
                <a:solidFill>
                  <a:srgbClr val="212529"/>
                </a:solidFill>
              </a:rPr>
              <a:t>residual for every point</a:t>
            </a:r>
            <a:r>
              <a:rPr lang="en" sz="2100">
                <a:solidFill>
                  <a:srgbClr val="212529"/>
                </a:solidFill>
              </a:rPr>
              <a:t> in the data set, and each of these residuals will be of use in assessment. </a:t>
            </a:r>
            <a:endParaRPr sz="2100">
              <a:solidFill>
                <a:srgbClr val="212529"/>
              </a:solidFill>
            </a:endParaRPr>
          </a:p>
          <a:p>
            <a:pPr indent="-361950" lvl="0" marL="457200" rtl="0" algn="l">
              <a:spcBef>
                <a:spcPts val="0"/>
              </a:spcBef>
              <a:spcAft>
                <a:spcPts val="0"/>
              </a:spcAft>
              <a:buClr>
                <a:srgbClr val="212529"/>
              </a:buClr>
              <a:buSzPts val="2100"/>
              <a:buChar char="●"/>
            </a:pPr>
            <a:r>
              <a:rPr lang="en" sz="2100">
                <a:solidFill>
                  <a:srgbClr val="212529"/>
                </a:solidFill>
              </a:rPr>
              <a:t>These residuals will play a significant role in judging the usefulness of a model.</a:t>
            </a:r>
            <a:endParaRPr sz="2100">
              <a:solidFill>
                <a:srgbClr val="212529"/>
              </a:solidFill>
            </a:endParaRPr>
          </a:p>
          <a:p>
            <a:pPr indent="-361950" lvl="0" marL="457200" rtl="0" algn="l">
              <a:spcBef>
                <a:spcPts val="0"/>
              </a:spcBef>
              <a:spcAft>
                <a:spcPts val="0"/>
              </a:spcAft>
              <a:buClr>
                <a:srgbClr val="212529"/>
              </a:buClr>
              <a:buSzPts val="2100"/>
              <a:buChar char="●"/>
            </a:pPr>
            <a:r>
              <a:rPr lang="en" sz="2100">
                <a:solidFill>
                  <a:srgbClr val="212529"/>
                </a:solidFill>
              </a:rPr>
              <a:t>If the collection of residuals are </a:t>
            </a:r>
            <a:r>
              <a:rPr b="1" lang="en" sz="2100">
                <a:solidFill>
                  <a:srgbClr val="212529"/>
                </a:solidFill>
              </a:rPr>
              <a:t>small</a:t>
            </a:r>
            <a:r>
              <a:rPr lang="en" sz="2100">
                <a:solidFill>
                  <a:srgbClr val="212529"/>
                </a:solidFill>
              </a:rPr>
              <a:t>, it implies that the model that produced them does a </a:t>
            </a:r>
            <a:r>
              <a:rPr b="1" lang="en" sz="2100">
                <a:solidFill>
                  <a:srgbClr val="212529"/>
                </a:solidFill>
              </a:rPr>
              <a:t>good job </a:t>
            </a:r>
            <a:r>
              <a:rPr lang="en" sz="2100">
                <a:solidFill>
                  <a:srgbClr val="212529"/>
                </a:solidFill>
              </a:rPr>
              <a:t>at predicting the output of interest. Conversely, if these residuals are generally </a:t>
            </a:r>
            <a:r>
              <a:rPr b="1" lang="en" sz="2100">
                <a:solidFill>
                  <a:srgbClr val="212529"/>
                </a:solidFill>
              </a:rPr>
              <a:t>large</a:t>
            </a:r>
            <a:r>
              <a:rPr lang="en" sz="2100">
                <a:solidFill>
                  <a:srgbClr val="212529"/>
                </a:solidFill>
              </a:rPr>
              <a:t>, it implies that model is a </a:t>
            </a:r>
            <a:r>
              <a:rPr b="1" lang="en" sz="2100">
                <a:solidFill>
                  <a:srgbClr val="212529"/>
                </a:solidFill>
              </a:rPr>
              <a:t>poor </a:t>
            </a:r>
            <a:r>
              <a:rPr lang="en" sz="2100">
                <a:solidFill>
                  <a:srgbClr val="212529"/>
                </a:solidFill>
              </a:rPr>
              <a:t>estimator.</a:t>
            </a:r>
            <a:endParaRPr sz="2100">
              <a:solidFill>
                <a:srgbClr val="21252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100">
                <a:solidFill>
                  <a:srgbClr val="212529"/>
                </a:solidFill>
              </a:rPr>
              <a:t>But the dataset may contain million of readings. </a:t>
            </a:r>
            <a:endParaRPr sz="2100">
              <a:solidFill>
                <a:srgbClr val="212529"/>
              </a:solidFill>
            </a:endParaRPr>
          </a:p>
          <a:p>
            <a:pPr indent="0" lvl="0" marL="0" rtl="0" algn="l">
              <a:spcBef>
                <a:spcPts val="1200"/>
              </a:spcBef>
              <a:spcAft>
                <a:spcPts val="1200"/>
              </a:spcAft>
              <a:buNone/>
            </a:pPr>
            <a:r>
              <a:rPr lang="en" sz="2100">
                <a:solidFill>
                  <a:srgbClr val="212529"/>
                </a:solidFill>
              </a:rPr>
              <a:t>Hence need to have measurements that take these collection of residuals and condense them into a </a:t>
            </a:r>
            <a:r>
              <a:rPr i="1" lang="en" sz="2100">
                <a:solidFill>
                  <a:srgbClr val="212529"/>
                </a:solidFill>
              </a:rPr>
              <a:t>single</a:t>
            </a:r>
            <a:r>
              <a:rPr lang="en" sz="2100">
                <a:solidFill>
                  <a:srgbClr val="212529"/>
                </a:solidFill>
              </a:rPr>
              <a:t> value that represents the predictive ability of our model.</a:t>
            </a:r>
            <a:endParaRPr sz="2500"/>
          </a:p>
        </p:txBody>
      </p:sp>
      <p:sp>
        <p:nvSpPr>
          <p:cNvPr id="79" name="Google Shape;79;p17"/>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lnSpc>
                <a:spcPct val="121428"/>
              </a:lnSpc>
              <a:spcBef>
                <a:spcPts val="0"/>
              </a:spcBef>
              <a:spcAft>
                <a:spcPts val="0"/>
              </a:spcAft>
              <a:buSzPts val="990"/>
              <a:buNone/>
            </a:pPr>
            <a:r>
              <a:rPr b="1" lang="en" sz="2390"/>
              <a:t>Comparing model predictions against actual values</a:t>
            </a:r>
            <a:endParaRPr b="1" sz="2390"/>
          </a:p>
          <a:p>
            <a:pPr indent="0" lvl="0" marL="0" rtl="0" algn="l">
              <a:spcBef>
                <a:spcPts val="600"/>
              </a:spcBef>
              <a:spcAft>
                <a:spcPts val="0"/>
              </a:spcAft>
              <a:buSzPts val="990"/>
              <a:buNone/>
            </a:pPr>
            <a:r>
              <a:t/>
            </a:r>
            <a:endParaRPr sz="302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0"/>
              </a:spcAft>
              <a:buNone/>
            </a:pPr>
            <a:r>
              <a:rPr b="1" lang="en" sz="2400">
                <a:highlight>
                  <a:srgbClr val="FFFFFF"/>
                </a:highlight>
              </a:rPr>
              <a:t>R-squared (</a:t>
            </a:r>
            <a:r>
              <a:rPr b="1" lang="en" sz="2400">
                <a:solidFill>
                  <a:srgbClr val="445578"/>
                </a:solidFill>
                <a:highlight>
                  <a:srgbClr val="FFFFFF"/>
                </a:highlight>
              </a:rPr>
              <a:t> R²)</a:t>
            </a:r>
            <a:r>
              <a:rPr b="1" lang="en" sz="2400">
                <a:highlight>
                  <a:srgbClr val="FFFFFF"/>
                </a:highlight>
              </a:rPr>
              <a:t> or </a:t>
            </a:r>
            <a:r>
              <a:rPr b="1" lang="en" sz="2400">
                <a:solidFill>
                  <a:srgbClr val="445578"/>
                </a:solidFill>
                <a:highlight>
                  <a:srgbClr val="FFFFFF"/>
                </a:highlight>
              </a:rPr>
              <a:t>Coefficient of determination</a:t>
            </a:r>
            <a:endParaRPr b="1" sz="2400">
              <a:highlight>
                <a:srgbClr val="FFFFFF"/>
              </a:highlight>
            </a:endParaRPr>
          </a:p>
          <a:p>
            <a:pPr indent="0" lvl="0" marL="0" rtl="0" algn="l">
              <a:spcBef>
                <a:spcPts val="300"/>
              </a:spcBef>
              <a:spcAft>
                <a:spcPts val="0"/>
              </a:spcAft>
              <a:buNone/>
            </a:pPr>
            <a:r>
              <a:t/>
            </a:r>
            <a:endParaRPr b="1" sz="2400"/>
          </a:p>
        </p:txBody>
      </p:sp>
      <p:sp>
        <p:nvSpPr>
          <p:cNvPr id="85" name="Google Shape;85;p18"/>
          <p:cNvSpPr txBox="1"/>
          <p:nvPr>
            <p:ph idx="1" type="body"/>
          </p:nvPr>
        </p:nvSpPr>
        <p:spPr>
          <a:xfrm>
            <a:off x="311700" y="923875"/>
            <a:ext cx="8520600" cy="3881700"/>
          </a:xfrm>
          <a:prstGeom prst="rect">
            <a:avLst/>
          </a:prstGeom>
        </p:spPr>
        <p:txBody>
          <a:bodyPr anchorCtr="0" anchor="t" bIns="91425" lIns="91425" spcFirstLastPara="1" rIns="91425" wrap="square" tIns="91425">
            <a:noAutofit/>
          </a:bodyPr>
          <a:lstStyle/>
          <a:p>
            <a:pPr indent="-349250" lvl="0" marL="457200" rtl="0" algn="l">
              <a:spcBef>
                <a:spcPts val="0"/>
              </a:spcBef>
              <a:spcAft>
                <a:spcPts val="0"/>
              </a:spcAft>
              <a:buClr>
                <a:srgbClr val="445578"/>
              </a:buClr>
              <a:buSzPts val="1900"/>
              <a:buChar char="●"/>
            </a:pPr>
            <a:r>
              <a:rPr lang="en" sz="1900">
                <a:solidFill>
                  <a:srgbClr val="445578"/>
                </a:solidFill>
                <a:highlight>
                  <a:srgbClr val="FFFFFF"/>
                </a:highlight>
              </a:rPr>
              <a:t>The R-squared statistic assesses how well a linear regression model </a:t>
            </a:r>
            <a:r>
              <a:rPr b="1" lang="en" sz="1900">
                <a:solidFill>
                  <a:srgbClr val="445578"/>
                </a:solidFill>
                <a:highlight>
                  <a:srgbClr val="FFFFFF"/>
                </a:highlight>
              </a:rPr>
              <a:t>fits the data</a:t>
            </a:r>
            <a:r>
              <a:rPr lang="en" sz="1900">
                <a:solidFill>
                  <a:srgbClr val="445578"/>
                </a:solidFill>
                <a:highlight>
                  <a:srgbClr val="FFFFFF"/>
                </a:highlight>
              </a:rPr>
              <a:t>. </a:t>
            </a:r>
            <a:endParaRPr sz="1900">
              <a:solidFill>
                <a:srgbClr val="445578"/>
              </a:solidFill>
              <a:highlight>
                <a:srgbClr val="FFFFFF"/>
              </a:highlight>
            </a:endParaRPr>
          </a:p>
          <a:p>
            <a:pPr indent="-349250" lvl="0" marL="457200" rtl="0" algn="l">
              <a:spcBef>
                <a:spcPts val="0"/>
              </a:spcBef>
              <a:spcAft>
                <a:spcPts val="0"/>
              </a:spcAft>
              <a:buClr>
                <a:srgbClr val="445578"/>
              </a:buClr>
              <a:buSzPts val="1900"/>
              <a:buChar char="●"/>
            </a:pPr>
            <a:r>
              <a:rPr lang="en" sz="1900">
                <a:solidFill>
                  <a:srgbClr val="445578"/>
                </a:solidFill>
                <a:highlight>
                  <a:srgbClr val="FFFFFF"/>
                </a:highlight>
              </a:rPr>
              <a:t> It is a measure that provides information about the </a:t>
            </a:r>
            <a:r>
              <a:rPr b="1" lang="en" sz="1900">
                <a:solidFill>
                  <a:srgbClr val="445578"/>
                </a:solidFill>
                <a:highlight>
                  <a:srgbClr val="FFFFFF"/>
                </a:highlight>
              </a:rPr>
              <a:t>goodness of fit</a:t>
            </a:r>
            <a:r>
              <a:rPr lang="en" sz="1900">
                <a:solidFill>
                  <a:srgbClr val="445578"/>
                </a:solidFill>
                <a:highlight>
                  <a:srgbClr val="FFFFFF"/>
                </a:highlight>
              </a:rPr>
              <a:t> of the regression model.</a:t>
            </a:r>
            <a:endParaRPr sz="1900">
              <a:solidFill>
                <a:srgbClr val="445578"/>
              </a:solidFill>
              <a:highlight>
                <a:srgbClr val="FFFFFF"/>
              </a:highlight>
            </a:endParaRPr>
          </a:p>
          <a:p>
            <a:pPr indent="-349250" lvl="0" marL="457200" rtl="0" algn="l">
              <a:spcBef>
                <a:spcPts val="0"/>
              </a:spcBef>
              <a:spcAft>
                <a:spcPts val="0"/>
              </a:spcAft>
              <a:buClr>
                <a:srgbClr val="445578"/>
              </a:buClr>
              <a:buSzPts val="1900"/>
              <a:buChar char="●"/>
            </a:pPr>
            <a:r>
              <a:rPr lang="en" sz="1900">
                <a:solidFill>
                  <a:srgbClr val="445578"/>
                </a:solidFill>
                <a:highlight>
                  <a:srgbClr val="FFFFFF"/>
                </a:highlight>
              </a:rPr>
              <a:t> It is a statistical measure that tells how well the plotted regression line fits the actual data. R squared measures how much the variation is there in predicted and actual values in the regression model. </a:t>
            </a:r>
            <a:endParaRPr sz="1900">
              <a:solidFill>
                <a:srgbClr val="445578"/>
              </a:solidFill>
              <a:highlight>
                <a:srgbClr val="FFFFFF"/>
              </a:highlight>
            </a:endParaRPr>
          </a:p>
          <a:p>
            <a:pPr indent="-349250" lvl="0" marL="457200" rtl="0" algn="l">
              <a:spcBef>
                <a:spcPts val="0"/>
              </a:spcBef>
              <a:spcAft>
                <a:spcPts val="0"/>
              </a:spcAft>
              <a:buClr>
                <a:srgbClr val="445578"/>
              </a:buClr>
              <a:buSzPts val="1900"/>
              <a:buChar char="●"/>
            </a:pPr>
            <a:r>
              <a:rPr b="1" lang="en" sz="1900">
                <a:solidFill>
                  <a:srgbClr val="445578"/>
                </a:solidFill>
                <a:highlight>
                  <a:srgbClr val="FFFFFF"/>
                </a:highlight>
              </a:rPr>
              <a:t>Higher </a:t>
            </a:r>
            <a:r>
              <a:rPr lang="en" sz="1900">
                <a:solidFill>
                  <a:srgbClr val="445578"/>
                </a:solidFill>
                <a:highlight>
                  <a:srgbClr val="FFFFFF"/>
                </a:highlight>
              </a:rPr>
              <a:t>Value of R square signify </a:t>
            </a:r>
            <a:r>
              <a:rPr b="1" lang="en" sz="1900">
                <a:solidFill>
                  <a:srgbClr val="445578"/>
                </a:solidFill>
                <a:highlight>
                  <a:srgbClr val="FFFFFF"/>
                </a:highlight>
              </a:rPr>
              <a:t>lesser difference </a:t>
            </a:r>
            <a:r>
              <a:rPr lang="en" sz="1900">
                <a:solidFill>
                  <a:srgbClr val="445578"/>
                </a:solidFill>
                <a:highlight>
                  <a:srgbClr val="FFFFFF"/>
                </a:highlight>
              </a:rPr>
              <a:t>between actual and predicted value. </a:t>
            </a:r>
            <a:endParaRPr sz="1900">
              <a:solidFill>
                <a:srgbClr val="445578"/>
              </a:solidFill>
              <a:highlight>
                <a:srgbClr val="FFFFFF"/>
              </a:highlight>
            </a:endParaRPr>
          </a:p>
          <a:p>
            <a:pPr indent="-349250" lvl="0" marL="457200" rtl="0" algn="l">
              <a:spcBef>
                <a:spcPts val="0"/>
              </a:spcBef>
              <a:spcAft>
                <a:spcPts val="0"/>
              </a:spcAft>
              <a:buClr>
                <a:srgbClr val="445578"/>
              </a:buClr>
              <a:buSzPts val="1900"/>
              <a:buChar char="●"/>
            </a:pPr>
            <a:r>
              <a:rPr lang="en" sz="1900">
                <a:solidFill>
                  <a:srgbClr val="445578"/>
                </a:solidFill>
                <a:highlight>
                  <a:srgbClr val="FFFFFF"/>
                </a:highlight>
              </a:rPr>
              <a:t>A </a:t>
            </a:r>
            <a:r>
              <a:rPr b="1" lang="en" sz="1900">
                <a:solidFill>
                  <a:srgbClr val="445578"/>
                </a:solidFill>
                <a:highlight>
                  <a:srgbClr val="FFFFFF"/>
                </a:highlight>
              </a:rPr>
              <a:t>lower </a:t>
            </a:r>
            <a:r>
              <a:rPr lang="en" sz="1900">
                <a:solidFill>
                  <a:srgbClr val="445578"/>
                </a:solidFill>
                <a:highlight>
                  <a:srgbClr val="FFFFFF"/>
                </a:highlight>
              </a:rPr>
              <a:t>value of R square signify </a:t>
            </a:r>
            <a:r>
              <a:rPr b="1" lang="en" sz="1900">
                <a:solidFill>
                  <a:srgbClr val="445578"/>
                </a:solidFill>
                <a:highlight>
                  <a:srgbClr val="FFFFFF"/>
                </a:highlight>
              </a:rPr>
              <a:t>greater </a:t>
            </a:r>
            <a:r>
              <a:rPr lang="en" sz="1900">
                <a:solidFill>
                  <a:srgbClr val="445578"/>
                </a:solidFill>
                <a:highlight>
                  <a:srgbClr val="FFFFFF"/>
                </a:highlight>
              </a:rPr>
              <a:t>difference between actual and predicted value (more error)</a:t>
            </a:r>
            <a:endParaRPr sz="1900">
              <a:solidFill>
                <a:srgbClr val="445578"/>
              </a:solidFill>
              <a:highlight>
                <a:srgbClr val="FFFFFF"/>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idx="1" type="body"/>
          </p:nvPr>
        </p:nvSpPr>
        <p:spPr>
          <a:xfrm>
            <a:off x="159300" y="923875"/>
            <a:ext cx="8746200" cy="3416400"/>
          </a:xfrm>
          <a:prstGeom prst="rect">
            <a:avLst/>
          </a:prstGeom>
        </p:spPr>
        <p:txBody>
          <a:bodyPr anchorCtr="0" anchor="t" bIns="91425" lIns="91425" spcFirstLastPara="1" rIns="91425" wrap="square" tIns="91425">
            <a:noAutofit/>
          </a:bodyPr>
          <a:lstStyle/>
          <a:p>
            <a:pPr indent="-336550" lvl="0" marL="635000" rtl="0" algn="l">
              <a:lnSpc>
                <a:spcPct val="160000"/>
              </a:lnSpc>
              <a:spcBef>
                <a:spcPts val="0"/>
              </a:spcBef>
              <a:spcAft>
                <a:spcPts val="0"/>
              </a:spcAft>
              <a:buClr>
                <a:srgbClr val="445578"/>
              </a:buClr>
              <a:buSzPts val="1700"/>
              <a:buChar char="●"/>
            </a:pPr>
            <a:r>
              <a:rPr lang="en" sz="1700">
                <a:solidFill>
                  <a:srgbClr val="445578"/>
                </a:solidFill>
                <a:highlight>
                  <a:srgbClr val="FFFFFF"/>
                </a:highlight>
              </a:rPr>
              <a:t>R-squared values ​​range from 0 to 1, usually expressed as a percentage from 0% to 100%.</a:t>
            </a:r>
            <a:endParaRPr sz="1700">
              <a:solidFill>
                <a:srgbClr val="445578"/>
              </a:solidFill>
              <a:highlight>
                <a:srgbClr val="FFFFFF"/>
              </a:highlight>
            </a:endParaRPr>
          </a:p>
          <a:p>
            <a:pPr indent="-336550" lvl="0" marL="635000" rtl="0" algn="l">
              <a:lnSpc>
                <a:spcPct val="160000"/>
              </a:lnSpc>
              <a:spcBef>
                <a:spcPts val="0"/>
              </a:spcBef>
              <a:spcAft>
                <a:spcPts val="0"/>
              </a:spcAft>
              <a:buClr>
                <a:srgbClr val="445578"/>
              </a:buClr>
              <a:buSzPts val="1700"/>
              <a:buChar char="●"/>
            </a:pPr>
            <a:r>
              <a:rPr lang="en" sz="1700">
                <a:solidFill>
                  <a:srgbClr val="445578"/>
                </a:solidFill>
                <a:highlight>
                  <a:srgbClr val="FFFFFF"/>
                </a:highlight>
              </a:rPr>
              <a:t>And this value of R square tells you how well the data fits the line you’ve drawn.</a:t>
            </a:r>
            <a:endParaRPr sz="1700">
              <a:solidFill>
                <a:srgbClr val="445578"/>
              </a:solidFill>
              <a:highlight>
                <a:srgbClr val="FFFFFF"/>
              </a:highlight>
            </a:endParaRPr>
          </a:p>
          <a:p>
            <a:pPr indent="-336550" lvl="0" marL="635000" rtl="0" algn="l">
              <a:lnSpc>
                <a:spcPct val="160000"/>
              </a:lnSpc>
              <a:spcBef>
                <a:spcPts val="0"/>
              </a:spcBef>
              <a:spcAft>
                <a:spcPts val="0"/>
              </a:spcAft>
              <a:buClr>
                <a:srgbClr val="445578"/>
              </a:buClr>
              <a:buSzPts val="1700"/>
              <a:buChar char="●"/>
            </a:pPr>
            <a:r>
              <a:rPr lang="en" sz="1700">
                <a:solidFill>
                  <a:srgbClr val="445578"/>
                </a:solidFill>
                <a:highlight>
                  <a:srgbClr val="FFFFFF"/>
                </a:highlight>
              </a:rPr>
              <a:t>The higher the model’s R-Squared value, the better the regression line fits the data. </a:t>
            </a:r>
            <a:endParaRPr sz="1700">
              <a:solidFill>
                <a:srgbClr val="445578"/>
              </a:solidFill>
              <a:highlight>
                <a:srgbClr val="FFFFFF"/>
              </a:highlight>
            </a:endParaRPr>
          </a:p>
          <a:p>
            <a:pPr indent="0" lvl="0" marL="0" rtl="0" algn="l">
              <a:lnSpc>
                <a:spcPct val="160000"/>
              </a:lnSpc>
              <a:spcBef>
                <a:spcPts val="1200"/>
              </a:spcBef>
              <a:spcAft>
                <a:spcPts val="0"/>
              </a:spcAft>
              <a:buNone/>
            </a:pPr>
            <a:r>
              <a:rPr lang="en" sz="1700">
                <a:solidFill>
                  <a:srgbClr val="445578"/>
                </a:solidFill>
                <a:highlight>
                  <a:srgbClr val="FFFFFF"/>
                </a:highlight>
              </a:rPr>
              <a:t>Note: R-squared values ​​very close to 1 are likely overfitting of the model and should be avoided. </a:t>
            </a:r>
            <a:endParaRPr sz="1700">
              <a:solidFill>
                <a:srgbClr val="445578"/>
              </a:solidFill>
              <a:highlight>
                <a:srgbClr val="FFFFFF"/>
              </a:highlight>
            </a:endParaRPr>
          </a:p>
          <a:p>
            <a:pPr indent="-336550" lvl="0" marL="635000" rtl="0" algn="l">
              <a:lnSpc>
                <a:spcPct val="160000"/>
              </a:lnSpc>
              <a:spcBef>
                <a:spcPts val="800"/>
              </a:spcBef>
              <a:spcAft>
                <a:spcPts val="0"/>
              </a:spcAft>
              <a:buClr>
                <a:srgbClr val="445578"/>
              </a:buClr>
              <a:buSzPts val="1700"/>
              <a:buChar char="●"/>
            </a:pPr>
            <a:r>
              <a:rPr lang="en" sz="1700">
                <a:solidFill>
                  <a:srgbClr val="445578"/>
                </a:solidFill>
                <a:highlight>
                  <a:srgbClr val="FFFFFF"/>
                </a:highlight>
              </a:rPr>
              <a:t>So if the model value is close to 0, then the model is not a good fit </a:t>
            </a:r>
            <a:endParaRPr sz="1700">
              <a:solidFill>
                <a:srgbClr val="445578"/>
              </a:solidFill>
              <a:highlight>
                <a:srgbClr val="FFFFFF"/>
              </a:highlight>
            </a:endParaRPr>
          </a:p>
          <a:p>
            <a:pPr indent="-336550" lvl="0" marL="635000" rtl="0" algn="l">
              <a:lnSpc>
                <a:spcPct val="160000"/>
              </a:lnSpc>
              <a:spcBef>
                <a:spcPts val="0"/>
              </a:spcBef>
              <a:spcAft>
                <a:spcPts val="0"/>
              </a:spcAft>
              <a:buClr>
                <a:srgbClr val="445578"/>
              </a:buClr>
              <a:buSzPts val="1700"/>
              <a:buChar char="●"/>
            </a:pPr>
            <a:r>
              <a:rPr lang="en" sz="1700">
                <a:solidFill>
                  <a:srgbClr val="445578"/>
                </a:solidFill>
                <a:highlight>
                  <a:srgbClr val="FFFFFF"/>
                </a:highlight>
              </a:rPr>
              <a:t>A good model should have an R-squared greater than 0.8.</a:t>
            </a:r>
            <a:endParaRPr sz="1700">
              <a:solidFill>
                <a:srgbClr val="445578"/>
              </a:solidFill>
              <a:highlight>
                <a:srgbClr val="FFFFFF"/>
              </a:highlight>
            </a:endParaRPr>
          </a:p>
          <a:p>
            <a:pPr indent="0" lvl="0" marL="0" rtl="0" algn="l">
              <a:spcBef>
                <a:spcPts val="1200"/>
              </a:spcBef>
              <a:spcAft>
                <a:spcPts val="1200"/>
              </a:spcAft>
              <a:buNone/>
            </a:pPr>
            <a:r>
              <a:t/>
            </a:r>
            <a:endParaRPr sz="2300"/>
          </a:p>
        </p:txBody>
      </p:sp>
      <p:sp>
        <p:nvSpPr>
          <p:cNvPr id="91" name="Google Shape;91;p19"/>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0"/>
              </a:spcAft>
              <a:buNone/>
            </a:pPr>
            <a:r>
              <a:rPr b="1" lang="en" sz="2400">
                <a:highlight>
                  <a:srgbClr val="FFFFFF"/>
                </a:highlight>
              </a:rPr>
              <a:t>R-squared (</a:t>
            </a:r>
            <a:r>
              <a:rPr b="1" lang="en" sz="2400">
                <a:solidFill>
                  <a:srgbClr val="445578"/>
                </a:solidFill>
                <a:highlight>
                  <a:srgbClr val="FFFFFF"/>
                </a:highlight>
              </a:rPr>
              <a:t> R²)</a:t>
            </a:r>
            <a:r>
              <a:rPr b="1" lang="en" sz="2400">
                <a:highlight>
                  <a:srgbClr val="FFFFFF"/>
                </a:highlight>
              </a:rPr>
              <a:t> or </a:t>
            </a:r>
            <a:r>
              <a:rPr b="1" lang="en" sz="2400">
                <a:solidFill>
                  <a:srgbClr val="445578"/>
                </a:solidFill>
                <a:highlight>
                  <a:srgbClr val="FFFFFF"/>
                </a:highlight>
              </a:rPr>
              <a:t>Coefficient of determination</a:t>
            </a:r>
            <a:endParaRPr b="1" sz="2400">
              <a:highlight>
                <a:srgbClr val="FFFFFF"/>
              </a:highlight>
            </a:endParaRPr>
          </a:p>
          <a:p>
            <a:pPr indent="0" lvl="0" marL="0" rtl="0" algn="l">
              <a:spcBef>
                <a:spcPts val="300"/>
              </a:spcBef>
              <a:spcAft>
                <a:spcPts val="0"/>
              </a:spcAft>
              <a:buNone/>
            </a:pPr>
            <a:r>
              <a:t/>
            </a:r>
            <a:endParaRPr b="1"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7" name="Google Shape;97;p20"/>
          <p:cNvPicPr preferRelativeResize="0"/>
          <p:nvPr/>
        </p:nvPicPr>
        <p:blipFill rotWithShape="1">
          <a:blip r:embed="rId3">
            <a:alphaModFix/>
          </a:blip>
          <a:srcRect b="0" l="13313" r="22211" t="0"/>
          <a:stretch/>
        </p:blipFill>
        <p:spPr>
          <a:xfrm>
            <a:off x="4883600" y="1553000"/>
            <a:ext cx="3948699" cy="3215150"/>
          </a:xfrm>
          <a:prstGeom prst="rect">
            <a:avLst/>
          </a:prstGeom>
          <a:noFill/>
          <a:ln>
            <a:noFill/>
          </a:ln>
        </p:spPr>
      </p:pic>
      <p:pic>
        <p:nvPicPr>
          <p:cNvPr id="98" name="Google Shape;98;p20"/>
          <p:cNvPicPr preferRelativeResize="0"/>
          <p:nvPr/>
        </p:nvPicPr>
        <p:blipFill rotWithShape="1">
          <a:blip r:embed="rId4">
            <a:alphaModFix/>
          </a:blip>
          <a:srcRect b="1312" l="14038" r="26274" t="0"/>
          <a:stretch/>
        </p:blipFill>
        <p:spPr>
          <a:xfrm>
            <a:off x="389775" y="1637963"/>
            <a:ext cx="3629949" cy="3150750"/>
          </a:xfrm>
          <a:prstGeom prst="rect">
            <a:avLst/>
          </a:prstGeom>
          <a:noFill/>
          <a:ln>
            <a:noFill/>
          </a:ln>
        </p:spPr>
      </p:pic>
      <p:sp>
        <p:nvSpPr>
          <p:cNvPr id="99" name="Google Shape;99;p20"/>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0"/>
              </a:spcAft>
              <a:buNone/>
            </a:pPr>
            <a:r>
              <a:rPr b="1" lang="en" sz="2400">
                <a:highlight>
                  <a:srgbClr val="FFFFFF"/>
                </a:highlight>
              </a:rPr>
              <a:t>R-squared (</a:t>
            </a:r>
            <a:r>
              <a:rPr b="1" lang="en" sz="2400">
                <a:solidFill>
                  <a:srgbClr val="445578"/>
                </a:solidFill>
                <a:highlight>
                  <a:srgbClr val="FFFFFF"/>
                </a:highlight>
              </a:rPr>
              <a:t> R²)</a:t>
            </a:r>
            <a:r>
              <a:rPr b="1" lang="en" sz="2400">
                <a:highlight>
                  <a:srgbClr val="FFFFFF"/>
                </a:highlight>
              </a:rPr>
              <a:t> or </a:t>
            </a:r>
            <a:r>
              <a:rPr b="1" lang="en" sz="2400">
                <a:solidFill>
                  <a:srgbClr val="445578"/>
                </a:solidFill>
                <a:highlight>
                  <a:srgbClr val="FFFFFF"/>
                </a:highlight>
              </a:rPr>
              <a:t>Coefficient of determination</a:t>
            </a:r>
            <a:endParaRPr b="1" sz="2400">
              <a:highlight>
                <a:srgbClr val="FFFFFF"/>
              </a:highlight>
            </a:endParaRPr>
          </a:p>
          <a:p>
            <a:pPr indent="0" lvl="0" marL="0" rtl="0" algn="l">
              <a:spcBef>
                <a:spcPts val="300"/>
              </a:spcBef>
              <a:spcAft>
                <a:spcPts val="0"/>
              </a:spcAft>
              <a:buNone/>
            </a:pPr>
            <a:r>
              <a:t/>
            </a:r>
            <a:endParaRPr b="1"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21"/>
          <p:cNvPicPr preferRelativeResize="0"/>
          <p:nvPr/>
        </p:nvPicPr>
        <p:blipFill>
          <a:blip r:embed="rId3">
            <a:alphaModFix/>
          </a:blip>
          <a:stretch>
            <a:fillRect/>
          </a:stretch>
        </p:blipFill>
        <p:spPr>
          <a:xfrm>
            <a:off x="1409700" y="928702"/>
            <a:ext cx="6339650" cy="1834575"/>
          </a:xfrm>
          <a:prstGeom prst="rect">
            <a:avLst/>
          </a:prstGeom>
          <a:noFill/>
          <a:ln>
            <a:noFill/>
          </a:ln>
        </p:spPr>
      </p:pic>
      <p:sp>
        <p:nvSpPr>
          <p:cNvPr id="105" name="Google Shape;105;p21"/>
          <p:cNvSpPr txBox="1"/>
          <p:nvPr/>
        </p:nvSpPr>
        <p:spPr>
          <a:xfrm>
            <a:off x="150475" y="2943125"/>
            <a:ext cx="8248800" cy="2086200"/>
          </a:xfrm>
          <a:prstGeom prst="rect">
            <a:avLst/>
          </a:prstGeom>
          <a:noFill/>
          <a:ln>
            <a:noFill/>
          </a:ln>
        </p:spPr>
        <p:txBody>
          <a:bodyPr anchorCtr="0" anchor="t" bIns="91425" lIns="91425" spcFirstLastPara="1" rIns="91425" wrap="square" tIns="91425">
            <a:spAutoFit/>
          </a:bodyPr>
          <a:lstStyle/>
          <a:p>
            <a:pPr indent="0" lvl="0" marL="0" rtl="0" algn="l">
              <a:lnSpc>
                <a:spcPct val="160000"/>
              </a:lnSpc>
              <a:spcBef>
                <a:spcPts val="300"/>
              </a:spcBef>
              <a:spcAft>
                <a:spcPts val="0"/>
              </a:spcAft>
              <a:buNone/>
            </a:pPr>
            <a:r>
              <a:rPr lang="en" sz="1900">
                <a:solidFill>
                  <a:srgbClr val="445578"/>
                </a:solidFill>
                <a:highlight>
                  <a:srgbClr val="FFFFFF"/>
                </a:highlight>
              </a:rPr>
              <a:t>where:</a:t>
            </a:r>
            <a:endParaRPr sz="1900">
              <a:solidFill>
                <a:srgbClr val="445578"/>
              </a:solidFill>
              <a:highlight>
                <a:srgbClr val="FFFFFF"/>
              </a:highlight>
            </a:endParaRPr>
          </a:p>
          <a:p>
            <a:pPr indent="0" lvl="0" marL="0" rtl="0" algn="l">
              <a:lnSpc>
                <a:spcPct val="160000"/>
              </a:lnSpc>
              <a:spcBef>
                <a:spcPts val="800"/>
              </a:spcBef>
              <a:spcAft>
                <a:spcPts val="0"/>
              </a:spcAft>
              <a:buNone/>
            </a:pPr>
            <a:r>
              <a:rPr lang="en" sz="1900">
                <a:solidFill>
                  <a:srgbClr val="445578"/>
                </a:solidFill>
                <a:highlight>
                  <a:srgbClr val="FFFFFF"/>
                </a:highlight>
              </a:rPr>
              <a:t>SSR/MSE is the sum of squared residuals (i.e., the sum of squared errors)</a:t>
            </a:r>
            <a:endParaRPr sz="1900">
              <a:solidFill>
                <a:srgbClr val="445578"/>
              </a:solidFill>
              <a:highlight>
                <a:srgbClr val="FFFFFF"/>
              </a:highlight>
            </a:endParaRPr>
          </a:p>
          <a:p>
            <a:pPr indent="0" lvl="0" marL="0" rtl="0" algn="l">
              <a:lnSpc>
                <a:spcPct val="160000"/>
              </a:lnSpc>
              <a:spcBef>
                <a:spcPts val="800"/>
              </a:spcBef>
              <a:spcAft>
                <a:spcPts val="800"/>
              </a:spcAft>
              <a:buNone/>
            </a:pPr>
            <a:r>
              <a:rPr lang="en" sz="1900">
                <a:solidFill>
                  <a:srgbClr val="445578"/>
                </a:solidFill>
                <a:highlight>
                  <a:srgbClr val="FFFFFF"/>
                </a:highlight>
              </a:rPr>
              <a:t>SST is the total sum of squares (i.e., the sum of squared deviations from the mean)</a:t>
            </a:r>
            <a:endParaRPr sz="1900">
              <a:solidFill>
                <a:srgbClr val="445578"/>
              </a:solidFill>
              <a:highlight>
                <a:srgbClr val="FFFFFF"/>
              </a:highlight>
            </a:endParaRPr>
          </a:p>
        </p:txBody>
      </p:sp>
      <p:sp>
        <p:nvSpPr>
          <p:cNvPr id="106" name="Google Shape;106;p21"/>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0"/>
              </a:spcAft>
              <a:buNone/>
            </a:pPr>
            <a:r>
              <a:rPr b="1" lang="en" sz="2400">
                <a:highlight>
                  <a:srgbClr val="FFFFFF"/>
                </a:highlight>
              </a:rPr>
              <a:t>R-squared (</a:t>
            </a:r>
            <a:r>
              <a:rPr b="1" lang="en" sz="2400">
                <a:solidFill>
                  <a:srgbClr val="445578"/>
                </a:solidFill>
                <a:highlight>
                  <a:srgbClr val="FFFFFF"/>
                </a:highlight>
              </a:rPr>
              <a:t> R²)</a:t>
            </a:r>
            <a:r>
              <a:rPr b="1" lang="en" sz="2400">
                <a:highlight>
                  <a:srgbClr val="FFFFFF"/>
                </a:highlight>
              </a:rPr>
              <a:t> or </a:t>
            </a:r>
            <a:r>
              <a:rPr b="1" lang="en" sz="2400">
                <a:solidFill>
                  <a:srgbClr val="445578"/>
                </a:solidFill>
                <a:highlight>
                  <a:srgbClr val="FFFFFF"/>
                </a:highlight>
              </a:rPr>
              <a:t>Coefficient of determination</a:t>
            </a:r>
            <a:endParaRPr b="1" sz="2400">
              <a:highlight>
                <a:srgbClr val="FFFFFF"/>
              </a:highlight>
            </a:endParaRPr>
          </a:p>
          <a:p>
            <a:pPr indent="0" lvl="0" marL="0" rtl="0" algn="l">
              <a:spcBef>
                <a:spcPts val="300"/>
              </a:spcBef>
              <a:spcAft>
                <a:spcPts val="0"/>
              </a:spcAft>
              <a:buNone/>
            </a:pPr>
            <a:r>
              <a:t/>
            </a:r>
            <a:endParaRPr b="1"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idx="1" type="body"/>
          </p:nvPr>
        </p:nvSpPr>
        <p:spPr>
          <a:xfrm>
            <a:off x="311700" y="9238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rgbClr val="445578"/>
                </a:solidFill>
                <a:highlight>
                  <a:srgbClr val="FFFFFF"/>
                </a:highlight>
              </a:rPr>
              <a:t>The deviation of an actual value from the mean is therefore calculated as the sum of the squared distances of the individual points from the mean. This is also called the</a:t>
            </a:r>
            <a:r>
              <a:rPr i="1" lang="en" sz="1600">
                <a:solidFill>
                  <a:srgbClr val="445578"/>
                </a:solidFill>
                <a:highlight>
                  <a:srgbClr val="FFFFFF"/>
                </a:highlight>
              </a:rPr>
              <a:t> total sum of squares</a:t>
            </a:r>
            <a:r>
              <a:rPr lang="en" sz="1600">
                <a:solidFill>
                  <a:srgbClr val="445578"/>
                </a:solidFill>
                <a:highlight>
                  <a:srgbClr val="FFFFFF"/>
                </a:highlight>
              </a:rPr>
              <a:t> (SST). SST is also called</a:t>
            </a:r>
            <a:r>
              <a:rPr i="1" lang="en" sz="1600">
                <a:solidFill>
                  <a:srgbClr val="445578"/>
                </a:solidFill>
                <a:highlight>
                  <a:srgbClr val="FFFFFF"/>
                </a:highlight>
              </a:rPr>
              <a:t> total error</a:t>
            </a:r>
            <a:r>
              <a:rPr lang="en" sz="1600">
                <a:solidFill>
                  <a:srgbClr val="445578"/>
                </a:solidFill>
                <a:highlight>
                  <a:srgbClr val="FFFFFF"/>
                </a:highlight>
              </a:rPr>
              <a:t>.</a:t>
            </a:r>
            <a:endParaRPr sz="1600">
              <a:solidFill>
                <a:srgbClr val="445578"/>
              </a:solidFill>
              <a:highlight>
                <a:srgbClr val="FFFFFF"/>
              </a:highlight>
            </a:endParaRPr>
          </a:p>
          <a:p>
            <a:pPr indent="0" lvl="0" marL="0" rtl="0" algn="l">
              <a:spcBef>
                <a:spcPts val="1200"/>
              </a:spcBef>
              <a:spcAft>
                <a:spcPts val="0"/>
              </a:spcAft>
              <a:buNone/>
            </a:pPr>
            <a:r>
              <a:t/>
            </a:r>
            <a:endParaRPr sz="1600">
              <a:solidFill>
                <a:srgbClr val="445578"/>
              </a:solidFill>
              <a:highlight>
                <a:srgbClr val="FFFFFF"/>
              </a:highlight>
            </a:endParaRPr>
          </a:p>
          <a:p>
            <a:pPr indent="0" lvl="0" marL="0" rtl="0" algn="l">
              <a:spcBef>
                <a:spcPts val="1200"/>
              </a:spcBef>
              <a:spcAft>
                <a:spcPts val="0"/>
              </a:spcAft>
              <a:buNone/>
            </a:pPr>
            <a:r>
              <a:t/>
            </a:r>
            <a:endParaRPr sz="1600">
              <a:solidFill>
                <a:srgbClr val="445578"/>
              </a:solidFill>
              <a:highlight>
                <a:srgbClr val="FFFFFF"/>
              </a:highlight>
            </a:endParaRPr>
          </a:p>
          <a:p>
            <a:pPr indent="0" lvl="0" marL="0" rtl="0" algn="l">
              <a:spcBef>
                <a:spcPts val="1200"/>
              </a:spcBef>
              <a:spcAft>
                <a:spcPts val="1200"/>
              </a:spcAft>
              <a:buNone/>
            </a:pPr>
            <a:r>
              <a:rPr lang="en" sz="1600">
                <a:solidFill>
                  <a:srgbClr val="445578"/>
                </a:solidFill>
                <a:highlight>
                  <a:srgbClr val="FFFFFF"/>
                </a:highlight>
              </a:rPr>
              <a:t>The total variation of the actual values from the regression line is expressed as the sum of the squared distances between the predicted values from the regression line, also known as the Residual sum of squared error </a:t>
            </a:r>
            <a:r>
              <a:rPr i="1" lang="en" sz="1600">
                <a:solidFill>
                  <a:srgbClr val="445578"/>
                </a:solidFill>
                <a:highlight>
                  <a:srgbClr val="FFFFFF"/>
                </a:highlight>
              </a:rPr>
              <a:t>(SSR)</a:t>
            </a:r>
            <a:r>
              <a:rPr lang="en" sz="1600">
                <a:solidFill>
                  <a:srgbClr val="445578"/>
                </a:solidFill>
                <a:highlight>
                  <a:srgbClr val="FFFFFF"/>
                </a:highlight>
              </a:rPr>
              <a:t>. SSR is sometimes called explanatory error or explanatory variance. </a:t>
            </a:r>
            <a:endParaRPr sz="1600">
              <a:solidFill>
                <a:srgbClr val="445578"/>
              </a:solidFill>
              <a:highlight>
                <a:srgbClr val="FFFFFF"/>
              </a:highlight>
            </a:endParaRPr>
          </a:p>
        </p:txBody>
      </p:sp>
      <p:pic>
        <p:nvPicPr>
          <p:cNvPr id="112" name="Google Shape;112;p22"/>
          <p:cNvPicPr preferRelativeResize="0"/>
          <p:nvPr/>
        </p:nvPicPr>
        <p:blipFill>
          <a:blip r:embed="rId3">
            <a:alphaModFix/>
          </a:blip>
          <a:stretch>
            <a:fillRect/>
          </a:stretch>
        </p:blipFill>
        <p:spPr>
          <a:xfrm>
            <a:off x="4935063" y="1700525"/>
            <a:ext cx="2009775" cy="1085850"/>
          </a:xfrm>
          <a:prstGeom prst="rect">
            <a:avLst/>
          </a:prstGeom>
          <a:noFill/>
          <a:ln>
            <a:noFill/>
          </a:ln>
        </p:spPr>
      </p:pic>
      <p:pic>
        <p:nvPicPr>
          <p:cNvPr id="113" name="Google Shape;113;p22"/>
          <p:cNvPicPr preferRelativeResize="0"/>
          <p:nvPr/>
        </p:nvPicPr>
        <p:blipFill>
          <a:blip r:embed="rId4">
            <a:alphaModFix/>
          </a:blip>
          <a:stretch>
            <a:fillRect/>
          </a:stretch>
        </p:blipFill>
        <p:spPr>
          <a:xfrm>
            <a:off x="5111288" y="3858538"/>
            <a:ext cx="1657350" cy="904875"/>
          </a:xfrm>
          <a:prstGeom prst="rect">
            <a:avLst/>
          </a:prstGeom>
          <a:noFill/>
          <a:ln>
            <a:noFill/>
          </a:ln>
        </p:spPr>
      </p:pic>
      <p:sp>
        <p:nvSpPr>
          <p:cNvPr id="114" name="Google Shape;114;p22"/>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0"/>
              </a:spcAft>
              <a:buNone/>
            </a:pPr>
            <a:r>
              <a:rPr b="1" lang="en" sz="2400">
                <a:highlight>
                  <a:srgbClr val="FFFFFF"/>
                </a:highlight>
              </a:rPr>
              <a:t>R-squared (</a:t>
            </a:r>
            <a:r>
              <a:rPr b="1" lang="en" sz="2400">
                <a:solidFill>
                  <a:srgbClr val="445578"/>
                </a:solidFill>
                <a:highlight>
                  <a:srgbClr val="FFFFFF"/>
                </a:highlight>
              </a:rPr>
              <a:t> R²)</a:t>
            </a:r>
            <a:r>
              <a:rPr b="1" lang="en" sz="2400">
                <a:highlight>
                  <a:srgbClr val="FFFFFF"/>
                </a:highlight>
              </a:rPr>
              <a:t> or </a:t>
            </a:r>
            <a:r>
              <a:rPr b="1" lang="en" sz="2400">
                <a:solidFill>
                  <a:srgbClr val="445578"/>
                </a:solidFill>
                <a:highlight>
                  <a:srgbClr val="FFFFFF"/>
                </a:highlight>
              </a:rPr>
              <a:t>Coefficient of determination</a:t>
            </a:r>
            <a:endParaRPr b="1" sz="2400">
              <a:highlight>
                <a:srgbClr val="FFFFFF"/>
              </a:highlight>
            </a:endParaRPr>
          </a:p>
          <a:p>
            <a:pPr indent="0" lvl="0" marL="0" rtl="0" algn="l">
              <a:spcBef>
                <a:spcPts val="300"/>
              </a:spcBef>
              <a:spcAft>
                <a:spcPts val="0"/>
              </a:spcAft>
              <a:buNone/>
            </a:pPr>
            <a:r>
              <a:t/>
            </a:r>
            <a:endParaRPr b="1" sz="2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idx="1" type="body"/>
          </p:nvPr>
        </p:nvSpPr>
        <p:spPr>
          <a:xfrm>
            <a:off x="311700" y="847675"/>
            <a:ext cx="6486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445578"/>
                </a:solidFill>
                <a:highlight>
                  <a:srgbClr val="FFFFFF"/>
                </a:highlight>
              </a:rPr>
              <a:t> A data set having values of X representing experience and Y representing salary. calculate R squared value.</a:t>
            </a:r>
            <a:endParaRPr/>
          </a:p>
        </p:txBody>
      </p:sp>
      <p:sp>
        <p:nvSpPr>
          <p:cNvPr id="120" name="Google Shape;120;p23"/>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0"/>
              </a:spcAft>
              <a:buNone/>
            </a:pPr>
            <a:r>
              <a:rPr b="1" lang="en" sz="2400">
                <a:highlight>
                  <a:srgbClr val="FFFFFF"/>
                </a:highlight>
              </a:rPr>
              <a:t>R-squared (</a:t>
            </a:r>
            <a:r>
              <a:rPr b="1" lang="en" sz="2400">
                <a:solidFill>
                  <a:srgbClr val="445578"/>
                </a:solidFill>
                <a:highlight>
                  <a:srgbClr val="FFFFFF"/>
                </a:highlight>
              </a:rPr>
              <a:t> R²)</a:t>
            </a:r>
            <a:r>
              <a:rPr b="1" lang="en" sz="2400">
                <a:highlight>
                  <a:srgbClr val="FFFFFF"/>
                </a:highlight>
              </a:rPr>
              <a:t> or </a:t>
            </a:r>
            <a:r>
              <a:rPr b="1" lang="en" sz="2400">
                <a:solidFill>
                  <a:srgbClr val="445578"/>
                </a:solidFill>
                <a:highlight>
                  <a:srgbClr val="FFFFFF"/>
                </a:highlight>
              </a:rPr>
              <a:t>Coefficient of determination</a:t>
            </a:r>
            <a:endParaRPr b="1" sz="2400">
              <a:highlight>
                <a:srgbClr val="FFFFFF"/>
              </a:highlight>
            </a:endParaRPr>
          </a:p>
          <a:p>
            <a:pPr indent="0" lvl="0" marL="0" rtl="0" algn="l">
              <a:spcBef>
                <a:spcPts val="300"/>
              </a:spcBef>
              <a:spcAft>
                <a:spcPts val="0"/>
              </a:spcAft>
              <a:buNone/>
            </a:pPr>
            <a:r>
              <a:t/>
            </a:r>
            <a:endParaRPr b="1" sz="2400"/>
          </a:p>
        </p:txBody>
      </p:sp>
      <p:graphicFrame>
        <p:nvGraphicFramePr>
          <p:cNvPr id="121" name="Google Shape;121;p23"/>
          <p:cNvGraphicFramePr/>
          <p:nvPr/>
        </p:nvGraphicFramePr>
        <p:xfrm>
          <a:off x="7265750" y="771475"/>
          <a:ext cx="3000000" cy="3000000"/>
        </p:xfrm>
        <a:graphic>
          <a:graphicData uri="http://schemas.openxmlformats.org/drawingml/2006/table">
            <a:tbl>
              <a:tblPr>
                <a:noFill/>
                <a:tableStyleId>{21277AE6-E8DC-440F-A2DE-527C82D4E399}</a:tableStyleId>
              </a:tblPr>
              <a:tblGrid>
                <a:gridCol w="609600"/>
                <a:gridCol w="609600"/>
              </a:tblGrid>
              <a:tr h="247650">
                <a:tc>
                  <a:txBody>
                    <a:bodyPr/>
                    <a:lstStyle/>
                    <a:p>
                      <a:pPr indent="0" lvl="0" marL="0" rtl="0" algn="l">
                        <a:spcBef>
                          <a:spcPts val="0"/>
                        </a:spcBef>
                        <a:spcAft>
                          <a:spcPts val="0"/>
                        </a:spcAft>
                        <a:buNone/>
                      </a:pPr>
                      <a:r>
                        <a:rPr lang="en" sz="1300"/>
                        <a:t>x</a:t>
                      </a:r>
                      <a:r>
                        <a:rPr baseline="-25000" lang="en" sz="1300"/>
                        <a:t>i</a:t>
                      </a:r>
                      <a:endParaRPr baseline="-25000"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y</a:t>
                      </a:r>
                      <a:r>
                        <a:rPr baseline="-25000" lang="en" sz="1300"/>
                        <a:t>i</a:t>
                      </a:r>
                      <a:endParaRPr baseline="-25000" sz="13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 sz="1600"/>
                        <a:t>11</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90</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 sz="1600"/>
                        <a:t>10</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45</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 sz="1600"/>
                        <a:t>2</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19</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 sz="1600"/>
                        <a:t>8</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35</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 sz="1600"/>
                        <a:t>4</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25</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 sz="1600"/>
                        <a:t>20</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80</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 sz="1600"/>
                        <a:t>1</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2</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 sz="1600"/>
                        <a:t>9</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30</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lang="en" sz="1600"/>
                        <a:t>5</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600"/>
                        <a:t>33</a:t>
                      </a:r>
                      <a:endParaRPr sz="16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4"/>
          <p:cNvPicPr preferRelativeResize="0"/>
          <p:nvPr/>
        </p:nvPicPr>
        <p:blipFill>
          <a:blip r:embed="rId3">
            <a:alphaModFix/>
          </a:blip>
          <a:stretch>
            <a:fillRect/>
          </a:stretch>
        </p:blipFill>
        <p:spPr>
          <a:xfrm>
            <a:off x="725949" y="673625"/>
            <a:ext cx="7063184" cy="4123850"/>
          </a:xfrm>
          <a:prstGeom prst="rect">
            <a:avLst/>
          </a:prstGeom>
          <a:noFill/>
          <a:ln>
            <a:noFill/>
          </a:ln>
        </p:spPr>
      </p:pic>
      <p:sp>
        <p:nvSpPr>
          <p:cNvPr id="127" name="Google Shape;127;p24"/>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0"/>
              </a:spcAft>
              <a:buNone/>
            </a:pPr>
            <a:r>
              <a:rPr b="1" lang="en" sz="2400">
                <a:highlight>
                  <a:srgbClr val="FFFFFF"/>
                </a:highlight>
              </a:rPr>
              <a:t>R-squared (</a:t>
            </a:r>
            <a:r>
              <a:rPr b="1" lang="en" sz="2400">
                <a:solidFill>
                  <a:srgbClr val="445578"/>
                </a:solidFill>
                <a:highlight>
                  <a:srgbClr val="FFFFFF"/>
                </a:highlight>
              </a:rPr>
              <a:t> R²)</a:t>
            </a:r>
            <a:r>
              <a:rPr b="1" lang="en" sz="2400">
                <a:highlight>
                  <a:srgbClr val="FFFFFF"/>
                </a:highlight>
              </a:rPr>
              <a:t> or </a:t>
            </a:r>
            <a:r>
              <a:rPr b="1" lang="en" sz="2400">
                <a:solidFill>
                  <a:srgbClr val="445578"/>
                </a:solidFill>
                <a:highlight>
                  <a:srgbClr val="FFFFFF"/>
                </a:highlight>
              </a:rPr>
              <a:t>Coefficient of determination</a:t>
            </a:r>
            <a:endParaRPr b="1" sz="2400">
              <a:highlight>
                <a:srgbClr val="FFFFFF"/>
              </a:highlight>
            </a:endParaRPr>
          </a:p>
          <a:p>
            <a:pPr indent="0" lvl="0" marL="0" rtl="0" algn="l">
              <a:spcBef>
                <a:spcPts val="300"/>
              </a:spcBef>
              <a:spcAft>
                <a:spcPts val="0"/>
              </a:spcAft>
              <a:buNone/>
            </a:pPr>
            <a:r>
              <a:t/>
            </a:r>
            <a:endParaRPr b="1" sz="2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5"/>
          <p:cNvPicPr preferRelativeResize="0"/>
          <p:nvPr/>
        </p:nvPicPr>
        <p:blipFill>
          <a:blip r:embed="rId3">
            <a:alphaModFix/>
          </a:blip>
          <a:stretch>
            <a:fillRect/>
          </a:stretch>
        </p:blipFill>
        <p:spPr>
          <a:xfrm>
            <a:off x="560850" y="622225"/>
            <a:ext cx="7117899" cy="3518500"/>
          </a:xfrm>
          <a:prstGeom prst="rect">
            <a:avLst/>
          </a:prstGeom>
          <a:noFill/>
          <a:ln>
            <a:noFill/>
          </a:ln>
        </p:spPr>
      </p:pic>
      <p:sp>
        <p:nvSpPr>
          <p:cNvPr id="133" name="Google Shape;133;p25"/>
          <p:cNvSpPr txBox="1"/>
          <p:nvPr/>
        </p:nvSpPr>
        <p:spPr>
          <a:xfrm>
            <a:off x="973150" y="4117550"/>
            <a:ext cx="3855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rgbClr val="445578"/>
                </a:solidFill>
                <a:highlight>
                  <a:srgbClr val="FFFFFF"/>
                </a:highlight>
              </a:rPr>
              <a:t>R-Squared = 1-(SSR/SST). </a:t>
            </a:r>
            <a:endParaRPr sz="1900">
              <a:solidFill>
                <a:srgbClr val="445578"/>
              </a:solidFill>
              <a:highlight>
                <a:srgbClr val="FFFFFF"/>
              </a:highlight>
            </a:endParaRPr>
          </a:p>
          <a:p>
            <a:pPr indent="0" lvl="0" marL="0" rtl="0" algn="l">
              <a:spcBef>
                <a:spcPts val="0"/>
              </a:spcBef>
              <a:spcAft>
                <a:spcPts val="0"/>
              </a:spcAft>
              <a:buNone/>
            </a:pPr>
            <a:r>
              <a:rPr lang="en" sz="1900">
                <a:solidFill>
                  <a:srgbClr val="445578"/>
                </a:solidFill>
                <a:highlight>
                  <a:srgbClr val="FFFFFF"/>
                </a:highlight>
              </a:rPr>
              <a:t>R square= 0.74</a:t>
            </a:r>
            <a:endParaRPr sz="2100"/>
          </a:p>
        </p:txBody>
      </p:sp>
      <p:sp>
        <p:nvSpPr>
          <p:cNvPr id="134" name="Google Shape;134;p25"/>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0"/>
              </a:spcAft>
              <a:buNone/>
            </a:pPr>
            <a:r>
              <a:rPr b="1" lang="en" sz="2400">
                <a:highlight>
                  <a:srgbClr val="FFFFFF"/>
                </a:highlight>
              </a:rPr>
              <a:t>R-squared (</a:t>
            </a:r>
            <a:r>
              <a:rPr b="1" lang="en" sz="2400">
                <a:solidFill>
                  <a:srgbClr val="445578"/>
                </a:solidFill>
                <a:highlight>
                  <a:srgbClr val="FFFFFF"/>
                </a:highlight>
              </a:rPr>
              <a:t> R²)</a:t>
            </a:r>
            <a:r>
              <a:rPr b="1" lang="en" sz="2400">
                <a:highlight>
                  <a:srgbClr val="FFFFFF"/>
                </a:highlight>
              </a:rPr>
              <a:t> or </a:t>
            </a:r>
            <a:r>
              <a:rPr b="1" lang="en" sz="2400">
                <a:solidFill>
                  <a:srgbClr val="445578"/>
                </a:solidFill>
                <a:highlight>
                  <a:srgbClr val="FFFFFF"/>
                </a:highlight>
              </a:rPr>
              <a:t>Coefficient of determination</a:t>
            </a:r>
            <a:endParaRPr b="1" sz="2400">
              <a:highlight>
                <a:srgbClr val="FFFFFF"/>
              </a:highlight>
            </a:endParaRPr>
          </a:p>
          <a:p>
            <a:pPr indent="0" lvl="0" marL="0" rtl="0" algn="l">
              <a:spcBef>
                <a:spcPts val="300"/>
              </a:spcBef>
              <a:spcAft>
                <a:spcPts val="0"/>
              </a:spcAft>
              <a:buNone/>
            </a:pPr>
            <a:r>
              <a:t/>
            </a:r>
            <a:endParaRPr b="1" sz="2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idx="1" type="body"/>
          </p:nvPr>
        </p:nvSpPr>
        <p:spPr>
          <a:xfrm>
            <a:off x="311700" y="923875"/>
            <a:ext cx="85206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Clr>
                <a:srgbClr val="445578"/>
              </a:buClr>
              <a:buSzPts val="2200"/>
              <a:buChar char="●"/>
            </a:pPr>
            <a:r>
              <a:rPr lang="en" sz="2200">
                <a:solidFill>
                  <a:srgbClr val="445578"/>
                </a:solidFill>
                <a:highlight>
                  <a:srgbClr val="FFFFFF"/>
                </a:highlight>
              </a:rPr>
              <a:t>R squared can be misleading if you’re not careful. For example, if you have a lot of noise in your data, your r-squared value will inflate.</a:t>
            </a:r>
            <a:endParaRPr sz="2200">
              <a:solidFill>
                <a:srgbClr val="445578"/>
              </a:solidFill>
              <a:highlight>
                <a:srgbClr val="FFFFFF"/>
              </a:highlight>
            </a:endParaRPr>
          </a:p>
          <a:p>
            <a:pPr indent="-368300" lvl="0" marL="457200" rtl="0" algn="l">
              <a:lnSpc>
                <a:spcPct val="160000"/>
              </a:lnSpc>
              <a:spcBef>
                <a:spcPts val="0"/>
              </a:spcBef>
              <a:spcAft>
                <a:spcPts val="0"/>
              </a:spcAft>
              <a:buClr>
                <a:srgbClr val="445578"/>
              </a:buClr>
              <a:buSzPts val="2200"/>
              <a:buChar char="●"/>
            </a:pPr>
            <a:r>
              <a:rPr lang="en" sz="2200">
                <a:solidFill>
                  <a:srgbClr val="445578"/>
                </a:solidFill>
                <a:highlight>
                  <a:srgbClr val="FFFFFF"/>
                </a:highlight>
              </a:rPr>
              <a:t>R-squared values don’t help in case we have categorical variables.</a:t>
            </a:r>
            <a:endParaRPr sz="2200">
              <a:solidFill>
                <a:srgbClr val="445578"/>
              </a:solidFill>
              <a:highlight>
                <a:srgbClr val="FFFFFF"/>
              </a:highlight>
            </a:endParaRPr>
          </a:p>
          <a:p>
            <a:pPr indent="0" lvl="0" marL="457200" rtl="0" algn="l">
              <a:spcBef>
                <a:spcPts val="1200"/>
              </a:spcBef>
              <a:spcAft>
                <a:spcPts val="1200"/>
              </a:spcAft>
              <a:buNone/>
            </a:pPr>
            <a:r>
              <a:t/>
            </a:r>
            <a:endParaRPr sz="2200">
              <a:solidFill>
                <a:srgbClr val="445578"/>
              </a:solidFill>
              <a:highlight>
                <a:srgbClr val="FFFFFF"/>
              </a:highlight>
            </a:endParaRPr>
          </a:p>
        </p:txBody>
      </p:sp>
      <p:sp>
        <p:nvSpPr>
          <p:cNvPr id="140" name="Google Shape;140;p26"/>
          <p:cNvSpPr txBox="1"/>
          <p:nvPr>
            <p:ph type="title"/>
          </p:nvPr>
        </p:nvSpPr>
        <p:spPr>
          <a:xfrm>
            <a:off x="311700" y="2164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500"/>
              </a:spcBef>
              <a:spcAft>
                <a:spcPts val="0"/>
              </a:spcAft>
              <a:buNone/>
            </a:pPr>
            <a:r>
              <a:rPr b="1" lang="en" sz="2400">
                <a:highlight>
                  <a:srgbClr val="FFFFFF"/>
                </a:highlight>
              </a:rPr>
              <a:t>R-squared (</a:t>
            </a:r>
            <a:r>
              <a:rPr b="1" lang="en" sz="2400">
                <a:solidFill>
                  <a:srgbClr val="445578"/>
                </a:solidFill>
                <a:highlight>
                  <a:srgbClr val="FFFFFF"/>
                </a:highlight>
              </a:rPr>
              <a:t> R²)</a:t>
            </a:r>
            <a:r>
              <a:rPr b="1" lang="en" sz="2400">
                <a:highlight>
                  <a:srgbClr val="FFFFFF"/>
                </a:highlight>
              </a:rPr>
              <a:t> or </a:t>
            </a:r>
            <a:r>
              <a:rPr b="1" lang="en" sz="2400">
                <a:solidFill>
                  <a:srgbClr val="445578"/>
                </a:solidFill>
                <a:highlight>
                  <a:srgbClr val="FFFFFF"/>
                </a:highlight>
              </a:rPr>
              <a:t>Coefficient of determination</a:t>
            </a:r>
            <a:endParaRPr b="1" sz="2400">
              <a:highlight>
                <a:srgbClr val="FFFFFF"/>
              </a:highlight>
            </a:endParaRPr>
          </a:p>
          <a:p>
            <a:pPr indent="0" lvl="0" marL="0" rtl="0" algn="l">
              <a:spcBef>
                <a:spcPts val="300"/>
              </a:spcBef>
              <a:spcAft>
                <a:spcPts val="0"/>
              </a:spcAft>
              <a:buNone/>
            </a:pPr>
            <a:r>
              <a:t/>
            </a:r>
            <a:endParaRPr b="1" sz="24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