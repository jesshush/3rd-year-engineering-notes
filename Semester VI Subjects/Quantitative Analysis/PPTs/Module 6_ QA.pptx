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E3FAD0-BB54-4475-A5D0-18900A5E0FD9}">
  <a:tblStyle styleId="{51E3FAD0-BB54-4475-A5D0-18900A5E0F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c90b8a6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c90b8a6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c90b8a67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c90b8a67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c90b8a67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c90b8a67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6c90b8a67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6c90b8a67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c90b8a67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6c90b8a67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c90b8a67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c90b8a67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c90b8a67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c90b8a67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6c90b8a67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6c90b8a67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c90b8a67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c90b8a67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c90b8a67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6c90b8a67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c9a3b188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c9a3b188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6c9a3b188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6c9a3b188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6c9a3b188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6c9a3b188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6c9a3b1881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6c9a3b1881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6c9a3b18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6c9a3b18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6c9a3b188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6c9a3b188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c7de240d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c7de240d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c7de240db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c7de240db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7de240db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7de240db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c7de240db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c7de240db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c7de240db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c7de240db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Module 6</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Hypothesis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Introduction</a:t>
            </a:r>
            <a:endParaRPr b="1"/>
          </a:p>
        </p:txBody>
      </p:sp>
      <p:sp>
        <p:nvSpPr>
          <p:cNvPr id="61" name="Google Shape;61;p14"/>
          <p:cNvSpPr txBox="1"/>
          <p:nvPr>
            <p:ph idx="1" type="body"/>
          </p:nvPr>
        </p:nvSpPr>
        <p:spPr>
          <a:xfrm>
            <a:off x="311700" y="1152475"/>
            <a:ext cx="8520600" cy="34164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rgbClr val="1F1F1F"/>
                </a:solidFill>
                <a:highlight>
                  <a:srgbClr val="FFFFFF"/>
                </a:highlight>
              </a:rPr>
              <a:t>Hypothesis testing is </a:t>
            </a:r>
            <a:r>
              <a:rPr lang="en" sz="2100">
                <a:solidFill>
                  <a:srgbClr val="040C28"/>
                </a:solidFill>
                <a:highlight>
                  <a:srgbClr val="D3E3FD"/>
                </a:highlight>
              </a:rPr>
              <a:t>a statistical method used to determine if there is enough evidence in a sample data to draw conclusions about a population</a:t>
            </a:r>
            <a:r>
              <a:rPr lang="en" sz="2100">
                <a:solidFill>
                  <a:srgbClr val="1F1F1F"/>
                </a:solidFill>
                <a:highlight>
                  <a:srgbClr val="FFFFFF"/>
                </a:highlight>
              </a:rPr>
              <a:t>. </a:t>
            </a:r>
            <a:endParaRPr sz="2100">
              <a:solidFill>
                <a:srgbClr val="1F1F1F"/>
              </a:solidFill>
              <a:highlight>
                <a:srgbClr val="FFFFFF"/>
              </a:highlight>
            </a:endParaRPr>
          </a:p>
          <a:p>
            <a:pPr indent="0" lvl="0" marL="0" rtl="0" algn="l">
              <a:spcBef>
                <a:spcPts val="1200"/>
              </a:spcBef>
              <a:spcAft>
                <a:spcPts val="1200"/>
              </a:spcAft>
              <a:buNone/>
            </a:pPr>
            <a:r>
              <a:rPr lang="en" sz="2100">
                <a:solidFill>
                  <a:srgbClr val="1F1F1F"/>
                </a:solidFill>
                <a:highlight>
                  <a:srgbClr val="FFFFFF"/>
                </a:highlight>
              </a:rPr>
              <a:t>It involves formulating two competing hypotheses, the null hypothesis (H0) and the alternative hypothesis (Ha), and then collecting data to assess the evidence.</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926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b="1" lang="en" sz="2600">
                <a:solidFill>
                  <a:srgbClr val="51565E"/>
                </a:solidFill>
                <a:highlight>
                  <a:srgbClr val="FFFFFF"/>
                </a:highlight>
                <a:latin typeface="Roboto"/>
                <a:ea typeface="Roboto"/>
                <a:cs typeface="Roboto"/>
                <a:sym typeface="Roboto"/>
              </a:rPr>
              <a:t>Hypothesis testing and its types</a:t>
            </a:r>
            <a:endParaRPr b="1" sz="4200"/>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51565E"/>
              </a:buClr>
              <a:buSzPts val="2000"/>
              <a:buFont typeface="Roboto"/>
              <a:buChar char="●"/>
            </a:pPr>
            <a:r>
              <a:rPr lang="en" sz="2000">
                <a:solidFill>
                  <a:srgbClr val="51565E"/>
                </a:solidFill>
                <a:highlight>
                  <a:srgbClr val="FFFFFF"/>
                </a:highlight>
                <a:latin typeface="Roboto"/>
                <a:ea typeface="Roboto"/>
                <a:cs typeface="Roboto"/>
                <a:sym typeface="Roboto"/>
              </a:rPr>
              <a:t>Hypothesis testing is a statistical method used to make inferences about a population based on sample data. </a:t>
            </a:r>
            <a:endParaRPr sz="2000">
              <a:solidFill>
                <a:srgbClr val="51565E"/>
              </a:solidFill>
              <a:highlight>
                <a:srgbClr val="FFFFFF"/>
              </a:highlight>
              <a:latin typeface="Roboto"/>
              <a:ea typeface="Roboto"/>
              <a:cs typeface="Roboto"/>
              <a:sym typeface="Roboto"/>
            </a:endParaRPr>
          </a:p>
          <a:p>
            <a:pPr indent="-355600" lvl="0" marL="457200" rtl="0" algn="l">
              <a:spcBef>
                <a:spcPts val="0"/>
              </a:spcBef>
              <a:spcAft>
                <a:spcPts val="0"/>
              </a:spcAft>
              <a:buClr>
                <a:srgbClr val="51565E"/>
              </a:buClr>
              <a:buSzPts val="2000"/>
              <a:buFont typeface="Roboto"/>
              <a:buChar char="●"/>
            </a:pPr>
            <a:r>
              <a:rPr lang="en" sz="2000">
                <a:solidFill>
                  <a:srgbClr val="51565E"/>
                </a:solidFill>
                <a:highlight>
                  <a:srgbClr val="FFFFFF"/>
                </a:highlight>
                <a:latin typeface="Roboto"/>
                <a:ea typeface="Roboto"/>
                <a:cs typeface="Roboto"/>
                <a:sym typeface="Roboto"/>
              </a:rPr>
              <a:t>It involves formulating two hypotheses: </a:t>
            </a:r>
            <a:endParaRPr sz="2000">
              <a:solidFill>
                <a:srgbClr val="51565E"/>
              </a:solidFill>
              <a:highlight>
                <a:srgbClr val="FFFFFF"/>
              </a:highlight>
              <a:latin typeface="Roboto"/>
              <a:ea typeface="Roboto"/>
              <a:cs typeface="Roboto"/>
              <a:sym typeface="Roboto"/>
            </a:endParaRPr>
          </a:p>
          <a:p>
            <a:pPr indent="-355600" lvl="0" marL="457200" rtl="0" algn="l">
              <a:spcBef>
                <a:spcPts val="0"/>
              </a:spcBef>
              <a:spcAft>
                <a:spcPts val="0"/>
              </a:spcAft>
              <a:buClr>
                <a:srgbClr val="51565E"/>
              </a:buClr>
              <a:buSzPts val="2000"/>
              <a:buFont typeface="Roboto"/>
              <a:buChar char="●"/>
            </a:pPr>
            <a:r>
              <a:rPr lang="en" sz="2000">
                <a:solidFill>
                  <a:srgbClr val="51565E"/>
                </a:solidFill>
                <a:highlight>
                  <a:srgbClr val="FFFFFF"/>
                </a:highlight>
                <a:latin typeface="Roboto"/>
                <a:ea typeface="Roboto"/>
                <a:cs typeface="Roboto"/>
                <a:sym typeface="Roboto"/>
              </a:rPr>
              <a:t>the </a:t>
            </a:r>
            <a:r>
              <a:rPr b="1" lang="en" sz="2000">
                <a:solidFill>
                  <a:srgbClr val="51565E"/>
                </a:solidFill>
                <a:highlight>
                  <a:srgbClr val="FFFFFF"/>
                </a:highlight>
                <a:latin typeface="Roboto"/>
                <a:ea typeface="Roboto"/>
                <a:cs typeface="Roboto"/>
                <a:sym typeface="Roboto"/>
              </a:rPr>
              <a:t>null hypothesis (H0)</a:t>
            </a:r>
            <a:r>
              <a:rPr lang="en" sz="2000">
                <a:solidFill>
                  <a:srgbClr val="51565E"/>
                </a:solidFill>
                <a:highlight>
                  <a:srgbClr val="FFFFFF"/>
                </a:highlight>
                <a:latin typeface="Roboto"/>
                <a:ea typeface="Roboto"/>
                <a:cs typeface="Roboto"/>
                <a:sym typeface="Roboto"/>
              </a:rPr>
              <a:t>, which represents the default assumption, and </a:t>
            </a:r>
            <a:endParaRPr sz="2000">
              <a:solidFill>
                <a:srgbClr val="51565E"/>
              </a:solidFill>
              <a:highlight>
                <a:srgbClr val="FFFFFF"/>
              </a:highlight>
              <a:latin typeface="Roboto"/>
              <a:ea typeface="Roboto"/>
              <a:cs typeface="Roboto"/>
              <a:sym typeface="Roboto"/>
            </a:endParaRPr>
          </a:p>
          <a:p>
            <a:pPr indent="-355600" lvl="0" marL="457200" rtl="0" algn="l">
              <a:spcBef>
                <a:spcPts val="0"/>
              </a:spcBef>
              <a:spcAft>
                <a:spcPts val="0"/>
              </a:spcAft>
              <a:buClr>
                <a:srgbClr val="51565E"/>
              </a:buClr>
              <a:buSzPts val="2000"/>
              <a:buFont typeface="Roboto"/>
              <a:buChar char="●"/>
            </a:pPr>
            <a:r>
              <a:rPr lang="en" sz="2000">
                <a:solidFill>
                  <a:srgbClr val="51565E"/>
                </a:solidFill>
                <a:highlight>
                  <a:srgbClr val="FFFFFF"/>
                </a:highlight>
                <a:latin typeface="Roboto"/>
                <a:ea typeface="Roboto"/>
                <a:cs typeface="Roboto"/>
                <a:sym typeface="Roboto"/>
              </a:rPr>
              <a:t>the </a:t>
            </a:r>
            <a:r>
              <a:rPr b="1" lang="en" sz="2000">
                <a:solidFill>
                  <a:srgbClr val="51565E"/>
                </a:solidFill>
                <a:highlight>
                  <a:srgbClr val="FFFFFF"/>
                </a:highlight>
                <a:latin typeface="Roboto"/>
                <a:ea typeface="Roboto"/>
                <a:cs typeface="Roboto"/>
                <a:sym typeface="Roboto"/>
              </a:rPr>
              <a:t>alternative hypothesis (Ha)</a:t>
            </a:r>
            <a:r>
              <a:rPr lang="en" sz="2000">
                <a:solidFill>
                  <a:srgbClr val="51565E"/>
                </a:solidFill>
                <a:highlight>
                  <a:srgbClr val="FFFFFF"/>
                </a:highlight>
                <a:latin typeface="Roboto"/>
                <a:ea typeface="Roboto"/>
                <a:cs typeface="Roboto"/>
                <a:sym typeface="Roboto"/>
              </a:rPr>
              <a:t>, which contradicts H0. </a:t>
            </a:r>
            <a:endParaRPr sz="2000">
              <a:solidFill>
                <a:srgbClr val="51565E"/>
              </a:solidFill>
              <a:highlight>
                <a:srgbClr val="FFFFFF"/>
              </a:highlight>
              <a:latin typeface="Roboto"/>
              <a:ea typeface="Roboto"/>
              <a:cs typeface="Roboto"/>
              <a:sym typeface="Roboto"/>
            </a:endParaRPr>
          </a:p>
          <a:p>
            <a:pPr indent="-355600" lvl="0" marL="457200" rtl="0" algn="l">
              <a:spcBef>
                <a:spcPts val="0"/>
              </a:spcBef>
              <a:spcAft>
                <a:spcPts val="0"/>
              </a:spcAft>
              <a:buClr>
                <a:srgbClr val="51565E"/>
              </a:buClr>
              <a:buSzPts val="2000"/>
              <a:buFont typeface="Roboto"/>
              <a:buChar char="●"/>
            </a:pPr>
            <a:r>
              <a:rPr lang="en" sz="2000">
                <a:solidFill>
                  <a:srgbClr val="51565E"/>
                </a:solidFill>
                <a:highlight>
                  <a:srgbClr val="FFFFFF"/>
                </a:highlight>
                <a:latin typeface="Roboto"/>
                <a:ea typeface="Roboto"/>
                <a:cs typeface="Roboto"/>
                <a:sym typeface="Roboto"/>
              </a:rPr>
              <a:t>The goal is to assess the evidence and determine whether there is enough statistical significance to reject the null hypothesis in favor of the alternative hypothesis.</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62500"/>
              </a:lnSpc>
              <a:spcBef>
                <a:spcPts val="0"/>
              </a:spcBef>
              <a:spcAft>
                <a:spcPts val="0"/>
              </a:spcAft>
              <a:buClr>
                <a:schemeClr val="dk1"/>
              </a:buClr>
              <a:buSzPts val="990"/>
              <a:buFont typeface="Arial"/>
              <a:buNone/>
            </a:pPr>
            <a:r>
              <a:rPr b="1" lang="en" sz="2380">
                <a:solidFill>
                  <a:srgbClr val="51565E"/>
                </a:solidFill>
                <a:highlight>
                  <a:srgbClr val="FFFFFF"/>
                </a:highlight>
                <a:latin typeface="Roboto"/>
                <a:ea typeface="Roboto"/>
                <a:cs typeface="Roboto"/>
                <a:sym typeface="Roboto"/>
              </a:rPr>
              <a:t>Types of hypothesis testing:</a:t>
            </a:r>
            <a:endParaRPr b="1" sz="2380">
              <a:solidFill>
                <a:srgbClr val="51565E"/>
              </a:solidFill>
              <a:highlight>
                <a:srgbClr val="FFFFFF"/>
              </a:highlight>
              <a:latin typeface="Roboto"/>
              <a:ea typeface="Roboto"/>
              <a:cs typeface="Roboto"/>
              <a:sym typeface="Roboto"/>
            </a:endParaRPr>
          </a:p>
          <a:p>
            <a:pPr indent="0" lvl="0" marL="0" rtl="0" algn="l">
              <a:spcBef>
                <a:spcPts val="2000"/>
              </a:spcBef>
              <a:spcAft>
                <a:spcPts val="0"/>
              </a:spcAft>
              <a:buSzPts val="990"/>
              <a:buNone/>
            </a:pPr>
            <a:r>
              <a:t/>
            </a:r>
            <a:endParaRPr b="1" sz="2380">
              <a:solidFill>
                <a:srgbClr val="51565E"/>
              </a:solidFill>
              <a:highlight>
                <a:srgbClr val="FFFFFF"/>
              </a:highlight>
              <a:latin typeface="Roboto"/>
              <a:ea typeface="Roboto"/>
              <a:cs typeface="Roboto"/>
              <a:sym typeface="Roboto"/>
            </a:endParaRPr>
          </a:p>
        </p:txBody>
      </p:sp>
      <p:sp>
        <p:nvSpPr>
          <p:cNvPr id="73" name="Google Shape;73;p16"/>
          <p:cNvSpPr txBox="1"/>
          <p:nvPr>
            <p:ph idx="1" type="body"/>
          </p:nvPr>
        </p:nvSpPr>
        <p:spPr>
          <a:xfrm>
            <a:off x="83100" y="635425"/>
            <a:ext cx="8856900" cy="4290300"/>
          </a:xfrm>
          <a:prstGeom prst="rect">
            <a:avLst/>
          </a:prstGeom>
        </p:spPr>
        <p:txBody>
          <a:bodyPr anchorCtr="0" anchor="t" bIns="91425" lIns="91425" spcFirstLastPara="1" rIns="91425" wrap="square" tIns="91425">
            <a:noAutofit/>
          </a:bodyPr>
          <a:lstStyle/>
          <a:p>
            <a:pPr indent="-336550" lvl="0" marL="647700" rtl="0" algn="l">
              <a:lnSpc>
                <a:spcPct val="150000"/>
              </a:lnSpc>
              <a:spcBef>
                <a:spcPts val="0"/>
              </a:spcBef>
              <a:spcAft>
                <a:spcPts val="0"/>
              </a:spcAft>
              <a:buClr>
                <a:srgbClr val="51565E"/>
              </a:buClr>
              <a:buSzPts val="1700"/>
              <a:buFont typeface="Roboto"/>
              <a:buAutoNum type="arabicPeriod"/>
            </a:pPr>
            <a:r>
              <a:rPr lang="en" sz="1700">
                <a:solidFill>
                  <a:srgbClr val="51565E"/>
                </a:solidFill>
                <a:highlight>
                  <a:srgbClr val="FFFFFF"/>
                </a:highlight>
                <a:latin typeface="Roboto"/>
                <a:ea typeface="Roboto"/>
                <a:cs typeface="Roboto"/>
                <a:sym typeface="Roboto"/>
              </a:rPr>
              <a:t>One-sample test: Used to compare a sample to a known value or a hypothesized value.</a:t>
            </a:r>
            <a:endParaRPr sz="1700">
              <a:solidFill>
                <a:srgbClr val="51565E"/>
              </a:solidFill>
              <a:highlight>
                <a:srgbClr val="FFFFFF"/>
              </a:highlight>
              <a:latin typeface="Roboto"/>
              <a:ea typeface="Roboto"/>
              <a:cs typeface="Roboto"/>
              <a:sym typeface="Roboto"/>
            </a:endParaRPr>
          </a:p>
          <a:p>
            <a:pPr indent="-336550" lvl="0" marL="647700" rtl="0" algn="l">
              <a:lnSpc>
                <a:spcPct val="150000"/>
              </a:lnSpc>
              <a:spcBef>
                <a:spcPts val="0"/>
              </a:spcBef>
              <a:spcAft>
                <a:spcPts val="0"/>
              </a:spcAft>
              <a:buClr>
                <a:srgbClr val="51565E"/>
              </a:buClr>
              <a:buSzPts val="1700"/>
              <a:buFont typeface="Roboto"/>
              <a:buAutoNum type="arabicPeriod"/>
            </a:pPr>
            <a:r>
              <a:rPr lang="en" sz="1700">
                <a:solidFill>
                  <a:srgbClr val="51565E"/>
                </a:solidFill>
                <a:highlight>
                  <a:srgbClr val="FFFFFF"/>
                </a:highlight>
                <a:latin typeface="Roboto"/>
                <a:ea typeface="Roboto"/>
                <a:cs typeface="Roboto"/>
                <a:sym typeface="Roboto"/>
              </a:rPr>
              <a:t>Two-sample test: Compares two independent samples to assess if there is a significant difference between their means or distributions.</a:t>
            </a:r>
            <a:endParaRPr sz="1700">
              <a:solidFill>
                <a:srgbClr val="51565E"/>
              </a:solidFill>
              <a:highlight>
                <a:srgbClr val="FFFFFF"/>
              </a:highlight>
              <a:latin typeface="Roboto"/>
              <a:ea typeface="Roboto"/>
              <a:cs typeface="Roboto"/>
              <a:sym typeface="Roboto"/>
            </a:endParaRPr>
          </a:p>
          <a:p>
            <a:pPr indent="-336550" lvl="0" marL="647700" rtl="0" algn="l">
              <a:lnSpc>
                <a:spcPct val="150000"/>
              </a:lnSpc>
              <a:spcBef>
                <a:spcPts val="0"/>
              </a:spcBef>
              <a:spcAft>
                <a:spcPts val="0"/>
              </a:spcAft>
              <a:buClr>
                <a:srgbClr val="51565E"/>
              </a:buClr>
              <a:buSzPts val="1700"/>
              <a:buFont typeface="Roboto"/>
              <a:buAutoNum type="arabicPeriod"/>
            </a:pPr>
            <a:r>
              <a:rPr lang="en" sz="1700">
                <a:solidFill>
                  <a:srgbClr val="51565E"/>
                </a:solidFill>
                <a:highlight>
                  <a:srgbClr val="FFFFFF"/>
                </a:highlight>
                <a:latin typeface="Roboto"/>
                <a:ea typeface="Roboto"/>
                <a:cs typeface="Roboto"/>
                <a:sym typeface="Roboto"/>
              </a:rPr>
              <a:t>Paired-sample test: Compares two related samples, such as pre-test and post-test data, to evaluate changes within the same subjects over time or under different conditions.</a:t>
            </a:r>
            <a:endParaRPr sz="1700">
              <a:solidFill>
                <a:srgbClr val="51565E"/>
              </a:solidFill>
              <a:highlight>
                <a:srgbClr val="FFFFFF"/>
              </a:highlight>
              <a:latin typeface="Roboto"/>
              <a:ea typeface="Roboto"/>
              <a:cs typeface="Roboto"/>
              <a:sym typeface="Roboto"/>
            </a:endParaRPr>
          </a:p>
          <a:p>
            <a:pPr indent="-336550" lvl="0" marL="647700" rtl="0" algn="l">
              <a:lnSpc>
                <a:spcPct val="150000"/>
              </a:lnSpc>
              <a:spcBef>
                <a:spcPts val="0"/>
              </a:spcBef>
              <a:spcAft>
                <a:spcPts val="0"/>
              </a:spcAft>
              <a:buClr>
                <a:srgbClr val="51565E"/>
              </a:buClr>
              <a:buSzPts val="1700"/>
              <a:buFont typeface="Roboto"/>
              <a:buAutoNum type="arabicPeriod"/>
            </a:pPr>
            <a:r>
              <a:rPr lang="en" sz="1700">
                <a:solidFill>
                  <a:srgbClr val="51565E"/>
                </a:solidFill>
                <a:highlight>
                  <a:srgbClr val="FFFFFF"/>
                </a:highlight>
                <a:latin typeface="Roboto"/>
                <a:ea typeface="Roboto"/>
                <a:cs typeface="Roboto"/>
                <a:sym typeface="Roboto"/>
              </a:rPr>
              <a:t>Chi-square test: Used to analyze categorical data and determine if there is a significant association between variables.</a:t>
            </a:r>
            <a:endParaRPr sz="1700">
              <a:solidFill>
                <a:srgbClr val="51565E"/>
              </a:solidFill>
              <a:highlight>
                <a:srgbClr val="FFFFFF"/>
              </a:highlight>
              <a:latin typeface="Roboto"/>
              <a:ea typeface="Roboto"/>
              <a:cs typeface="Roboto"/>
              <a:sym typeface="Roboto"/>
            </a:endParaRPr>
          </a:p>
          <a:p>
            <a:pPr indent="-336550" lvl="0" marL="647700" rtl="0" algn="l">
              <a:lnSpc>
                <a:spcPct val="150000"/>
              </a:lnSpc>
              <a:spcBef>
                <a:spcPts val="0"/>
              </a:spcBef>
              <a:spcAft>
                <a:spcPts val="0"/>
              </a:spcAft>
              <a:buClr>
                <a:srgbClr val="51565E"/>
              </a:buClr>
              <a:buSzPts val="1700"/>
              <a:buFont typeface="Roboto"/>
              <a:buAutoNum type="arabicPeriod"/>
            </a:pPr>
            <a:r>
              <a:rPr lang="en" sz="1700">
                <a:solidFill>
                  <a:srgbClr val="51565E"/>
                </a:solidFill>
                <a:highlight>
                  <a:srgbClr val="FFFFFF"/>
                </a:highlight>
                <a:latin typeface="Roboto"/>
                <a:ea typeface="Roboto"/>
                <a:cs typeface="Roboto"/>
                <a:sym typeface="Roboto"/>
              </a:rPr>
              <a:t>ANOVA (Analysis of Variance): Compares means across multiple groups to check if there is a significant difference between them.</a:t>
            </a:r>
            <a:endParaRPr sz="1700">
              <a:solidFill>
                <a:srgbClr val="51565E"/>
              </a:solidFill>
              <a:highlight>
                <a:srgbClr val="FFFFFF"/>
              </a:highlight>
              <a:latin typeface="Roboto"/>
              <a:ea typeface="Roboto"/>
              <a:cs typeface="Roboto"/>
              <a:sym typeface="Roboto"/>
            </a:endParaRPr>
          </a:p>
          <a:p>
            <a:pPr indent="0" lvl="0" marL="0" rtl="0" algn="l">
              <a:spcBef>
                <a:spcPts val="2300"/>
              </a:spcBef>
              <a:spcAft>
                <a:spcPts val="1200"/>
              </a:spcAft>
              <a:buNone/>
            </a:pPr>
            <a:r>
              <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lnSpc>
                <a:spcPct val="108333"/>
              </a:lnSpc>
              <a:spcBef>
                <a:spcPts val="2400"/>
              </a:spcBef>
              <a:spcAft>
                <a:spcPts val="0"/>
              </a:spcAft>
              <a:buClr>
                <a:schemeClr val="dk1"/>
              </a:buClr>
              <a:buSzPts val="990"/>
              <a:buFont typeface="Arial"/>
              <a:buNone/>
            </a:pPr>
            <a:r>
              <a:rPr b="1" lang="en" sz="2520">
                <a:solidFill>
                  <a:srgbClr val="272C37"/>
                </a:solidFill>
                <a:highlight>
                  <a:srgbClr val="FFFFFF"/>
                </a:highlight>
                <a:latin typeface="Roboto"/>
                <a:ea typeface="Roboto"/>
                <a:cs typeface="Roboto"/>
                <a:sym typeface="Roboto"/>
              </a:rPr>
              <a:t>Steps of hypothesis testing</a:t>
            </a:r>
            <a:endParaRPr b="1" sz="2520">
              <a:solidFill>
                <a:srgbClr val="272C37"/>
              </a:solidFill>
              <a:highlight>
                <a:srgbClr val="FFFFFF"/>
              </a:highlight>
              <a:latin typeface="Roboto"/>
              <a:ea typeface="Roboto"/>
              <a:cs typeface="Roboto"/>
              <a:sym typeface="Roboto"/>
            </a:endParaRPr>
          </a:p>
          <a:p>
            <a:pPr indent="0" lvl="0" marL="0" rtl="0" algn="l">
              <a:spcBef>
                <a:spcPts val="1800"/>
              </a:spcBef>
              <a:spcAft>
                <a:spcPts val="0"/>
              </a:spcAft>
              <a:buSzPts val="990"/>
              <a:buNone/>
            </a:pPr>
            <a:r>
              <a:t/>
            </a:r>
            <a:endParaRPr b="1" sz="3420"/>
          </a:p>
        </p:txBody>
      </p:sp>
      <p:sp>
        <p:nvSpPr>
          <p:cNvPr id="79" name="Google Shape;79;p17"/>
          <p:cNvSpPr txBox="1"/>
          <p:nvPr>
            <p:ph idx="1" type="body"/>
          </p:nvPr>
        </p:nvSpPr>
        <p:spPr>
          <a:xfrm>
            <a:off x="311700" y="560525"/>
            <a:ext cx="8520600" cy="3416400"/>
          </a:xfrm>
          <a:prstGeom prst="rect">
            <a:avLst/>
          </a:prstGeom>
        </p:spPr>
        <p:txBody>
          <a:bodyPr anchorCtr="0" anchor="t" bIns="91425" lIns="91425" spcFirstLastPara="1" rIns="91425" wrap="square" tIns="91425">
            <a:noAutofit/>
          </a:bodyPr>
          <a:lstStyle/>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Formulate the hypotheses: State the null hypothesis (H0) and the alternative hypothesis (Ha) based on the research question.</a:t>
            </a:r>
            <a:endParaRPr>
              <a:solidFill>
                <a:srgbClr val="51565E"/>
              </a:solidFill>
              <a:highlight>
                <a:srgbClr val="FFFFFF"/>
              </a:highlight>
              <a:latin typeface="Roboto"/>
              <a:ea typeface="Roboto"/>
              <a:cs typeface="Roboto"/>
              <a:sym typeface="Roboto"/>
            </a:endParaRPr>
          </a:p>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Set the significance level: Determine the acceptable level of error (alpha) for making a decision.</a:t>
            </a:r>
            <a:endParaRPr>
              <a:solidFill>
                <a:srgbClr val="51565E"/>
              </a:solidFill>
              <a:highlight>
                <a:srgbClr val="FFFFFF"/>
              </a:highlight>
              <a:latin typeface="Roboto"/>
              <a:ea typeface="Roboto"/>
              <a:cs typeface="Roboto"/>
              <a:sym typeface="Roboto"/>
            </a:endParaRPr>
          </a:p>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Collect and analyze data: Gather and process the sample data.</a:t>
            </a:r>
            <a:endParaRPr>
              <a:solidFill>
                <a:srgbClr val="51565E"/>
              </a:solidFill>
              <a:highlight>
                <a:srgbClr val="FFFFFF"/>
              </a:highlight>
              <a:latin typeface="Roboto"/>
              <a:ea typeface="Roboto"/>
              <a:cs typeface="Roboto"/>
              <a:sym typeface="Roboto"/>
            </a:endParaRPr>
          </a:p>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Compute test statistic: Calculate the appropriate statistical test to assess the evidence.</a:t>
            </a:r>
            <a:endParaRPr>
              <a:solidFill>
                <a:srgbClr val="51565E"/>
              </a:solidFill>
              <a:highlight>
                <a:srgbClr val="FFFFFF"/>
              </a:highlight>
              <a:latin typeface="Roboto"/>
              <a:ea typeface="Roboto"/>
              <a:cs typeface="Roboto"/>
              <a:sym typeface="Roboto"/>
            </a:endParaRPr>
          </a:p>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Make a decision: Compare the test statistic with critical values or p-values and determine whether to reject H0 in favor of Ha or not.</a:t>
            </a:r>
            <a:endParaRPr>
              <a:solidFill>
                <a:srgbClr val="51565E"/>
              </a:solidFill>
              <a:highlight>
                <a:srgbClr val="FFFFFF"/>
              </a:highlight>
              <a:latin typeface="Roboto"/>
              <a:ea typeface="Roboto"/>
              <a:cs typeface="Roboto"/>
              <a:sym typeface="Roboto"/>
            </a:endParaRPr>
          </a:p>
          <a:p>
            <a:pPr indent="-342900" lvl="0" marL="647700" rtl="0" algn="l">
              <a:lnSpc>
                <a:spcPct val="150000"/>
              </a:lnSpc>
              <a:spcBef>
                <a:spcPts val="0"/>
              </a:spcBef>
              <a:spcAft>
                <a:spcPts val="0"/>
              </a:spcAft>
              <a:buClr>
                <a:srgbClr val="51565E"/>
              </a:buClr>
              <a:buSzPts val="1800"/>
              <a:buFont typeface="Roboto"/>
              <a:buAutoNum type="arabicPeriod"/>
            </a:pPr>
            <a:r>
              <a:rPr lang="en">
                <a:solidFill>
                  <a:srgbClr val="51565E"/>
                </a:solidFill>
                <a:highlight>
                  <a:srgbClr val="FFFFFF"/>
                </a:highlight>
                <a:latin typeface="Roboto"/>
                <a:ea typeface="Roboto"/>
                <a:cs typeface="Roboto"/>
                <a:sym typeface="Roboto"/>
              </a:rPr>
              <a:t>Draw conclusions: Interpret the results and communicate the findings in the context of the research question.</a:t>
            </a:r>
            <a:endParaRPr>
              <a:solidFill>
                <a:srgbClr val="51565E"/>
              </a:solidFill>
              <a:highlight>
                <a:srgbClr val="FFFFFF"/>
              </a:highlight>
              <a:latin typeface="Roboto"/>
              <a:ea typeface="Roboto"/>
              <a:cs typeface="Roboto"/>
              <a:sym typeface="Roboto"/>
            </a:endParaRPr>
          </a:p>
          <a:p>
            <a:pPr indent="0" lvl="0" marL="0" rtl="0" algn="l">
              <a:spcBef>
                <a:spcPts val="2300"/>
              </a:spcBef>
              <a:spcAft>
                <a:spcPts val="120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990"/>
              <a:buFont typeface="Arial"/>
              <a:buNone/>
            </a:pPr>
            <a:r>
              <a:rPr b="1" lang="en" sz="2350">
                <a:highlight>
                  <a:srgbClr val="FFFFFF"/>
                </a:highlight>
              </a:rPr>
              <a:t> P Value</a:t>
            </a:r>
            <a:endParaRPr b="1" sz="2350">
              <a:highlight>
                <a:srgbClr val="FFFFFF"/>
              </a:highlight>
            </a:endParaRPr>
          </a:p>
          <a:p>
            <a:pPr indent="0" lvl="0" marL="0" rtl="0" algn="l">
              <a:spcBef>
                <a:spcPts val="1100"/>
              </a:spcBef>
              <a:spcAft>
                <a:spcPts val="0"/>
              </a:spcAft>
              <a:buSzPts val="990"/>
              <a:buNone/>
            </a:pPr>
            <a:r>
              <a:t/>
            </a:r>
            <a:endParaRPr sz="3520"/>
          </a:p>
        </p:txBody>
      </p:sp>
      <p:sp>
        <p:nvSpPr>
          <p:cNvPr id="85" name="Google Shape;85;p18"/>
          <p:cNvSpPr txBox="1"/>
          <p:nvPr>
            <p:ph idx="1" type="body"/>
          </p:nvPr>
        </p:nvSpPr>
        <p:spPr>
          <a:xfrm>
            <a:off x="311700" y="923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333333"/>
                </a:solidFill>
                <a:highlight>
                  <a:srgbClr val="FFFFFF"/>
                </a:highlight>
              </a:rPr>
              <a:t>In hypothesis testing, the p value is used to indicate whether the results obtained after conducting a test are statistically significant or not. </a:t>
            </a:r>
            <a:endParaRPr sz="2300">
              <a:solidFill>
                <a:srgbClr val="333333"/>
              </a:solidFill>
              <a:highlight>
                <a:srgbClr val="FFFFFF"/>
              </a:highlight>
            </a:endParaRPr>
          </a:p>
          <a:p>
            <a:pPr indent="0" lvl="0" marL="0" rtl="0" algn="l">
              <a:spcBef>
                <a:spcPts val="1200"/>
              </a:spcBef>
              <a:spcAft>
                <a:spcPts val="1200"/>
              </a:spcAft>
              <a:buNone/>
            </a:pPr>
            <a:r>
              <a:rPr lang="en" sz="2300">
                <a:solidFill>
                  <a:srgbClr val="333333"/>
                </a:solidFill>
                <a:highlight>
                  <a:srgbClr val="FFFFFF"/>
                </a:highlight>
              </a:rPr>
              <a:t>It also indicates the probability of making an error in rejecting or not rejecting the null hypothesis.This value is always a number between 0 and 1</a:t>
            </a:r>
            <a:endParaRPr sz="2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2320">
                <a:highlight>
                  <a:srgbClr val="FFFFFF"/>
                </a:highlight>
              </a:rPr>
              <a:t>One Tailed Hypothesis Testing</a:t>
            </a:r>
            <a:endParaRPr b="1" sz="2320">
              <a:highlight>
                <a:srgbClr val="FFFFFF"/>
              </a:highlight>
            </a:endParaRPr>
          </a:p>
          <a:p>
            <a:pPr indent="0" lvl="0" marL="0" rtl="0" algn="l">
              <a:lnSpc>
                <a:spcPct val="115000"/>
              </a:lnSpc>
              <a:spcBef>
                <a:spcPts val="1500"/>
              </a:spcBef>
              <a:spcAft>
                <a:spcPts val="0"/>
              </a:spcAft>
              <a:buClr>
                <a:schemeClr val="dk1"/>
              </a:buClr>
              <a:buSzPts val="990"/>
              <a:buFont typeface="Arial"/>
              <a:buNone/>
            </a:pPr>
            <a:r>
              <a:t/>
            </a:r>
            <a:endParaRPr sz="1690">
              <a:highlight>
                <a:srgbClr val="FFFFFF"/>
              </a:highlight>
            </a:endParaRPr>
          </a:p>
          <a:p>
            <a:pPr indent="0" lvl="0" marL="0" rtl="0" algn="l">
              <a:spcBef>
                <a:spcPts val="0"/>
              </a:spcBef>
              <a:spcAft>
                <a:spcPts val="0"/>
              </a:spcAft>
              <a:buSzPts val="990"/>
              <a:buNone/>
            </a:pPr>
            <a:r>
              <a:t/>
            </a:r>
            <a:endParaRPr sz="3220"/>
          </a:p>
        </p:txBody>
      </p:sp>
      <p:sp>
        <p:nvSpPr>
          <p:cNvPr id="91" name="Google Shape;91;p19"/>
          <p:cNvSpPr txBox="1"/>
          <p:nvPr>
            <p:ph idx="1" type="body"/>
          </p:nvPr>
        </p:nvSpPr>
        <p:spPr>
          <a:xfrm>
            <a:off x="83100" y="8476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solidFill>
                  <a:srgbClr val="333333"/>
                </a:solidFill>
                <a:highlight>
                  <a:srgbClr val="FFFFFF"/>
                </a:highlight>
              </a:rPr>
              <a:t>One tailed hypothesis testing is done when the rejection region is only in one direction</a:t>
            </a:r>
            <a:endParaRPr sz="1900">
              <a:solidFill>
                <a:srgbClr val="333333"/>
              </a:solidFill>
              <a:highlight>
                <a:srgbClr val="FFFFFF"/>
              </a:highlight>
            </a:endParaRPr>
          </a:p>
          <a:p>
            <a:pPr indent="0" lvl="0" marL="0" rtl="0" algn="l">
              <a:spcBef>
                <a:spcPts val="1200"/>
              </a:spcBef>
              <a:spcAft>
                <a:spcPts val="0"/>
              </a:spcAft>
              <a:buNone/>
            </a:pPr>
            <a:r>
              <a:rPr b="1" lang="en" sz="1900">
                <a:solidFill>
                  <a:srgbClr val="333333"/>
                </a:solidFill>
                <a:highlight>
                  <a:srgbClr val="FFFFFF"/>
                </a:highlight>
              </a:rPr>
              <a:t>Right Tailed Hypothesis Testing</a:t>
            </a:r>
            <a:endParaRPr b="1" sz="1900">
              <a:solidFill>
                <a:srgbClr val="333333"/>
              </a:solidFill>
              <a:highlight>
                <a:srgbClr val="FFFFFF"/>
              </a:highlight>
            </a:endParaRPr>
          </a:p>
          <a:p>
            <a:pPr indent="0" lvl="0" marL="0" rtl="0" algn="l">
              <a:spcBef>
                <a:spcPts val="1200"/>
              </a:spcBef>
              <a:spcAft>
                <a:spcPts val="0"/>
              </a:spcAft>
              <a:buNone/>
            </a:pPr>
            <a:r>
              <a:rPr lang="en" sz="1200">
                <a:solidFill>
                  <a:srgbClr val="333333"/>
                </a:solidFill>
                <a:highlight>
                  <a:srgbClr val="FFFFFF"/>
                </a:highlight>
              </a:rPr>
              <a:t> </a:t>
            </a:r>
            <a:r>
              <a:rPr lang="en" sz="1400">
                <a:solidFill>
                  <a:srgbClr val="333333"/>
                </a:solidFill>
                <a:highlight>
                  <a:srgbClr val="FFFFFF"/>
                </a:highlight>
              </a:rPr>
              <a:t>This test is used to check whether the population </a:t>
            </a:r>
            <a:endParaRPr sz="1400">
              <a:solidFill>
                <a:srgbClr val="333333"/>
              </a:solidFill>
              <a:highlight>
                <a:srgbClr val="FFFFFF"/>
              </a:highlight>
            </a:endParaRPr>
          </a:p>
          <a:p>
            <a:pPr indent="0" lvl="0" marL="0" rtl="0" algn="l">
              <a:spcBef>
                <a:spcPts val="1200"/>
              </a:spcBef>
              <a:spcAft>
                <a:spcPts val="0"/>
              </a:spcAft>
              <a:buNone/>
            </a:pPr>
            <a:r>
              <a:rPr lang="en" sz="1400">
                <a:solidFill>
                  <a:srgbClr val="333333"/>
                </a:solidFill>
                <a:highlight>
                  <a:srgbClr val="FFFFFF"/>
                </a:highlight>
              </a:rPr>
              <a:t>parameter is greater than some value. </a:t>
            </a:r>
            <a:endParaRPr sz="1400">
              <a:solidFill>
                <a:srgbClr val="333333"/>
              </a:solidFill>
              <a:highlight>
                <a:srgbClr val="FFFFFF"/>
              </a:highlight>
            </a:endParaRPr>
          </a:p>
          <a:p>
            <a:pPr indent="0" lvl="0" marL="0" rtl="0" algn="l">
              <a:spcBef>
                <a:spcPts val="1200"/>
              </a:spcBef>
              <a:spcAft>
                <a:spcPts val="1200"/>
              </a:spcAft>
              <a:buNone/>
            </a:pPr>
            <a:r>
              <a:rPr lang="en" sz="1400">
                <a:solidFill>
                  <a:srgbClr val="333333"/>
                </a:solidFill>
                <a:highlight>
                  <a:srgbClr val="FFFFFF"/>
                </a:highlight>
              </a:rPr>
              <a:t>The null and alternative hypotheses for this test are given as follows:</a:t>
            </a:r>
            <a:endParaRPr b="1" sz="2100">
              <a:solidFill>
                <a:srgbClr val="333333"/>
              </a:solidFill>
              <a:highlight>
                <a:srgbClr val="FFFFFF"/>
              </a:highlight>
            </a:endParaRPr>
          </a:p>
        </p:txBody>
      </p:sp>
      <p:pic>
        <p:nvPicPr>
          <p:cNvPr id="92" name="Google Shape;92;p19"/>
          <p:cNvPicPr preferRelativeResize="0"/>
          <p:nvPr/>
        </p:nvPicPr>
        <p:blipFill rotWithShape="1">
          <a:blip r:embed="rId3">
            <a:alphaModFix/>
          </a:blip>
          <a:srcRect b="0" l="9152" r="8468" t="18513"/>
          <a:stretch/>
        </p:blipFill>
        <p:spPr>
          <a:xfrm>
            <a:off x="3940625" y="2132500"/>
            <a:ext cx="4966600" cy="2817375"/>
          </a:xfrm>
          <a:prstGeom prst="rect">
            <a:avLst/>
          </a:prstGeom>
          <a:noFill/>
          <a:ln>
            <a:noFill/>
          </a:ln>
        </p:spPr>
      </p:pic>
      <p:pic>
        <p:nvPicPr>
          <p:cNvPr id="93" name="Google Shape;93;p19"/>
          <p:cNvPicPr preferRelativeResize="0"/>
          <p:nvPr/>
        </p:nvPicPr>
        <p:blipFill>
          <a:blip r:embed="rId4">
            <a:alphaModFix/>
          </a:blip>
          <a:stretch>
            <a:fillRect/>
          </a:stretch>
        </p:blipFill>
        <p:spPr>
          <a:xfrm>
            <a:off x="83100" y="3491175"/>
            <a:ext cx="4382775" cy="83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228600" y="817288"/>
            <a:ext cx="8520600" cy="3416400"/>
          </a:xfrm>
          <a:prstGeom prst="rect">
            <a:avLst/>
          </a:prstGeom>
        </p:spPr>
        <p:txBody>
          <a:bodyPr anchorCtr="0" anchor="t" bIns="91425" lIns="91425" spcFirstLastPara="1" rIns="91425" wrap="square" tIns="91425">
            <a:normAutofit/>
          </a:bodyPr>
          <a:lstStyle/>
          <a:p>
            <a:pPr indent="0" lvl="0" marL="0" rtl="0" algn="l">
              <a:lnSpc>
                <a:spcPct val="190909"/>
              </a:lnSpc>
              <a:spcBef>
                <a:spcPts val="400"/>
              </a:spcBef>
              <a:spcAft>
                <a:spcPts val="0"/>
              </a:spcAft>
              <a:buClr>
                <a:schemeClr val="dk1"/>
              </a:buClr>
              <a:buSzPts val="1100"/>
              <a:buFont typeface="Arial"/>
              <a:buNone/>
            </a:pPr>
            <a:r>
              <a:rPr b="1" lang="en" sz="1700">
                <a:solidFill>
                  <a:srgbClr val="333333"/>
                </a:solidFill>
                <a:highlight>
                  <a:srgbClr val="FFFFFF"/>
                </a:highlight>
              </a:rPr>
              <a:t>Left Tailed Hypothesis Testing</a:t>
            </a:r>
            <a:endParaRPr b="1" sz="1700">
              <a:solidFill>
                <a:srgbClr val="333333"/>
              </a:solidFill>
              <a:highlight>
                <a:srgbClr val="FFFFFF"/>
              </a:highlight>
            </a:endParaRPr>
          </a:p>
          <a:p>
            <a:pPr indent="0" lvl="0" marL="0" rtl="0" algn="l">
              <a:spcBef>
                <a:spcPts val="400"/>
              </a:spcBef>
              <a:spcAft>
                <a:spcPts val="0"/>
              </a:spcAft>
              <a:buClr>
                <a:schemeClr val="dk1"/>
              </a:buClr>
              <a:buSzPts val="1100"/>
              <a:buFont typeface="Arial"/>
              <a:buNone/>
            </a:pPr>
            <a:r>
              <a:t/>
            </a:r>
            <a:endParaRPr b="1" sz="1300">
              <a:solidFill>
                <a:schemeClr val="dk1"/>
              </a:solidFill>
            </a:endParaRPr>
          </a:p>
          <a:p>
            <a:pPr indent="0" lvl="0" marL="0" rtl="0" algn="l">
              <a:spcBef>
                <a:spcPts val="0"/>
              </a:spcBef>
              <a:spcAft>
                <a:spcPts val="0"/>
              </a:spcAft>
              <a:buNone/>
            </a:pPr>
            <a:r>
              <a:rPr lang="en" sz="1400">
                <a:solidFill>
                  <a:srgbClr val="333333"/>
                </a:solidFill>
                <a:highlight>
                  <a:srgbClr val="FFFFFF"/>
                </a:highlight>
              </a:rPr>
              <a:t> It is used to check whether the population parameter is less </a:t>
            </a:r>
            <a:endParaRPr sz="1400">
              <a:solidFill>
                <a:srgbClr val="333333"/>
              </a:solidFill>
              <a:highlight>
                <a:srgbClr val="FFFFFF"/>
              </a:highlight>
            </a:endParaRPr>
          </a:p>
          <a:p>
            <a:pPr indent="0" lvl="0" marL="0" rtl="0" algn="l">
              <a:spcBef>
                <a:spcPts val="1200"/>
              </a:spcBef>
              <a:spcAft>
                <a:spcPts val="1200"/>
              </a:spcAft>
              <a:buNone/>
            </a:pPr>
            <a:r>
              <a:rPr lang="en" sz="1400">
                <a:solidFill>
                  <a:srgbClr val="333333"/>
                </a:solidFill>
                <a:highlight>
                  <a:srgbClr val="FFFFFF"/>
                </a:highlight>
              </a:rPr>
              <a:t>than some value. The hypotheses for this hypothesis testing can be written as follows:</a:t>
            </a:r>
            <a:endParaRPr sz="2000"/>
          </a:p>
        </p:txBody>
      </p:sp>
      <p:sp>
        <p:nvSpPr>
          <p:cNvPr id="99" name="Google Shape;99;p20"/>
          <p:cNvSpPr txBox="1"/>
          <p:nvPr>
            <p:ph type="title"/>
          </p:nvPr>
        </p:nvSpPr>
        <p:spPr>
          <a:xfrm>
            <a:off x="311700" y="99375"/>
            <a:ext cx="8520600" cy="5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20">
                <a:highlight>
                  <a:srgbClr val="FFFFFF"/>
                </a:highlight>
              </a:rPr>
              <a:t>One Tailed Hypothesis Testing</a:t>
            </a:r>
            <a:endParaRPr b="1" sz="2320">
              <a:highlight>
                <a:srgbClr val="FFFFFF"/>
              </a:highlight>
            </a:endParaRPr>
          </a:p>
          <a:p>
            <a:pPr indent="0" lvl="0" marL="0" rtl="0" algn="l">
              <a:spcBef>
                <a:spcPts val="1500"/>
              </a:spcBef>
              <a:spcAft>
                <a:spcPts val="0"/>
              </a:spcAft>
              <a:buSzPts val="990"/>
              <a:buNone/>
            </a:pPr>
            <a:r>
              <a:t/>
            </a:r>
            <a:endParaRPr sz="3220"/>
          </a:p>
        </p:txBody>
      </p:sp>
      <p:pic>
        <p:nvPicPr>
          <p:cNvPr id="100" name="Google Shape;100;p20"/>
          <p:cNvPicPr preferRelativeResize="0"/>
          <p:nvPr/>
        </p:nvPicPr>
        <p:blipFill>
          <a:blip r:embed="rId3">
            <a:alphaModFix/>
          </a:blip>
          <a:stretch>
            <a:fillRect/>
          </a:stretch>
        </p:blipFill>
        <p:spPr>
          <a:xfrm>
            <a:off x="307500" y="2571750"/>
            <a:ext cx="3895850" cy="625925"/>
          </a:xfrm>
          <a:prstGeom prst="rect">
            <a:avLst/>
          </a:prstGeom>
          <a:noFill/>
          <a:ln>
            <a:noFill/>
          </a:ln>
        </p:spPr>
      </p:pic>
      <p:pic>
        <p:nvPicPr>
          <p:cNvPr id="101" name="Google Shape;101;p20"/>
          <p:cNvPicPr preferRelativeResize="0"/>
          <p:nvPr/>
        </p:nvPicPr>
        <p:blipFill>
          <a:blip r:embed="rId4">
            <a:alphaModFix/>
          </a:blip>
          <a:stretch>
            <a:fillRect/>
          </a:stretch>
        </p:blipFill>
        <p:spPr>
          <a:xfrm>
            <a:off x="4674751" y="2684700"/>
            <a:ext cx="4074450" cy="20856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17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2020">
                <a:highlight>
                  <a:srgbClr val="FFFFFF"/>
                </a:highlight>
              </a:rPr>
              <a:t>Two Tailed Hypothesis Testing</a:t>
            </a:r>
            <a:endParaRPr b="1" sz="2020">
              <a:highlight>
                <a:srgbClr val="FFFFFF"/>
              </a:highlight>
            </a:endParaRPr>
          </a:p>
          <a:p>
            <a:pPr indent="0" lvl="0" marL="0" rtl="0" algn="l">
              <a:lnSpc>
                <a:spcPct val="150000"/>
              </a:lnSpc>
              <a:spcBef>
                <a:spcPts val="1500"/>
              </a:spcBef>
              <a:spcAft>
                <a:spcPts val="2300"/>
              </a:spcAft>
              <a:buSzPts val="990"/>
              <a:buNone/>
            </a:pPr>
            <a:r>
              <a:t/>
            </a:r>
            <a:endParaRPr b="1" sz="2520">
              <a:solidFill>
                <a:srgbClr val="51565E"/>
              </a:solidFill>
              <a:highlight>
                <a:srgbClr val="FFFFFF"/>
              </a:highlight>
              <a:latin typeface="Roboto"/>
              <a:ea typeface="Roboto"/>
              <a:cs typeface="Roboto"/>
              <a:sym typeface="Roboto"/>
            </a:endParaRPr>
          </a:p>
        </p:txBody>
      </p:sp>
      <p:sp>
        <p:nvSpPr>
          <p:cNvPr id="107" name="Google Shape;107;p21"/>
          <p:cNvSpPr txBox="1"/>
          <p:nvPr>
            <p:ph idx="1" type="body"/>
          </p:nvPr>
        </p:nvSpPr>
        <p:spPr>
          <a:xfrm>
            <a:off x="202825" y="590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rgbClr val="333333"/>
                </a:solidFill>
                <a:highlight>
                  <a:srgbClr val="FFFFFF"/>
                </a:highlight>
              </a:rPr>
              <a:t>The two-tailed test is used when it needs to be determined if the population parameter is assumed to be different than some value. The hypotheses can be set up as follows:</a:t>
            </a:r>
            <a:endParaRPr sz="2200"/>
          </a:p>
        </p:txBody>
      </p:sp>
      <p:pic>
        <p:nvPicPr>
          <p:cNvPr id="108" name="Google Shape;108;p21"/>
          <p:cNvPicPr preferRelativeResize="0"/>
          <p:nvPr/>
        </p:nvPicPr>
        <p:blipFill>
          <a:blip r:embed="rId3">
            <a:alphaModFix/>
          </a:blip>
          <a:stretch>
            <a:fillRect/>
          </a:stretch>
        </p:blipFill>
        <p:spPr>
          <a:xfrm>
            <a:off x="2508498" y="2043123"/>
            <a:ext cx="6513050" cy="2861175"/>
          </a:xfrm>
          <a:prstGeom prst="rect">
            <a:avLst/>
          </a:prstGeom>
          <a:noFill/>
          <a:ln>
            <a:noFill/>
          </a:ln>
        </p:spPr>
      </p:pic>
      <p:pic>
        <p:nvPicPr>
          <p:cNvPr id="109" name="Google Shape;109;p21"/>
          <p:cNvPicPr preferRelativeResize="0"/>
          <p:nvPr/>
        </p:nvPicPr>
        <p:blipFill>
          <a:blip r:embed="rId4">
            <a:alphaModFix/>
          </a:blip>
          <a:stretch>
            <a:fillRect/>
          </a:stretch>
        </p:blipFill>
        <p:spPr>
          <a:xfrm>
            <a:off x="202813" y="1603613"/>
            <a:ext cx="3286125" cy="65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202850" y="1456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0"/>
              </a:spcBef>
              <a:spcAft>
                <a:spcPts val="0"/>
              </a:spcAft>
              <a:buClr>
                <a:schemeClr val="dk1"/>
              </a:buClr>
              <a:buSzPct val="47826"/>
              <a:buFont typeface="Arial"/>
              <a:buNone/>
            </a:pPr>
            <a:r>
              <a:rPr b="1" lang="en" sz="2300">
                <a:solidFill>
                  <a:srgbClr val="1B2B68"/>
                </a:solidFill>
                <a:highlight>
                  <a:srgbClr val="FFFFFF"/>
                </a:highlight>
              </a:rPr>
              <a:t>Type I &amp; Type II Errors</a:t>
            </a:r>
            <a:endParaRPr b="1" sz="2300">
              <a:solidFill>
                <a:srgbClr val="1B2B68"/>
              </a:solidFill>
              <a:highlight>
                <a:srgbClr val="FFFFFF"/>
              </a:highlight>
            </a:endParaRPr>
          </a:p>
          <a:p>
            <a:pPr indent="0" lvl="0" marL="0" rtl="0" algn="l">
              <a:spcBef>
                <a:spcPts val="1200"/>
              </a:spcBef>
              <a:spcAft>
                <a:spcPts val="0"/>
              </a:spcAft>
              <a:buNone/>
            </a:pPr>
            <a:r>
              <a:t/>
            </a:r>
            <a:endParaRPr/>
          </a:p>
        </p:txBody>
      </p:sp>
      <p:sp>
        <p:nvSpPr>
          <p:cNvPr id="115" name="Google Shape;115;p22"/>
          <p:cNvSpPr txBox="1"/>
          <p:nvPr>
            <p:ph idx="1" type="body"/>
          </p:nvPr>
        </p:nvSpPr>
        <p:spPr>
          <a:xfrm>
            <a:off x="202850" y="718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0D405F"/>
                </a:solidFill>
                <a:highlight>
                  <a:srgbClr val="F9F9FB"/>
                </a:highlight>
              </a:rPr>
              <a:t>You decide to get tested for COVID-19 based on mild symptoms. There are two errors that could potentially occur:</a:t>
            </a:r>
            <a:endParaRPr>
              <a:solidFill>
                <a:srgbClr val="0D405F"/>
              </a:solidFill>
              <a:highlight>
                <a:srgbClr val="F9F9FB"/>
              </a:highlight>
            </a:endParaRPr>
          </a:p>
          <a:p>
            <a:pPr indent="-342900" lvl="0" marL="457200" rtl="0" algn="l">
              <a:lnSpc>
                <a:spcPct val="180000"/>
              </a:lnSpc>
              <a:spcBef>
                <a:spcPts val="1200"/>
              </a:spcBef>
              <a:spcAft>
                <a:spcPts val="0"/>
              </a:spcAft>
              <a:buClr>
                <a:srgbClr val="0D405F"/>
              </a:buClr>
              <a:buSzPts val="1800"/>
              <a:buChar char="●"/>
            </a:pPr>
            <a:r>
              <a:rPr lang="en">
                <a:solidFill>
                  <a:srgbClr val="0D405F"/>
                </a:solidFill>
              </a:rPr>
              <a:t>Type I error (false positive): the test result says you have coronavirus, but you actually don’t.</a:t>
            </a:r>
            <a:endParaRPr>
              <a:solidFill>
                <a:srgbClr val="0D405F"/>
              </a:solidFill>
            </a:endParaRPr>
          </a:p>
          <a:p>
            <a:pPr indent="-342900" lvl="0" marL="457200" rtl="0" algn="l">
              <a:lnSpc>
                <a:spcPct val="180000"/>
              </a:lnSpc>
              <a:spcBef>
                <a:spcPts val="0"/>
              </a:spcBef>
              <a:spcAft>
                <a:spcPts val="0"/>
              </a:spcAft>
              <a:buClr>
                <a:srgbClr val="0D405F"/>
              </a:buClr>
              <a:buSzPts val="1800"/>
              <a:buChar char="●"/>
            </a:pPr>
            <a:r>
              <a:rPr lang="en">
                <a:solidFill>
                  <a:srgbClr val="0D405F"/>
                </a:solidFill>
              </a:rPr>
              <a:t>Type II error (false negative): the test result says you don’t have coronavirus, but you actually do.</a:t>
            </a:r>
            <a:endParaRPr>
              <a:solidFill>
                <a:srgbClr val="0D405F"/>
              </a:solidFill>
            </a:endParaRPr>
          </a:p>
          <a:p>
            <a:pPr indent="0" lvl="0" marL="0" rtl="0" algn="l">
              <a:spcBef>
                <a:spcPts val="0"/>
              </a:spcBef>
              <a:spcAft>
                <a:spcPts val="1200"/>
              </a:spcAft>
              <a:buNone/>
            </a:pPr>
            <a:r>
              <a:t/>
            </a:r>
            <a:endParaRPr sz="2400"/>
          </a:p>
        </p:txBody>
      </p:sp>
      <p:sp>
        <p:nvSpPr>
          <p:cNvPr id="116" name="Google Shape;116;p22"/>
          <p:cNvSpPr txBox="1"/>
          <p:nvPr/>
        </p:nvSpPr>
        <p:spPr>
          <a:xfrm>
            <a:off x="302075" y="3469825"/>
            <a:ext cx="8520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0D405F"/>
                </a:solidFill>
                <a:highlight>
                  <a:srgbClr val="FFFFFF"/>
                </a:highlight>
              </a:rPr>
              <a:t>The probability of making a Type I error is the significance level, or alpha (α), while the probability of making a Type II error is beta (β). </a:t>
            </a:r>
            <a:endParaRPr sz="2000">
              <a:solidFill>
                <a:srgbClr val="0D405F"/>
              </a:solidFill>
              <a:highlight>
                <a:srgbClr val="FFFFFF"/>
              </a:highlight>
            </a:endParaRPr>
          </a:p>
          <a:p>
            <a:pPr indent="0" lvl="0" marL="0" rtl="0" algn="l">
              <a:spcBef>
                <a:spcPts val="0"/>
              </a:spcBef>
              <a:spcAft>
                <a:spcPts val="0"/>
              </a:spcAft>
              <a:buNone/>
            </a:pPr>
            <a:r>
              <a:rPr lang="en" sz="2000">
                <a:solidFill>
                  <a:srgbClr val="0D405F"/>
                </a:solidFill>
                <a:highlight>
                  <a:srgbClr val="FFFFFF"/>
                </a:highlight>
              </a:rPr>
              <a:t>These risks can be minimized through careful planning in your study design.</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23"/>
          <p:cNvPicPr preferRelativeResize="0"/>
          <p:nvPr/>
        </p:nvPicPr>
        <p:blipFill>
          <a:blip r:embed="rId3">
            <a:alphaModFix/>
          </a:blip>
          <a:stretch>
            <a:fillRect/>
          </a:stretch>
        </p:blipFill>
        <p:spPr>
          <a:xfrm>
            <a:off x="2725" y="1076774"/>
            <a:ext cx="5238751" cy="3868075"/>
          </a:xfrm>
          <a:prstGeom prst="rect">
            <a:avLst/>
          </a:prstGeom>
          <a:noFill/>
          <a:ln>
            <a:noFill/>
          </a:ln>
        </p:spPr>
      </p:pic>
      <p:sp>
        <p:nvSpPr>
          <p:cNvPr id="123" name="Google Shape;123;p23"/>
          <p:cNvSpPr txBox="1"/>
          <p:nvPr>
            <p:ph type="title"/>
          </p:nvPr>
        </p:nvSpPr>
        <p:spPr>
          <a:xfrm>
            <a:off x="202850" y="2980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0"/>
              </a:spcBef>
              <a:spcAft>
                <a:spcPts val="0"/>
              </a:spcAft>
              <a:buNone/>
            </a:pPr>
            <a:r>
              <a:rPr b="1" lang="en" sz="2300">
                <a:solidFill>
                  <a:srgbClr val="1B2B68"/>
                </a:solidFill>
                <a:highlight>
                  <a:srgbClr val="FFFFFF"/>
                </a:highlight>
              </a:rPr>
              <a:t>Type I &amp; Type II Errors</a:t>
            </a:r>
            <a:endParaRPr b="1" sz="2300">
              <a:solidFill>
                <a:srgbClr val="1B2B68"/>
              </a:solidFill>
              <a:highlight>
                <a:srgbClr val="FFFFFF"/>
              </a:highlight>
            </a:endParaRPr>
          </a:p>
          <a:p>
            <a:pPr indent="0" lvl="0" marL="0" rtl="0" algn="l">
              <a:spcBef>
                <a:spcPts val="1200"/>
              </a:spcBef>
              <a:spcAft>
                <a:spcPts val="0"/>
              </a:spcAft>
              <a:buNone/>
            </a:pPr>
            <a:r>
              <a:t/>
            </a:r>
            <a:endParaRPr/>
          </a:p>
        </p:txBody>
      </p:sp>
      <p:pic>
        <p:nvPicPr>
          <p:cNvPr id="124" name="Google Shape;124;p23"/>
          <p:cNvPicPr preferRelativeResize="0"/>
          <p:nvPr/>
        </p:nvPicPr>
        <p:blipFill rotWithShape="1">
          <a:blip r:embed="rId4">
            <a:alphaModFix/>
          </a:blip>
          <a:srcRect b="11174" l="5598" r="0" t="0"/>
          <a:stretch/>
        </p:blipFill>
        <p:spPr>
          <a:xfrm>
            <a:off x="5140075" y="1735563"/>
            <a:ext cx="4003924" cy="22502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Student's</a:t>
            </a:r>
            <a:r>
              <a:rPr b="1" lang="en"/>
              <a:t> ‘t’ distribution</a:t>
            </a:r>
            <a:endParaRPr b="1"/>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a:t>
            </a:r>
            <a:r>
              <a:rPr i="1" lang="en">
                <a:solidFill>
                  <a:schemeClr val="dk1"/>
                </a:solidFill>
              </a:rPr>
              <a:t> t</a:t>
            </a:r>
            <a:r>
              <a:rPr lang="en">
                <a:solidFill>
                  <a:schemeClr val="dk1"/>
                </a:solidFill>
              </a:rPr>
              <a:t>-distribution, also known as Student’s </a:t>
            </a:r>
            <a:r>
              <a:rPr i="1" lang="en">
                <a:solidFill>
                  <a:schemeClr val="dk1"/>
                </a:solidFill>
              </a:rPr>
              <a:t>t</a:t>
            </a:r>
            <a:r>
              <a:rPr lang="en">
                <a:solidFill>
                  <a:schemeClr val="dk1"/>
                </a:solidFill>
              </a:rPr>
              <a:t>-distribution, is a way of describing data that follow a bell curve when plotted on a graph, with the </a:t>
            </a:r>
            <a:r>
              <a:rPr b="1" lang="en">
                <a:solidFill>
                  <a:schemeClr val="dk1"/>
                </a:solidFill>
              </a:rPr>
              <a:t>greatest </a:t>
            </a:r>
            <a:r>
              <a:rPr lang="en">
                <a:solidFill>
                  <a:schemeClr val="dk1"/>
                </a:solidFill>
              </a:rPr>
              <a:t>number of observations close to the </a:t>
            </a:r>
            <a:r>
              <a:rPr b="1" lang="en">
                <a:solidFill>
                  <a:schemeClr val="dk1"/>
                </a:solidFill>
              </a:rPr>
              <a:t>mean </a:t>
            </a:r>
            <a:r>
              <a:rPr lang="en">
                <a:solidFill>
                  <a:schemeClr val="dk1"/>
                </a:solidFill>
              </a:rPr>
              <a:t>and </a:t>
            </a:r>
            <a:r>
              <a:rPr b="1" lang="en">
                <a:solidFill>
                  <a:schemeClr val="dk1"/>
                </a:solidFill>
              </a:rPr>
              <a:t>fewer </a:t>
            </a:r>
            <a:r>
              <a:rPr lang="en">
                <a:solidFill>
                  <a:schemeClr val="dk1"/>
                </a:solidFill>
              </a:rPr>
              <a:t>observations in the </a:t>
            </a:r>
            <a:r>
              <a:rPr b="1" lang="en">
                <a:solidFill>
                  <a:schemeClr val="dk1"/>
                </a:solidFill>
              </a:rPr>
              <a:t>tails</a:t>
            </a:r>
            <a:r>
              <a:rPr lang="en">
                <a:solidFill>
                  <a:schemeClr val="dk1"/>
                </a:solidFill>
              </a:rPr>
              <a:t>.</a:t>
            </a:r>
            <a:endParaRPr>
              <a:solidFill>
                <a:schemeClr val="dk1"/>
              </a:solidFill>
            </a:endParaRPr>
          </a:p>
          <a:p>
            <a:pPr indent="0" lvl="0" marL="0" rtl="0" algn="l">
              <a:spcBef>
                <a:spcPts val="1200"/>
              </a:spcBef>
              <a:spcAft>
                <a:spcPts val="0"/>
              </a:spcAft>
              <a:buNone/>
            </a:pPr>
            <a:r>
              <a:rPr lang="en">
                <a:solidFill>
                  <a:schemeClr val="dk1"/>
                </a:solidFill>
              </a:rPr>
              <a:t>It is used for estimating population parameters for </a:t>
            </a:r>
            <a:r>
              <a:rPr b="1" lang="en">
                <a:solidFill>
                  <a:schemeClr val="dk1"/>
                </a:solidFill>
              </a:rPr>
              <a:t>small sample sizes</a:t>
            </a:r>
            <a:r>
              <a:rPr lang="en">
                <a:solidFill>
                  <a:schemeClr val="dk1"/>
                </a:solidFill>
              </a:rPr>
              <a:t> or </a:t>
            </a:r>
            <a:r>
              <a:rPr b="1" lang="en">
                <a:solidFill>
                  <a:schemeClr val="dk1"/>
                </a:solidFill>
              </a:rPr>
              <a:t>unknown variances</a:t>
            </a:r>
            <a:r>
              <a:rPr lang="en">
                <a:solidFill>
                  <a:schemeClr val="dk1"/>
                </a:solidFill>
              </a:rPr>
              <a:t>.</a:t>
            </a:r>
            <a:endParaRPr>
              <a:solidFill>
                <a:schemeClr val="dk1"/>
              </a:solidFill>
            </a:endParaRPr>
          </a:p>
          <a:p>
            <a:pPr indent="0" lvl="0" marL="0" rtl="0" algn="l">
              <a:spcBef>
                <a:spcPts val="1200"/>
              </a:spcBef>
              <a:spcAft>
                <a:spcPts val="1200"/>
              </a:spcAft>
              <a:buNone/>
            </a:pPr>
            <a:r>
              <a:rPr lang="en">
                <a:solidFill>
                  <a:schemeClr val="dk1"/>
                </a:solidFill>
              </a:rPr>
              <a:t>The variance in a </a:t>
            </a:r>
            <a:r>
              <a:rPr i="1" lang="en">
                <a:solidFill>
                  <a:schemeClr val="dk1"/>
                </a:solidFill>
              </a:rPr>
              <a:t>t</a:t>
            </a:r>
            <a:r>
              <a:rPr lang="en">
                <a:solidFill>
                  <a:schemeClr val="dk1"/>
                </a:solidFill>
              </a:rPr>
              <a:t>-distribution is estimated based on the degrees of freedom of the data set (total number of observations minus 1).</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idx="1" type="body"/>
          </p:nvPr>
        </p:nvSpPr>
        <p:spPr>
          <a:xfrm>
            <a:off x="311700" y="2083350"/>
            <a:ext cx="4935900" cy="27867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en" sz="1500">
                <a:solidFill>
                  <a:schemeClr val="dk1"/>
                </a:solidFill>
              </a:rPr>
              <a:t>Above 30 degrees of freedom, the</a:t>
            </a:r>
            <a:r>
              <a:rPr i="1" lang="en" sz="1500">
                <a:solidFill>
                  <a:schemeClr val="dk1"/>
                </a:solidFill>
              </a:rPr>
              <a:t> t</a:t>
            </a:r>
            <a:r>
              <a:rPr lang="en" sz="1500">
                <a:solidFill>
                  <a:schemeClr val="dk1"/>
                </a:solidFill>
              </a:rPr>
              <a:t>-distribution roughly matches the </a:t>
            </a:r>
            <a:r>
              <a:rPr i="1" lang="en" sz="1500">
                <a:solidFill>
                  <a:schemeClr val="dk1"/>
                </a:solidFill>
              </a:rPr>
              <a:t>z</a:t>
            </a:r>
            <a:r>
              <a:rPr lang="en" sz="1500">
                <a:solidFill>
                  <a:schemeClr val="dk1"/>
                </a:solidFill>
              </a:rPr>
              <a:t>-distribution. Therefore, the </a:t>
            </a:r>
            <a:r>
              <a:rPr i="1" lang="en" sz="1500">
                <a:solidFill>
                  <a:schemeClr val="dk1"/>
                </a:solidFill>
              </a:rPr>
              <a:t>z</a:t>
            </a:r>
            <a:r>
              <a:rPr lang="en" sz="1500">
                <a:solidFill>
                  <a:schemeClr val="dk1"/>
                </a:solidFill>
              </a:rPr>
              <a:t>-distribution can be used in place of the</a:t>
            </a:r>
            <a:r>
              <a:rPr i="1" lang="en" sz="1500">
                <a:solidFill>
                  <a:schemeClr val="dk1"/>
                </a:solidFill>
              </a:rPr>
              <a:t> t</a:t>
            </a:r>
            <a:r>
              <a:rPr lang="en" sz="1500">
                <a:solidFill>
                  <a:schemeClr val="dk1"/>
                </a:solidFill>
              </a:rPr>
              <a:t>-distribution with large sample sizes.</a:t>
            </a:r>
            <a:endParaRPr sz="1500">
              <a:solidFill>
                <a:schemeClr val="dk1"/>
              </a:solidFill>
            </a:endParaRPr>
          </a:p>
          <a:p>
            <a:pPr indent="0" lvl="0" marL="0" rtl="0" algn="l">
              <a:spcBef>
                <a:spcPts val="1400"/>
              </a:spcBef>
              <a:spcAft>
                <a:spcPts val="1400"/>
              </a:spcAft>
              <a:buNone/>
            </a:pPr>
            <a:r>
              <a:rPr lang="en" sz="1500">
                <a:solidFill>
                  <a:schemeClr val="dk1"/>
                </a:solidFill>
              </a:rPr>
              <a:t>The </a:t>
            </a:r>
            <a:r>
              <a:rPr i="1" lang="en" sz="1500">
                <a:solidFill>
                  <a:schemeClr val="dk1"/>
                </a:solidFill>
              </a:rPr>
              <a:t>z</a:t>
            </a:r>
            <a:r>
              <a:rPr lang="en" sz="1500">
                <a:solidFill>
                  <a:schemeClr val="dk1"/>
                </a:solidFill>
              </a:rPr>
              <a:t>-distribution is preferable over the </a:t>
            </a:r>
            <a:r>
              <a:rPr i="1" lang="en" sz="1500">
                <a:solidFill>
                  <a:schemeClr val="dk1"/>
                </a:solidFill>
              </a:rPr>
              <a:t>t</a:t>
            </a:r>
            <a:r>
              <a:rPr lang="en" sz="1500">
                <a:solidFill>
                  <a:schemeClr val="dk1"/>
                </a:solidFill>
              </a:rPr>
              <a:t>-distribution when it comes to making statistical estimates because it has a known variance. It can make more precise estimates than the </a:t>
            </a:r>
            <a:r>
              <a:rPr i="1" lang="en" sz="1500">
                <a:solidFill>
                  <a:schemeClr val="dk1"/>
                </a:solidFill>
              </a:rPr>
              <a:t>t</a:t>
            </a:r>
            <a:r>
              <a:rPr lang="en" sz="1500">
                <a:solidFill>
                  <a:schemeClr val="dk1"/>
                </a:solidFill>
              </a:rPr>
              <a:t>-distribution, whose variance is approximated using the degrees of freedom of the data.</a:t>
            </a:r>
            <a:endParaRPr sz="1500">
              <a:solidFill>
                <a:schemeClr val="dk1"/>
              </a:solidFill>
            </a:endParaRPr>
          </a:p>
        </p:txBody>
      </p:sp>
      <p:pic>
        <p:nvPicPr>
          <p:cNvPr id="136" name="Google Shape;136;p25"/>
          <p:cNvPicPr preferRelativeResize="0"/>
          <p:nvPr/>
        </p:nvPicPr>
        <p:blipFill rotWithShape="1">
          <a:blip r:embed="rId3">
            <a:alphaModFix/>
          </a:blip>
          <a:srcRect b="12395" l="0" r="0" t="0"/>
          <a:stretch/>
        </p:blipFill>
        <p:spPr>
          <a:xfrm>
            <a:off x="5196100" y="2228525"/>
            <a:ext cx="3867276" cy="2359274"/>
          </a:xfrm>
          <a:prstGeom prst="rect">
            <a:avLst/>
          </a:prstGeom>
          <a:noFill/>
          <a:ln>
            <a:noFill/>
          </a:ln>
        </p:spPr>
      </p:pic>
      <p:sp>
        <p:nvSpPr>
          <p:cNvPr id="137" name="Google Shape;137;p25"/>
          <p:cNvSpPr txBox="1"/>
          <p:nvPr/>
        </p:nvSpPr>
        <p:spPr>
          <a:xfrm>
            <a:off x="261150" y="1017725"/>
            <a:ext cx="86217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500">
                <a:solidFill>
                  <a:schemeClr val="dk1"/>
                </a:solidFill>
              </a:rPr>
              <a:t>As the </a:t>
            </a:r>
            <a:r>
              <a:rPr b="1" lang="en" sz="1500">
                <a:solidFill>
                  <a:schemeClr val="dk1"/>
                </a:solidFill>
              </a:rPr>
              <a:t>degrees of freedom</a:t>
            </a:r>
            <a:r>
              <a:rPr lang="en" sz="1500">
                <a:solidFill>
                  <a:schemeClr val="dk1"/>
                </a:solidFill>
              </a:rPr>
              <a:t> (total number of observations minus 1) increases, the </a:t>
            </a:r>
            <a:r>
              <a:rPr i="1" lang="en" sz="1500">
                <a:solidFill>
                  <a:schemeClr val="dk1"/>
                </a:solidFill>
              </a:rPr>
              <a:t>t</a:t>
            </a:r>
            <a:r>
              <a:rPr lang="en" sz="1500">
                <a:solidFill>
                  <a:schemeClr val="dk1"/>
                </a:solidFill>
              </a:rPr>
              <a:t>-distribution will get closer and closer to matching the standard normal distribution, a.k.a. the </a:t>
            </a:r>
            <a:r>
              <a:rPr i="1" lang="en" sz="1500">
                <a:solidFill>
                  <a:schemeClr val="dk1"/>
                </a:solidFill>
              </a:rPr>
              <a:t>z</a:t>
            </a:r>
            <a:r>
              <a:rPr lang="en" sz="1500">
                <a:solidFill>
                  <a:schemeClr val="dk1"/>
                </a:solidFill>
              </a:rPr>
              <a:t>-distribution, until they are almost identical.</a:t>
            </a:r>
            <a:endParaRPr sz="1500">
              <a:solidFill>
                <a:schemeClr val="dk1"/>
              </a:solidFill>
            </a:endParaRPr>
          </a:p>
        </p:txBody>
      </p:sp>
      <p:sp>
        <p:nvSpPr>
          <p:cNvPr id="138" name="Google Shape;138;p2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Student's ‘t’ distribution</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idx="1" type="body"/>
          </p:nvPr>
        </p:nvSpPr>
        <p:spPr>
          <a:xfrm>
            <a:off x="311700" y="634950"/>
            <a:ext cx="8690100" cy="4206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650">
                <a:solidFill>
                  <a:schemeClr val="dk1"/>
                </a:solidFill>
              </a:rPr>
              <a:t>Let x have a normal distribution with mean ‘μ’ for the sample of size ‘n’ with sample mean x̄ and the sample standard deviation ‘s’, then the t variable has student’s t-distribution with a degree of freedom, d.f = n – 1. The formula for t-distribution is given by;</a:t>
            </a:r>
            <a:endParaRPr sz="1650">
              <a:solidFill>
                <a:schemeClr val="dk1"/>
              </a:solidFill>
            </a:endParaRPr>
          </a:p>
          <a:p>
            <a:pPr indent="0" lvl="0" marL="457200" rtl="0" algn="l">
              <a:lnSpc>
                <a:spcPct val="95000"/>
              </a:lnSpc>
              <a:spcBef>
                <a:spcPts val="1400"/>
              </a:spcBef>
              <a:spcAft>
                <a:spcPts val="0"/>
              </a:spcAft>
              <a:buSzPts val="935"/>
              <a:buNone/>
            </a:pPr>
            <a:r>
              <a:t/>
            </a:r>
            <a:endParaRPr sz="1650">
              <a:solidFill>
                <a:schemeClr val="dk1"/>
              </a:solidFill>
            </a:endParaRPr>
          </a:p>
          <a:p>
            <a:pPr indent="0" lvl="0" marL="457200" rtl="0" algn="l">
              <a:lnSpc>
                <a:spcPct val="95000"/>
              </a:lnSpc>
              <a:spcBef>
                <a:spcPts val="1400"/>
              </a:spcBef>
              <a:spcAft>
                <a:spcPts val="0"/>
              </a:spcAft>
              <a:buSzPts val="935"/>
              <a:buNone/>
            </a:pPr>
            <a:r>
              <a:t/>
            </a:r>
            <a:endParaRPr sz="1650">
              <a:solidFill>
                <a:schemeClr val="dk1"/>
              </a:solidFill>
            </a:endParaRPr>
          </a:p>
          <a:p>
            <a:pPr indent="-333375" lvl="0" marL="457200" rtl="0" algn="l">
              <a:lnSpc>
                <a:spcPct val="95000"/>
              </a:lnSpc>
              <a:spcBef>
                <a:spcPts val="1400"/>
              </a:spcBef>
              <a:spcAft>
                <a:spcPts val="0"/>
              </a:spcAft>
              <a:buClr>
                <a:schemeClr val="dk1"/>
              </a:buClr>
              <a:buSzPts val="1650"/>
              <a:buChar char="●"/>
            </a:pPr>
            <a:r>
              <a:rPr lang="en" sz="1650">
                <a:solidFill>
                  <a:schemeClr val="dk1"/>
                </a:solidFill>
              </a:rPr>
              <a:t>t = t-score,</a:t>
            </a:r>
            <a:endParaRPr sz="1650">
              <a:solidFill>
                <a:schemeClr val="dk1"/>
              </a:solidFill>
            </a:endParaRPr>
          </a:p>
          <a:p>
            <a:pPr indent="-333375" lvl="0" marL="457200" rtl="0" algn="l">
              <a:lnSpc>
                <a:spcPct val="95000"/>
              </a:lnSpc>
              <a:spcBef>
                <a:spcPts val="0"/>
              </a:spcBef>
              <a:spcAft>
                <a:spcPts val="0"/>
              </a:spcAft>
              <a:buClr>
                <a:schemeClr val="dk1"/>
              </a:buClr>
              <a:buSzPts val="1650"/>
              <a:buChar char="●"/>
            </a:pPr>
            <a:r>
              <a:rPr lang="en" sz="1650">
                <a:solidFill>
                  <a:schemeClr val="dk1"/>
                </a:solidFill>
              </a:rPr>
              <a:t>x̄ = sample mean</a:t>
            </a:r>
            <a:endParaRPr sz="1650">
              <a:solidFill>
                <a:schemeClr val="dk1"/>
              </a:solidFill>
            </a:endParaRPr>
          </a:p>
          <a:p>
            <a:pPr indent="-333375" lvl="0" marL="457200" rtl="0" algn="l">
              <a:lnSpc>
                <a:spcPct val="95000"/>
              </a:lnSpc>
              <a:spcBef>
                <a:spcPts val="0"/>
              </a:spcBef>
              <a:spcAft>
                <a:spcPts val="0"/>
              </a:spcAft>
              <a:buClr>
                <a:schemeClr val="dk1"/>
              </a:buClr>
              <a:buSzPts val="1650"/>
              <a:buChar char="●"/>
            </a:pPr>
            <a:r>
              <a:rPr lang="en" sz="1650">
                <a:solidFill>
                  <a:schemeClr val="dk1"/>
                </a:solidFill>
              </a:rPr>
              <a:t>μ = population mean,</a:t>
            </a:r>
            <a:endParaRPr sz="1650">
              <a:solidFill>
                <a:schemeClr val="dk1"/>
              </a:solidFill>
            </a:endParaRPr>
          </a:p>
          <a:p>
            <a:pPr indent="-333375" lvl="0" marL="457200" rtl="0" algn="l">
              <a:lnSpc>
                <a:spcPct val="95000"/>
              </a:lnSpc>
              <a:spcBef>
                <a:spcPts val="0"/>
              </a:spcBef>
              <a:spcAft>
                <a:spcPts val="0"/>
              </a:spcAft>
              <a:buClr>
                <a:schemeClr val="dk1"/>
              </a:buClr>
              <a:buSzPts val="1650"/>
              <a:buChar char="●"/>
            </a:pPr>
            <a:r>
              <a:rPr lang="en" sz="1650">
                <a:solidFill>
                  <a:schemeClr val="dk1"/>
                </a:solidFill>
              </a:rPr>
              <a:t>s = standard deviation of the sample,</a:t>
            </a:r>
            <a:endParaRPr sz="1650">
              <a:solidFill>
                <a:schemeClr val="dk1"/>
              </a:solidFill>
            </a:endParaRPr>
          </a:p>
          <a:p>
            <a:pPr indent="-333375" lvl="0" marL="457200" rtl="0" algn="l">
              <a:lnSpc>
                <a:spcPct val="95000"/>
              </a:lnSpc>
              <a:spcBef>
                <a:spcPts val="0"/>
              </a:spcBef>
              <a:spcAft>
                <a:spcPts val="0"/>
              </a:spcAft>
              <a:buClr>
                <a:schemeClr val="dk1"/>
              </a:buClr>
              <a:buSzPts val="1650"/>
              <a:buChar char="●"/>
            </a:pPr>
            <a:r>
              <a:rPr lang="en" sz="1650">
                <a:solidFill>
                  <a:schemeClr val="dk1"/>
                </a:solidFill>
              </a:rPr>
              <a:t>n = sample size</a:t>
            </a:r>
            <a:endParaRPr sz="1650">
              <a:solidFill>
                <a:schemeClr val="dk1"/>
              </a:solidFill>
            </a:endParaRPr>
          </a:p>
          <a:p>
            <a:pPr indent="0" lvl="0" marL="0" rtl="0" algn="l">
              <a:lnSpc>
                <a:spcPct val="95000"/>
              </a:lnSpc>
              <a:spcBef>
                <a:spcPts val="1400"/>
              </a:spcBef>
              <a:spcAft>
                <a:spcPts val="0"/>
              </a:spcAft>
              <a:buNone/>
            </a:pPr>
            <a:r>
              <a:rPr lang="en" sz="1650">
                <a:solidFill>
                  <a:schemeClr val="dk1"/>
                </a:solidFill>
              </a:rPr>
              <a:t>The T-score, also known as the t-value or t-statistic, is a standardized score that quantifies how many standard deviations a data point or sample mean is from the population mean. It is commonly used in statistical hypothesis testing, particularly in scenarios where the sample size is small or the population standard deviation is unknown.</a:t>
            </a:r>
            <a:endParaRPr sz="1650">
              <a:solidFill>
                <a:schemeClr val="dk1"/>
              </a:solidFill>
            </a:endParaRPr>
          </a:p>
          <a:p>
            <a:pPr indent="0" lvl="0" marL="0" rtl="0" algn="l">
              <a:lnSpc>
                <a:spcPct val="95000"/>
              </a:lnSpc>
              <a:spcBef>
                <a:spcPts val="1400"/>
              </a:spcBef>
              <a:spcAft>
                <a:spcPts val="1400"/>
              </a:spcAft>
              <a:buNone/>
            </a:pPr>
            <a:r>
              <a:t/>
            </a:r>
            <a:endParaRPr sz="1650">
              <a:solidFill>
                <a:schemeClr val="dk1"/>
              </a:solidFill>
            </a:endParaRPr>
          </a:p>
        </p:txBody>
      </p:sp>
      <p:sp>
        <p:nvSpPr>
          <p:cNvPr id="144" name="Google Shape;144;p26"/>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Student's ‘t’ distribution</a:t>
            </a:r>
            <a:endParaRPr b="1"/>
          </a:p>
        </p:txBody>
      </p:sp>
      <p:pic>
        <p:nvPicPr>
          <p:cNvPr id="145" name="Google Shape;145;p26"/>
          <p:cNvPicPr preferRelativeResize="0"/>
          <p:nvPr/>
        </p:nvPicPr>
        <p:blipFill>
          <a:blip r:embed="rId3">
            <a:alphaModFix/>
          </a:blip>
          <a:stretch>
            <a:fillRect/>
          </a:stretch>
        </p:blipFill>
        <p:spPr>
          <a:xfrm>
            <a:off x="2746500" y="1418825"/>
            <a:ext cx="1303325" cy="1025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2230"/>
              <a:t>Properties of the t-Distribution</a:t>
            </a:r>
            <a:endParaRPr b="1" sz="2230"/>
          </a:p>
          <a:p>
            <a:pPr indent="0" lvl="0" marL="0" rtl="0" algn="l">
              <a:spcBef>
                <a:spcPts val="400"/>
              </a:spcBef>
              <a:spcAft>
                <a:spcPts val="0"/>
              </a:spcAft>
              <a:buSzPts val="990"/>
              <a:buNone/>
            </a:pPr>
            <a:r>
              <a:t/>
            </a:r>
            <a:endParaRPr sz="3220"/>
          </a:p>
        </p:txBody>
      </p:sp>
      <p:sp>
        <p:nvSpPr>
          <p:cNvPr id="151" name="Google Shape;151;p27"/>
          <p:cNvSpPr txBox="1"/>
          <p:nvPr>
            <p:ph idx="1" type="body"/>
          </p:nvPr>
        </p:nvSpPr>
        <p:spPr>
          <a:xfrm>
            <a:off x="311700" y="794675"/>
            <a:ext cx="8520600" cy="3416400"/>
          </a:xfrm>
          <a:prstGeom prst="rect">
            <a:avLst/>
          </a:prstGeom>
        </p:spPr>
        <p:txBody>
          <a:bodyPr anchorCtr="0" anchor="t" bIns="91425" lIns="91425" spcFirstLastPara="1" rIns="91425" wrap="square" tIns="91425">
            <a:noAutofit/>
          </a:bodyPr>
          <a:lstStyle/>
          <a:p>
            <a:pPr indent="-323850" lvl="0" marL="457200" rtl="0" algn="l">
              <a:spcBef>
                <a:spcPts val="1400"/>
              </a:spcBef>
              <a:spcAft>
                <a:spcPts val="0"/>
              </a:spcAft>
              <a:buClr>
                <a:schemeClr val="dk1"/>
              </a:buClr>
              <a:buSzPts val="1500"/>
              <a:buChar char="●"/>
            </a:pPr>
            <a:r>
              <a:rPr lang="en" sz="1500">
                <a:solidFill>
                  <a:schemeClr val="dk1"/>
                </a:solidFill>
              </a:rPr>
              <a:t>The variable in t-distribution ranges from -∞ to +∞ (</a:t>
            </a:r>
            <a:r>
              <a:rPr b="1" lang="en" sz="1500">
                <a:solidFill>
                  <a:schemeClr val="dk1"/>
                </a:solidFill>
              </a:rPr>
              <a:t>-∞ &lt; t &lt; +∞</a:t>
            </a:r>
            <a:r>
              <a:rPr lang="en"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 distribution will be symmetric like the normal distribution if the power of t is even in the probability density function(pdf).</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For large values of ν(i.e. increased sample size n); the t-distribution tends to a standard normal distribution. This implies that for different ν values, the shape of t-distribution also differs.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t-distribution is less peaked than the normal distribution at the center and higher peaked in the tails. From the above diagram, one can observe that the red and green curves are less peaked at the center but higher peaked at the tails than the blue curve.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value of y(peak height) attains highest at μ = 0 as one can observe the same in the above diagram.</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mean of the distribution is equal to 0 for ν &gt; 1 where ν = degrees of freedom, otherwise undefined.</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median and mode of the distribution is equal to 0.</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variance is equal to </a:t>
            </a:r>
            <a:r>
              <a:rPr i="1" lang="en" sz="1500">
                <a:solidFill>
                  <a:schemeClr val="dk1"/>
                </a:solidFill>
              </a:rPr>
              <a:t>ν / ν-2</a:t>
            </a:r>
            <a:r>
              <a:rPr lang="en" sz="1500">
                <a:solidFill>
                  <a:schemeClr val="dk1"/>
                </a:solidFill>
              </a:rPr>
              <a:t> for ν &gt; 2 and ∞ for 2 &lt; ν ≤ 4 otherwise undefined.</a:t>
            </a:r>
            <a:endParaRPr sz="1500">
              <a:solidFill>
                <a:schemeClr val="dk1"/>
              </a:solidFill>
            </a:endParaRPr>
          </a:p>
          <a:p>
            <a:pPr indent="0" lvl="0" marL="0" rtl="0" algn="l">
              <a:spcBef>
                <a:spcPts val="1400"/>
              </a:spcBef>
              <a:spcAft>
                <a:spcPts val="1200"/>
              </a:spcAft>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2351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Problem</a:t>
            </a:r>
            <a:endParaRPr b="1"/>
          </a:p>
        </p:txBody>
      </p:sp>
      <p:sp>
        <p:nvSpPr>
          <p:cNvPr id="157" name="Google Shape;157;p28"/>
          <p:cNvSpPr txBox="1"/>
          <p:nvPr>
            <p:ph idx="1" type="body"/>
          </p:nvPr>
        </p:nvSpPr>
        <p:spPr>
          <a:xfrm>
            <a:off x="311700" y="619075"/>
            <a:ext cx="8520600" cy="4706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 sz="1979">
                <a:solidFill>
                  <a:schemeClr val="dk1"/>
                </a:solidFill>
              </a:rPr>
              <a:t>A random sample of size 16 has mean 53, sum of squares of deviation of the observation from their mean is 135. Can this sample be regarded as drawn from a population having mean of 56</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Sol=&gt; H0= there is no difference in </a:t>
            </a:r>
            <a:r>
              <a:rPr lang="en" sz="1979">
                <a:solidFill>
                  <a:schemeClr val="dk1"/>
                </a:solidFill>
              </a:rPr>
              <a:t>mean</a:t>
            </a:r>
            <a:r>
              <a:rPr lang="en" sz="1979">
                <a:solidFill>
                  <a:schemeClr val="dk1"/>
                </a:solidFill>
              </a:rPr>
              <a:t> of sample and mean of population</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t=4,      v=15</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t0.05=2.131</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t&gt;t0.05</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Difference between mean of sample and mean of </a:t>
            </a:r>
            <a:r>
              <a:rPr lang="en" sz="1979">
                <a:solidFill>
                  <a:schemeClr val="dk1"/>
                </a:solidFill>
              </a:rPr>
              <a:t>population</a:t>
            </a:r>
            <a:r>
              <a:rPr lang="en" sz="1979">
                <a:solidFill>
                  <a:schemeClr val="dk1"/>
                </a:solidFill>
              </a:rPr>
              <a:t> is significant, hence H0 is rejected. </a:t>
            </a:r>
            <a:endParaRPr sz="1979">
              <a:solidFill>
                <a:schemeClr val="dk1"/>
              </a:solidFill>
            </a:endParaRPr>
          </a:p>
          <a:p>
            <a:pPr indent="0" lvl="0" marL="0" rtl="0" algn="l">
              <a:lnSpc>
                <a:spcPct val="105000"/>
              </a:lnSpc>
              <a:spcBef>
                <a:spcPts val="1200"/>
              </a:spcBef>
              <a:spcAft>
                <a:spcPts val="0"/>
              </a:spcAft>
              <a:buSzPts val="770"/>
              <a:buNone/>
            </a:pPr>
            <a:r>
              <a:rPr lang="en" sz="1979">
                <a:solidFill>
                  <a:schemeClr val="dk1"/>
                </a:solidFill>
              </a:rPr>
              <a:t>Hence this sample can not be regarded as drawn from the population of mean 56</a:t>
            </a:r>
            <a:endParaRPr sz="1979">
              <a:solidFill>
                <a:schemeClr val="dk1"/>
              </a:solidFill>
            </a:endParaRPr>
          </a:p>
          <a:p>
            <a:pPr indent="0" lvl="0" marL="0" rtl="0" algn="l">
              <a:lnSpc>
                <a:spcPct val="105000"/>
              </a:lnSpc>
              <a:spcBef>
                <a:spcPts val="1200"/>
              </a:spcBef>
              <a:spcAft>
                <a:spcPts val="1200"/>
              </a:spcAft>
              <a:buSzPts val="770"/>
              <a:buNone/>
            </a:pPr>
            <a:r>
              <a:t/>
            </a:r>
            <a:endParaRPr sz="1979">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112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Problem 2</a:t>
            </a:r>
            <a:endParaRPr b="1"/>
          </a:p>
        </p:txBody>
      </p:sp>
      <p:sp>
        <p:nvSpPr>
          <p:cNvPr id="163" name="Google Shape;163;p29"/>
          <p:cNvSpPr txBox="1"/>
          <p:nvPr>
            <p:ph idx="1" type="body"/>
          </p:nvPr>
        </p:nvSpPr>
        <p:spPr>
          <a:xfrm>
            <a:off x="311700" y="6849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solidFill>
                  <a:schemeClr val="dk1"/>
                </a:solidFill>
              </a:rPr>
              <a:t>The mean </a:t>
            </a:r>
            <a:r>
              <a:rPr lang="en" sz="1900">
                <a:solidFill>
                  <a:schemeClr val="dk1"/>
                </a:solidFill>
              </a:rPr>
              <a:t>weekly</a:t>
            </a:r>
            <a:r>
              <a:rPr lang="en" sz="1900">
                <a:solidFill>
                  <a:schemeClr val="dk1"/>
                </a:solidFill>
              </a:rPr>
              <a:t> sale of a powder in a supermarket was 146.3 kg. After a special advertising campaign, mean weekly sales in 22 of its branches  increased to 153.7 kg with a standard deviation of 17.2 kg. Was the advertising campaign successful?</a:t>
            </a:r>
            <a:endParaRPr sz="1900">
              <a:solidFill>
                <a:schemeClr val="dk1"/>
              </a:solidFill>
            </a:endParaRPr>
          </a:p>
          <a:p>
            <a:pPr indent="0" lvl="0" marL="0" rtl="0" algn="l">
              <a:spcBef>
                <a:spcPts val="1200"/>
              </a:spcBef>
              <a:spcAft>
                <a:spcPts val="1200"/>
              </a:spcAft>
              <a:buNone/>
            </a:pPr>
            <a:r>
              <a:rPr lang="en" sz="1900">
                <a:solidFill>
                  <a:schemeClr val="dk1"/>
                </a:solidFill>
              </a:rPr>
              <a:t>Sol=&gt; H0= Advertising campaign was not successful</a:t>
            </a:r>
            <a:endParaRPr sz="19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82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Subtype I(C) : Testing the significance of the difference between means of two samples [Dependent]</a:t>
            </a:r>
            <a:endParaRPr/>
          </a:p>
        </p:txBody>
      </p:sp>
      <p:sp>
        <p:nvSpPr>
          <p:cNvPr id="169" name="Google Shape;169;p30"/>
          <p:cNvSpPr txBox="1"/>
          <p:nvPr>
            <p:ph idx="1" type="body"/>
          </p:nvPr>
        </p:nvSpPr>
        <p:spPr>
          <a:xfrm>
            <a:off x="311700" y="15215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Problem 1: </a:t>
            </a:r>
            <a:endParaRPr>
              <a:solidFill>
                <a:schemeClr val="dk1"/>
              </a:solidFill>
            </a:endParaRPr>
          </a:p>
          <a:p>
            <a:pPr indent="0" lvl="0" marL="0" rtl="0" algn="l">
              <a:spcBef>
                <a:spcPts val="1200"/>
              </a:spcBef>
              <a:spcAft>
                <a:spcPts val="0"/>
              </a:spcAft>
              <a:buNone/>
            </a:pPr>
            <a:r>
              <a:rPr lang="en">
                <a:solidFill>
                  <a:schemeClr val="dk1"/>
                </a:solidFill>
              </a:rPr>
              <a:t>To verify </a:t>
            </a:r>
            <a:r>
              <a:rPr lang="en">
                <a:solidFill>
                  <a:schemeClr val="dk1"/>
                </a:solidFill>
              </a:rPr>
              <a:t>whether</a:t>
            </a:r>
            <a:r>
              <a:rPr lang="en">
                <a:solidFill>
                  <a:schemeClr val="dk1"/>
                </a:solidFill>
              </a:rPr>
              <a:t> a course in mathematics improved the performance or not. Two test were given to 12 participants (one before and the other after the course). Marks of the test before </a:t>
            </a:r>
            <a:r>
              <a:rPr lang="en">
                <a:solidFill>
                  <a:schemeClr val="dk1"/>
                </a:solidFill>
              </a:rPr>
              <a:t>the course</a:t>
            </a:r>
            <a:r>
              <a:rPr lang="en">
                <a:solidFill>
                  <a:schemeClr val="dk1"/>
                </a:solidFill>
              </a:rPr>
              <a:t> were 44, 40, 61, 52, 32, 44, 70, 41, 67, 72, 53, 72. Marks of the test </a:t>
            </a:r>
            <a:r>
              <a:rPr lang="en">
                <a:solidFill>
                  <a:schemeClr val="dk1"/>
                </a:solidFill>
              </a:rPr>
              <a:t>after</a:t>
            </a:r>
            <a:r>
              <a:rPr lang="en">
                <a:solidFill>
                  <a:schemeClr val="dk1"/>
                </a:solidFill>
              </a:rPr>
              <a:t> the </a:t>
            </a:r>
            <a:r>
              <a:rPr lang="en">
                <a:solidFill>
                  <a:schemeClr val="dk1"/>
                </a:solidFill>
              </a:rPr>
              <a:t>course</a:t>
            </a:r>
            <a:r>
              <a:rPr lang="en">
                <a:solidFill>
                  <a:schemeClr val="dk1"/>
                </a:solidFill>
              </a:rPr>
              <a:t> were 53, 38, 69, 57, 46, 39, 73, 48, 73, 74, 60, 70. Determine whether the course was useful or not.</a:t>
            </a:r>
            <a:endParaRPr>
              <a:solidFill>
                <a:schemeClr val="dk1"/>
              </a:solidFill>
            </a:endParaRPr>
          </a:p>
          <a:p>
            <a:pPr indent="0" lvl="0" marL="0" rtl="0" algn="l">
              <a:spcBef>
                <a:spcPts val="1200"/>
              </a:spcBef>
              <a:spcAft>
                <a:spcPts val="1200"/>
              </a:spcAft>
              <a:buNone/>
            </a:pPr>
            <a:r>
              <a:rPr lang="en">
                <a:solidFill>
                  <a:schemeClr val="dk1"/>
                </a:solidFill>
              </a:rPr>
              <a:t>Sol=&gt; H0= The course is not useful</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5" name="Google Shape;17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76" name="Google Shape;176;p31"/>
          <p:cNvGraphicFramePr/>
          <p:nvPr/>
        </p:nvGraphicFramePr>
        <p:xfrm>
          <a:off x="952500" y="2000250"/>
          <a:ext cx="3000000" cy="3000000"/>
        </p:xfrm>
        <a:graphic>
          <a:graphicData uri="http://schemas.openxmlformats.org/drawingml/2006/table">
            <a:tbl>
              <a:tblPr>
                <a:noFill/>
                <a:tableStyleId>{51E3FAD0-BB54-4475-A5D0-18900A5E0FD9}</a:tableStyleId>
              </a:tblPr>
              <a:tblGrid>
                <a:gridCol w="569200"/>
                <a:gridCol w="550525"/>
                <a:gridCol w="1118950"/>
                <a:gridCol w="1316075"/>
              </a:tblGrid>
              <a:tr h="381000">
                <a:tc>
                  <a:txBody>
                    <a:bodyPr/>
                    <a:lstStyle/>
                    <a:p>
                      <a:pPr indent="0" lvl="0" marL="0" rtl="0" algn="l">
                        <a:spcBef>
                          <a:spcPts val="0"/>
                        </a:spcBef>
                        <a:spcAft>
                          <a:spcPts val="0"/>
                        </a:spcAft>
                        <a:buNone/>
                      </a:pPr>
                      <a:r>
                        <a:rPr lang="en" sz="1800"/>
                        <a:t>x1</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x2</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d=x2-x1</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a:t>
                      </a:r>
                      <a:r>
                        <a:rPr lang="en" sz="1800"/>
                        <a:t>d-đ)</a:t>
                      </a:r>
                      <a:r>
                        <a:rPr baseline="30000" lang="en" sz="1800"/>
                        <a:t>2</a:t>
                      </a:r>
                      <a:endParaRPr baseline="30000"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idx="1" type="body"/>
          </p:nvPr>
        </p:nvSpPr>
        <p:spPr>
          <a:xfrm>
            <a:off x="311700" y="5056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Problem 2:</a:t>
            </a:r>
            <a:endParaRPr>
              <a:solidFill>
                <a:schemeClr val="dk1"/>
              </a:solidFill>
            </a:endParaRPr>
          </a:p>
          <a:p>
            <a:pPr indent="0" lvl="0" marL="0" rtl="0" algn="l">
              <a:spcBef>
                <a:spcPts val="1200"/>
              </a:spcBef>
              <a:spcAft>
                <a:spcPts val="0"/>
              </a:spcAft>
              <a:buNone/>
            </a:pPr>
            <a:r>
              <a:rPr lang="en">
                <a:solidFill>
                  <a:schemeClr val="dk1"/>
                </a:solidFill>
              </a:rPr>
              <a:t>A drug is given to 10 patients and increase in their blood pressure is recorded as 3, 6, -2, 4, -3, 4, 6, 0, 0, 2. Is it reasonable to believe that the drug has no effect on  change in blood pressure?</a:t>
            </a:r>
            <a:endParaRPr>
              <a:solidFill>
                <a:schemeClr val="dk1"/>
              </a:solidFill>
            </a:endParaRPr>
          </a:p>
          <a:p>
            <a:pPr indent="0" lvl="0" marL="0" rtl="0" algn="l">
              <a:spcBef>
                <a:spcPts val="1200"/>
              </a:spcBef>
              <a:spcAft>
                <a:spcPts val="0"/>
              </a:spcAft>
              <a:buNone/>
            </a:pPr>
            <a:r>
              <a:rPr lang="en">
                <a:solidFill>
                  <a:schemeClr val="dk1"/>
                </a:solidFill>
              </a:rPr>
              <a:t>Sol =&gt; </a:t>
            </a:r>
            <a:endParaRPr>
              <a:solidFill>
                <a:schemeClr val="dk1"/>
              </a:solidFill>
            </a:endParaRPr>
          </a:p>
          <a:p>
            <a:pPr indent="0" lvl="0" marL="0" rtl="0" algn="l">
              <a:spcBef>
                <a:spcPts val="1200"/>
              </a:spcBef>
              <a:spcAft>
                <a:spcPts val="1200"/>
              </a:spcAft>
              <a:buNone/>
            </a:pPr>
            <a:r>
              <a:rPr lang="en">
                <a:solidFill>
                  <a:schemeClr val="dk1"/>
                </a:solidFill>
              </a:rPr>
              <a:t>H0: Drug has no effect on change in </a:t>
            </a:r>
            <a:r>
              <a:rPr lang="en">
                <a:solidFill>
                  <a:schemeClr val="dk1"/>
                </a:solidFill>
              </a:rPr>
              <a:t>blood</a:t>
            </a:r>
            <a:r>
              <a:rPr lang="en">
                <a:solidFill>
                  <a:schemeClr val="dk1"/>
                </a:solidFill>
              </a:rPr>
              <a:t> </a:t>
            </a:r>
            <a:r>
              <a:rPr lang="en">
                <a:solidFill>
                  <a:schemeClr val="dk1"/>
                </a:solidFill>
              </a:rPr>
              <a:t>pressure.</a:t>
            </a:r>
            <a:r>
              <a:rPr lang="en">
                <a:solidFill>
                  <a:schemeClr val="dk1"/>
                </a:solidFill>
              </a:rPr>
              <a:t> </a:t>
            </a:r>
            <a:endParaRPr>
              <a:solidFill>
                <a:schemeClr val="dk1"/>
              </a:solidFill>
            </a:endParaRPr>
          </a:p>
        </p:txBody>
      </p:sp>
      <p:graphicFrame>
        <p:nvGraphicFramePr>
          <p:cNvPr id="182" name="Google Shape;182;p32"/>
          <p:cNvGraphicFramePr/>
          <p:nvPr/>
        </p:nvGraphicFramePr>
        <p:xfrm>
          <a:off x="583475" y="3464900"/>
          <a:ext cx="3000000" cy="3000000"/>
        </p:xfrm>
        <a:graphic>
          <a:graphicData uri="http://schemas.openxmlformats.org/drawingml/2006/table">
            <a:tbl>
              <a:tblPr>
                <a:noFill/>
                <a:tableStyleId>{51E3FAD0-BB54-4475-A5D0-18900A5E0FD9}</a:tableStyleId>
              </a:tblPr>
              <a:tblGrid>
                <a:gridCol w="569200"/>
                <a:gridCol w="1316075"/>
              </a:tblGrid>
              <a:tr h="381000">
                <a:tc>
                  <a:txBody>
                    <a:bodyPr/>
                    <a:lstStyle/>
                    <a:p>
                      <a:pPr indent="0" lvl="0" marL="0" rtl="0" algn="l">
                        <a:spcBef>
                          <a:spcPts val="0"/>
                        </a:spcBef>
                        <a:spcAft>
                          <a:spcPts val="0"/>
                        </a:spcAft>
                        <a:buNone/>
                      </a:pPr>
                      <a:r>
                        <a:rPr lang="en" sz="1800"/>
                        <a:t>d</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(d-đ)</a:t>
                      </a:r>
                      <a:r>
                        <a:rPr baseline="30000" lang="en" sz="1800"/>
                        <a:t>2</a:t>
                      </a:r>
                      <a:endParaRPr baseline="30000"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idx="1" type="body"/>
          </p:nvPr>
        </p:nvSpPr>
        <p:spPr>
          <a:xfrm>
            <a:off x="254050" y="5528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Problem 3:</a:t>
            </a:r>
            <a:endParaRPr>
              <a:solidFill>
                <a:schemeClr val="dk1"/>
              </a:solidFill>
            </a:endParaRPr>
          </a:p>
          <a:p>
            <a:pPr indent="0" lvl="0" marL="0" rtl="0" algn="l">
              <a:spcBef>
                <a:spcPts val="1200"/>
              </a:spcBef>
              <a:spcAft>
                <a:spcPts val="0"/>
              </a:spcAft>
              <a:buNone/>
            </a:pPr>
            <a:r>
              <a:rPr lang="en">
                <a:solidFill>
                  <a:schemeClr val="dk1"/>
                </a:solidFill>
              </a:rPr>
              <a:t>A certain stimulus administered to each 12 patients,resulted in the following </a:t>
            </a:r>
            <a:r>
              <a:rPr lang="en">
                <a:solidFill>
                  <a:schemeClr val="dk1"/>
                </a:solidFill>
              </a:rPr>
              <a:t>change</a:t>
            </a:r>
            <a:r>
              <a:rPr lang="en">
                <a:solidFill>
                  <a:schemeClr val="dk1"/>
                </a:solidFill>
              </a:rPr>
              <a:t> in the blood pressure 5, 2, 8, -1, 3, 0, 6, -2, 1, 5, 0, 4. Can be concluded in that the injection will be in </a:t>
            </a:r>
            <a:r>
              <a:rPr lang="en">
                <a:solidFill>
                  <a:schemeClr val="dk1"/>
                </a:solidFill>
              </a:rPr>
              <a:t>general accompanied by the blood pressure. </a:t>
            </a:r>
            <a:endParaRPr>
              <a:solidFill>
                <a:schemeClr val="dk1"/>
              </a:solidFill>
            </a:endParaRPr>
          </a:p>
          <a:p>
            <a:pPr indent="0" lvl="0" marL="0" rtl="0" algn="l">
              <a:spcBef>
                <a:spcPts val="1200"/>
              </a:spcBef>
              <a:spcAft>
                <a:spcPts val="1200"/>
              </a:spcAft>
              <a:buNone/>
            </a:pPr>
            <a:r>
              <a:rPr lang="en">
                <a:solidFill>
                  <a:schemeClr val="dk1"/>
                </a:solidFill>
              </a:rPr>
              <a:t>Sol=&gt; H0: There is no change in the blood pressure</a:t>
            </a:r>
            <a:endParaRPr>
              <a:solidFill>
                <a:schemeClr val="dk1"/>
              </a:solidFill>
            </a:endParaRPr>
          </a:p>
        </p:txBody>
      </p:sp>
      <p:graphicFrame>
        <p:nvGraphicFramePr>
          <p:cNvPr id="188" name="Google Shape;188;p33"/>
          <p:cNvGraphicFramePr/>
          <p:nvPr/>
        </p:nvGraphicFramePr>
        <p:xfrm>
          <a:off x="583475" y="3464900"/>
          <a:ext cx="3000000" cy="3000000"/>
        </p:xfrm>
        <a:graphic>
          <a:graphicData uri="http://schemas.openxmlformats.org/drawingml/2006/table">
            <a:tbl>
              <a:tblPr>
                <a:noFill/>
                <a:tableStyleId>{51E3FAD0-BB54-4475-A5D0-18900A5E0FD9}</a:tableStyleId>
              </a:tblPr>
              <a:tblGrid>
                <a:gridCol w="569200"/>
                <a:gridCol w="1316075"/>
              </a:tblGrid>
              <a:tr h="381000">
                <a:tc>
                  <a:txBody>
                    <a:bodyPr/>
                    <a:lstStyle/>
                    <a:p>
                      <a:pPr indent="0" lvl="0" marL="0" rtl="0" algn="l">
                        <a:spcBef>
                          <a:spcPts val="0"/>
                        </a:spcBef>
                        <a:spcAft>
                          <a:spcPts val="0"/>
                        </a:spcAft>
                        <a:buNone/>
                      </a:pPr>
                      <a:r>
                        <a:rPr lang="en" sz="1800"/>
                        <a:t>d</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(d-đ)</a:t>
                      </a:r>
                      <a:r>
                        <a:rPr baseline="30000" lang="en" sz="1800"/>
                        <a:t>2</a:t>
                      </a:r>
                      <a:endParaRPr baseline="30000"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 II : Large sample (n&gt;30)</a:t>
            </a:r>
            <a:endParaRPr/>
          </a:p>
        </p:txBody>
      </p:sp>
      <p:sp>
        <p:nvSpPr>
          <p:cNvPr id="194" name="Google Shape;19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chemeClr val="dk1"/>
                </a:solidFill>
              </a:rPr>
              <a:t>Subtype II (A) </a:t>
            </a:r>
            <a:r>
              <a:rPr lang="en">
                <a:solidFill>
                  <a:schemeClr val="dk1"/>
                </a:solidFill>
              </a:rPr>
              <a:t>: Testing the significance of the difference between the mean of sample (x’) and mean of the population (u).</a:t>
            </a:r>
            <a:endParaRPr>
              <a:solidFill>
                <a:schemeClr val="dk1"/>
              </a:solidFill>
            </a:endParaRPr>
          </a:p>
          <a:p>
            <a:pPr indent="0" lvl="0" marL="0" rtl="0" algn="l">
              <a:spcBef>
                <a:spcPts val="1200"/>
              </a:spcBef>
              <a:spcAft>
                <a:spcPts val="1200"/>
              </a:spcAft>
              <a:buClr>
                <a:schemeClr val="dk1"/>
              </a:buClr>
              <a:buSzPts val="1100"/>
              <a:buFont typeface="Arial"/>
              <a:buNone/>
            </a:pPr>
            <a:r>
              <a:rPr b="1" lang="en">
                <a:solidFill>
                  <a:schemeClr val="dk1"/>
                </a:solidFill>
              </a:rPr>
              <a:t>Subtype II (B) </a:t>
            </a:r>
            <a:r>
              <a:rPr lang="en">
                <a:solidFill>
                  <a:schemeClr val="dk1"/>
                </a:solidFill>
              </a:rPr>
              <a:t>: Testing the significance of the difference between the two means (x1’, x2’) of two samples</a:t>
            </a:r>
            <a:endParaRPr>
              <a:solidFill>
                <a:schemeClr val="dk1"/>
              </a:solidFill>
            </a:endParaRPr>
          </a:p>
        </p:txBody>
      </p:sp>
      <p:graphicFrame>
        <p:nvGraphicFramePr>
          <p:cNvPr id="195" name="Google Shape;195;p34"/>
          <p:cNvGraphicFramePr/>
          <p:nvPr/>
        </p:nvGraphicFramePr>
        <p:xfrm>
          <a:off x="364350" y="1152475"/>
          <a:ext cx="3000000" cy="3000000"/>
        </p:xfrm>
        <a:graphic>
          <a:graphicData uri="http://schemas.openxmlformats.org/drawingml/2006/table">
            <a:tbl>
              <a:tblPr>
                <a:noFill/>
                <a:tableStyleId>{51E3FAD0-BB54-4475-A5D0-18900A5E0FD9}</a:tableStyleId>
              </a:tblPr>
              <a:tblGrid>
                <a:gridCol w="903175"/>
                <a:gridCol w="1273650"/>
                <a:gridCol w="1346800"/>
              </a:tblGrid>
              <a:tr h="456150">
                <a:tc>
                  <a:txBody>
                    <a:bodyPr/>
                    <a:lstStyle/>
                    <a:p>
                      <a:pPr indent="0" lvl="0" marL="0" rtl="0" algn="l">
                        <a:spcBef>
                          <a:spcPts val="0"/>
                        </a:spcBef>
                        <a:spcAft>
                          <a:spcPts val="0"/>
                        </a:spcAft>
                        <a:buNone/>
                      </a:pPr>
                      <a:r>
                        <a:rPr lang="en" sz="1800"/>
                        <a:t>Level</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dk1"/>
                          </a:solidFill>
                        </a:rPr>
                        <a:t>Two</a:t>
                      </a:r>
                      <a:r>
                        <a:rPr lang="en" sz="1800">
                          <a:solidFill>
                            <a:schemeClr val="dk1"/>
                          </a:solidFill>
                        </a:rPr>
                        <a:t> sided</a:t>
                      </a:r>
                      <a:endParaRPr baseline="30000"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One sided</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t>5%</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1.96</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1.65</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t>1%</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2.58</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800"/>
                        <a:t>2.33</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