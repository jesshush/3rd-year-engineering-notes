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6d6c6ad7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6d6c6ad7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6d6c6ad79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6d6c6ad79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6d6c6ad79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6d6c6ad79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6d6c6ad79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6d6c6ad79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6d6c6ad79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6d6c6ad79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6d6c6ad79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6d6c6ad79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6d6c6ad79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6d6c6ad79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6d6c6ad79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6d6c6ad79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6d6c6ad798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6d6c6ad798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6d6c6ad79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6d6c6ad79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6d6c6ad798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6d6c6ad798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6d6c6ad798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6d6c6ad798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6d6c6ad79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6d6c6ad79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6d6c6ad79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6d6c6ad79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6d6c6ad798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6d6c6ad798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6d6c6ad798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6d6c6ad798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6d6c6ad798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6d6c6ad798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6d6c6ad798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6d6c6ad798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6d6c6ad798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6d6c6ad798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6d6c6ad798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6d6c6ad798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6d6c6ad798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6d6c6ad79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6d6c6ad798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6d6c6ad798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6d6c6ad798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6d6c6ad798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6d6c6ad798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6d6c6ad798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6d6c6ad798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6d6c6ad798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6d6c6ad798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6d6c6ad798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990"/>
              <a:buFont typeface="Arial"/>
              <a:buNone/>
            </a:pPr>
            <a:r>
              <a:rPr b="1" lang="en" sz="1929"/>
              <a:t>Discrete Frequency Distribution</a:t>
            </a:r>
            <a:endParaRPr b="1" sz="1929"/>
          </a:p>
          <a:p>
            <a:pPr indent="0" lvl="0" marL="0" rtl="0" algn="l">
              <a:spcBef>
                <a:spcPts val="400"/>
              </a:spcBef>
              <a:spcAft>
                <a:spcPts val="0"/>
              </a:spcAft>
              <a:buSzPts val="990"/>
              <a:buNone/>
            </a:pPr>
            <a:r>
              <a:t/>
            </a:r>
            <a:endParaRPr sz="2920"/>
          </a:p>
        </p:txBody>
      </p:sp>
      <p:sp>
        <p:nvSpPr>
          <p:cNvPr id="55" name="Google Shape;55;p13"/>
          <p:cNvSpPr txBox="1"/>
          <p:nvPr>
            <p:ph idx="1" type="body"/>
          </p:nvPr>
        </p:nvSpPr>
        <p:spPr>
          <a:xfrm>
            <a:off x="242500" y="6285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In statistics, we deal with different kinds of data in huge amounts.</a:t>
            </a:r>
            <a:endParaRPr sz="1500">
              <a:solidFill>
                <a:schemeClr val="dk1"/>
              </a:solidFill>
            </a:endParaRPr>
          </a:p>
          <a:p>
            <a:pPr indent="0" lvl="0" marL="0" rtl="0" algn="l">
              <a:spcBef>
                <a:spcPts val="1200"/>
              </a:spcBef>
              <a:spcAft>
                <a:spcPts val="0"/>
              </a:spcAft>
              <a:buNone/>
            </a:pPr>
            <a:r>
              <a:rPr lang="en" sz="1500">
                <a:solidFill>
                  <a:schemeClr val="dk1"/>
                </a:solidFill>
              </a:rPr>
              <a:t>We require the data to be arranged in such a way that one can perform suitable statistical experiments.</a:t>
            </a:r>
            <a:endParaRPr sz="1500">
              <a:solidFill>
                <a:schemeClr val="dk1"/>
              </a:solidFill>
            </a:endParaRPr>
          </a:p>
          <a:p>
            <a:pPr indent="0" lvl="0" marL="0" rtl="0" algn="l">
              <a:spcBef>
                <a:spcPts val="1200"/>
              </a:spcBef>
              <a:spcAft>
                <a:spcPts val="0"/>
              </a:spcAft>
              <a:buNone/>
            </a:pPr>
            <a:r>
              <a:rPr lang="en" sz="1500">
                <a:solidFill>
                  <a:schemeClr val="dk1"/>
                </a:solidFill>
              </a:rPr>
              <a:t> Thus we group into two ways, namely, discrete and continuous frequency distribution. </a:t>
            </a:r>
            <a:endParaRPr sz="1500">
              <a:solidFill>
                <a:schemeClr val="dk1"/>
              </a:solidFill>
            </a:endParaRPr>
          </a:p>
          <a:p>
            <a:pPr indent="0" lvl="0" marL="0" rtl="0" algn="l">
              <a:spcBef>
                <a:spcPts val="1200"/>
              </a:spcBef>
              <a:spcAft>
                <a:spcPts val="0"/>
              </a:spcAft>
              <a:buNone/>
            </a:pPr>
            <a:r>
              <a:rPr lang="en" sz="1500">
                <a:solidFill>
                  <a:schemeClr val="dk1"/>
                </a:solidFill>
              </a:rPr>
              <a:t>These groupings help us in finding mean, median and mode.</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200">
                <a:solidFill>
                  <a:schemeClr val="dk1"/>
                </a:solidFill>
              </a:rPr>
              <a:t>Discrete Frequency Distribution</a:t>
            </a:r>
            <a:r>
              <a:rPr lang="en" sz="1200">
                <a:solidFill>
                  <a:schemeClr val="dk1"/>
                </a:solidFill>
              </a:rPr>
              <a:t> is defined as the grouping of a discrete data provided with respect to their frequencies.</a:t>
            </a:r>
            <a:endParaRPr sz="1500">
              <a:solidFill>
                <a:schemeClr val="dk1"/>
              </a:solidFill>
            </a:endParaRPr>
          </a:p>
          <a:p>
            <a:pPr indent="0" lvl="0" marL="0" rtl="0" algn="l">
              <a:spcBef>
                <a:spcPts val="1800"/>
              </a:spcBef>
              <a:spcAft>
                <a:spcPts val="0"/>
              </a:spcAft>
              <a:buClr>
                <a:schemeClr val="dk1"/>
              </a:buClr>
              <a:buSzPts val="1100"/>
              <a:buFont typeface="Arial"/>
              <a:buNone/>
            </a:pPr>
            <a:r>
              <a:rPr b="1" lang="en">
                <a:solidFill>
                  <a:schemeClr val="dk1"/>
                </a:solidFill>
              </a:rPr>
              <a:t>Discrete Frequency Distribution Table</a:t>
            </a:r>
            <a:endParaRPr b="1">
              <a:solidFill>
                <a:schemeClr val="dk1"/>
              </a:solidFill>
            </a:endParaRPr>
          </a:p>
          <a:p>
            <a:pPr indent="0" lvl="0" marL="0" rtl="0" algn="l">
              <a:spcBef>
                <a:spcPts val="400"/>
              </a:spcBef>
              <a:spcAft>
                <a:spcPts val="1200"/>
              </a:spcAft>
              <a:buNone/>
            </a:pPr>
            <a:r>
              <a:t/>
            </a:r>
            <a:endParaRPr sz="1500">
              <a:solidFill>
                <a:schemeClr val="dk1"/>
              </a:solidFill>
            </a:endParaRPr>
          </a:p>
        </p:txBody>
      </p:sp>
      <p:pic>
        <p:nvPicPr>
          <p:cNvPr id="56" name="Google Shape;56;p13"/>
          <p:cNvPicPr preferRelativeResize="0"/>
          <p:nvPr/>
        </p:nvPicPr>
        <p:blipFill>
          <a:blip r:embed="rId3">
            <a:alphaModFix/>
          </a:blip>
          <a:stretch>
            <a:fillRect/>
          </a:stretch>
        </p:blipFill>
        <p:spPr>
          <a:xfrm>
            <a:off x="440371" y="3362346"/>
            <a:ext cx="4941401" cy="893350"/>
          </a:xfrm>
          <a:prstGeom prst="rect">
            <a:avLst/>
          </a:prstGeom>
          <a:noFill/>
          <a:ln>
            <a:noFill/>
          </a:ln>
        </p:spPr>
      </p:pic>
      <p:sp>
        <p:nvSpPr>
          <p:cNvPr id="57" name="Google Shape;57;p13"/>
          <p:cNvSpPr txBox="1"/>
          <p:nvPr/>
        </p:nvSpPr>
        <p:spPr>
          <a:xfrm>
            <a:off x="242500" y="4401300"/>
            <a:ext cx="63459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rPr>
              <a:t>A tally chart is a simple way of counting and recording the frequency of any given data. </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p:cNvPicPr preferRelativeResize="0"/>
          <p:nvPr/>
        </p:nvPicPr>
        <p:blipFill>
          <a:blip r:embed="rId3">
            <a:alphaModFix/>
          </a:blip>
          <a:stretch>
            <a:fillRect/>
          </a:stretch>
        </p:blipFill>
        <p:spPr>
          <a:xfrm>
            <a:off x="499763" y="1017725"/>
            <a:ext cx="5076825" cy="2362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242500" y="1452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320"/>
              <a:t>1) Discrete frequency distribution</a:t>
            </a:r>
            <a:endParaRPr b="1" sz="2320"/>
          </a:p>
        </p:txBody>
      </p:sp>
      <p:sp>
        <p:nvSpPr>
          <p:cNvPr id="68" name="Google Shape;68;p15"/>
          <p:cNvSpPr txBox="1"/>
          <p:nvPr>
            <p:ph idx="1" type="body"/>
          </p:nvPr>
        </p:nvSpPr>
        <p:spPr>
          <a:xfrm>
            <a:off x="357850" y="6565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1"/>
                </a:solidFill>
              </a:rPr>
              <a:t>I</a:t>
            </a:r>
            <a:r>
              <a:rPr lang="en" sz="1600">
                <a:solidFill>
                  <a:schemeClr val="dk1"/>
                </a:solidFill>
              </a:rPr>
              <a:t>n discrete frequency distribution, values of the variable is arranged individually. The frequencies of the various values are the number of times each value occurs.</a:t>
            </a:r>
            <a:endParaRPr sz="1600">
              <a:solidFill>
                <a:schemeClr val="dk1"/>
              </a:solidFill>
            </a:endParaRPr>
          </a:p>
          <a:p>
            <a:pPr indent="0" lvl="0" marL="0" rtl="0" algn="l">
              <a:spcBef>
                <a:spcPts val="1200"/>
              </a:spcBef>
              <a:spcAft>
                <a:spcPts val="0"/>
              </a:spcAft>
              <a:buNone/>
            </a:pPr>
            <a:r>
              <a:rPr lang="en" sz="1600">
                <a:solidFill>
                  <a:schemeClr val="dk1"/>
                </a:solidFill>
              </a:rPr>
              <a:t>The weekly wages in Rs. paid to the workers are given below. Form a discrete frequency distribution</a:t>
            </a:r>
            <a:endParaRPr sz="1600">
              <a:solidFill>
                <a:schemeClr val="dk1"/>
              </a:solidFill>
            </a:endParaRPr>
          </a:p>
          <a:p>
            <a:pPr indent="0" lvl="0" marL="0" rtl="0" algn="l">
              <a:spcBef>
                <a:spcPts val="1200"/>
              </a:spcBef>
              <a:spcAft>
                <a:spcPts val="1200"/>
              </a:spcAft>
              <a:buNone/>
            </a:pPr>
            <a:r>
              <a:rPr lang="en" sz="1600">
                <a:solidFill>
                  <a:schemeClr val="dk1"/>
                </a:solidFill>
              </a:rPr>
              <a:t>300,240,240.150,120,240,120,120,150,150,150,240,150,150,120,300,120,150,240,150,150,120,240,150,240,150,120,120,240,150.</a:t>
            </a:r>
            <a:endParaRPr sz="1600">
              <a:solidFill>
                <a:schemeClr val="dk1"/>
              </a:solidFill>
            </a:endParaRPr>
          </a:p>
        </p:txBody>
      </p:sp>
      <p:pic>
        <p:nvPicPr>
          <p:cNvPr id="69" name="Google Shape;69;p15"/>
          <p:cNvPicPr preferRelativeResize="0"/>
          <p:nvPr/>
        </p:nvPicPr>
        <p:blipFill>
          <a:blip r:embed="rId3">
            <a:alphaModFix/>
          </a:blip>
          <a:stretch>
            <a:fillRect/>
          </a:stretch>
        </p:blipFill>
        <p:spPr>
          <a:xfrm>
            <a:off x="426072" y="2850172"/>
            <a:ext cx="4362974" cy="2075175"/>
          </a:xfrm>
          <a:prstGeom prst="rect">
            <a:avLst/>
          </a:prstGeom>
          <a:noFill/>
          <a:ln>
            <a:noFill/>
          </a:ln>
        </p:spPr>
      </p:pic>
      <p:pic>
        <p:nvPicPr>
          <p:cNvPr id="70" name="Google Shape;70;p15"/>
          <p:cNvPicPr preferRelativeResize="0"/>
          <p:nvPr/>
        </p:nvPicPr>
        <p:blipFill>
          <a:blip r:embed="rId4">
            <a:alphaModFix/>
          </a:blip>
          <a:stretch>
            <a:fillRect/>
          </a:stretch>
        </p:blipFill>
        <p:spPr>
          <a:xfrm>
            <a:off x="4789050" y="3622750"/>
            <a:ext cx="4362974" cy="6259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164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220"/>
              <a:t>2) Continuous frequency distribution</a:t>
            </a:r>
            <a:endParaRPr b="1" sz="2220"/>
          </a:p>
        </p:txBody>
      </p:sp>
      <p:sp>
        <p:nvSpPr>
          <p:cNvPr id="76" name="Google Shape;76;p16"/>
          <p:cNvSpPr txBox="1"/>
          <p:nvPr>
            <p:ph idx="1" type="body"/>
          </p:nvPr>
        </p:nvSpPr>
        <p:spPr>
          <a:xfrm>
            <a:off x="392425" y="944900"/>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solidFill>
                  <a:schemeClr val="dk1"/>
                </a:solidFill>
              </a:rPr>
              <a:t>Continuous frequency distribution is also known as grouped frequency distribution.</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This is a form in which class intervals and respective class frequencies are given.</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We can find frequency distribution by the following steps:</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 First of all, calculate the range of the data set.</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 Next, divide the range by the number of the group you want your data in and then round up.</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 After that, use class width to create groups</a:t>
            </a:r>
            <a:endParaRPr>
              <a:solidFill>
                <a:schemeClr val="dk1"/>
              </a:solidFill>
            </a:endParaRPr>
          </a:p>
          <a:p>
            <a:pPr indent="0" lvl="0" marL="0" rtl="0" algn="l">
              <a:spcBef>
                <a:spcPts val="1200"/>
              </a:spcBef>
              <a:spcAft>
                <a:spcPts val="1200"/>
              </a:spcAft>
              <a:buNone/>
            </a:pPr>
            <a:r>
              <a:rPr lang="en">
                <a:solidFill>
                  <a:schemeClr val="dk1"/>
                </a:solidFill>
              </a:rPr>
              <a:t>• Finally, find the frequency for each group</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Let us consider the following example regarding daily maximum temperatures in in</a:t>
            </a:r>
            <a:endParaRPr>
              <a:solidFill>
                <a:schemeClr val="dk1"/>
              </a:solidFill>
            </a:endParaRPr>
          </a:p>
          <a:p>
            <a:pPr indent="0" lvl="0" marL="0" rtl="0" algn="l">
              <a:spcBef>
                <a:spcPts val="1200"/>
              </a:spcBef>
              <a:spcAft>
                <a:spcPts val="0"/>
              </a:spcAft>
              <a:buNone/>
            </a:pPr>
            <a:r>
              <a:rPr lang="en">
                <a:solidFill>
                  <a:schemeClr val="dk1"/>
                </a:solidFill>
              </a:rPr>
              <a:t>a city for 50 days</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28, 28, 31, 29, 35, 33, 28, 31, 34, 29,</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25, 27, 29, 33, 30, 31, 32, 26, 26, 21,</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21, 20, 22, 24, 28, 30, 34, 33, 35, 29,</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23, 21, 20, 19, 19, 18, 19, 17, 20, 19,</a:t>
            </a:r>
            <a:endParaRPr>
              <a:solidFill>
                <a:schemeClr val="dk1"/>
              </a:solidFill>
            </a:endParaRPr>
          </a:p>
          <a:p>
            <a:pPr indent="0" lvl="0" marL="0" rtl="0" algn="l">
              <a:spcBef>
                <a:spcPts val="1200"/>
              </a:spcBef>
              <a:spcAft>
                <a:spcPts val="1200"/>
              </a:spcAft>
              <a:buNone/>
            </a:pPr>
            <a:r>
              <a:rPr lang="en">
                <a:solidFill>
                  <a:schemeClr val="dk1"/>
                </a:solidFill>
              </a:rPr>
              <a:t>18, 18, 19, 27, 17, 18, 20, 21, 18, 19.</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idx="1" type="body"/>
          </p:nvPr>
        </p:nvSpPr>
        <p:spPr>
          <a:xfrm>
            <a:off x="173300" y="495125"/>
            <a:ext cx="3933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 </a:t>
            </a:r>
            <a:r>
              <a:rPr lang="en">
                <a:solidFill>
                  <a:schemeClr val="dk1"/>
                </a:solidFill>
              </a:rPr>
              <a:t>Minimum Value= 17</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 Maximum Value=35</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 Range=35-17=18</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 Number of classes=5 (say)</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 width of each class=4</a:t>
            </a:r>
            <a:endParaRPr>
              <a:solidFill>
                <a:schemeClr val="dk1"/>
              </a:solidFill>
            </a:endParaRPr>
          </a:p>
          <a:p>
            <a:pPr indent="0" lvl="0" marL="0" rtl="0" algn="l">
              <a:spcBef>
                <a:spcPts val="1200"/>
              </a:spcBef>
              <a:spcAft>
                <a:spcPts val="0"/>
              </a:spcAft>
              <a:buNone/>
            </a:pPr>
            <a:r>
              <a:rPr lang="en">
                <a:solidFill>
                  <a:schemeClr val="dk1"/>
                </a:solidFill>
              </a:rPr>
              <a:t>Table Showing frequency distribution </a:t>
            </a:r>
            <a:endParaRPr>
              <a:solidFill>
                <a:schemeClr val="dk1"/>
              </a:solidFill>
            </a:endParaRPr>
          </a:p>
          <a:p>
            <a:pPr indent="0" lvl="0" marL="0" rtl="0" algn="l">
              <a:spcBef>
                <a:spcPts val="1200"/>
              </a:spcBef>
              <a:spcAft>
                <a:spcPts val="1200"/>
              </a:spcAft>
              <a:buNone/>
            </a:pPr>
            <a:r>
              <a:rPr lang="en">
                <a:solidFill>
                  <a:schemeClr val="dk1"/>
                </a:solidFill>
              </a:rPr>
              <a:t>of temperature in a city for 50 days.</a:t>
            </a:r>
            <a:endParaRPr>
              <a:solidFill>
                <a:schemeClr val="dk1"/>
              </a:solidFill>
            </a:endParaRPr>
          </a:p>
        </p:txBody>
      </p:sp>
      <p:pic>
        <p:nvPicPr>
          <p:cNvPr id="88" name="Google Shape;88;p18"/>
          <p:cNvPicPr preferRelativeResize="0"/>
          <p:nvPr/>
        </p:nvPicPr>
        <p:blipFill>
          <a:blip r:embed="rId3">
            <a:alphaModFix/>
          </a:blip>
          <a:stretch>
            <a:fillRect/>
          </a:stretch>
        </p:blipFill>
        <p:spPr>
          <a:xfrm>
            <a:off x="4106450" y="1672200"/>
            <a:ext cx="5037551" cy="29364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Terms used in continuous frequency distribution</a:t>
            </a:r>
            <a:endParaRPr b="1"/>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Class Interval: </a:t>
            </a:r>
            <a:r>
              <a:rPr lang="en">
                <a:solidFill>
                  <a:schemeClr val="dk1"/>
                </a:solidFill>
              </a:rPr>
              <a:t>The whole range of variable values is classified in some groups in the form of intervals. Each interval is called a class interval.</a:t>
            </a:r>
            <a:endParaRPr>
              <a:solidFill>
                <a:schemeClr val="dk1"/>
              </a:solidFill>
            </a:endParaRPr>
          </a:p>
          <a:p>
            <a:pPr indent="0" lvl="0" marL="0" rtl="0" algn="l">
              <a:spcBef>
                <a:spcPts val="1200"/>
              </a:spcBef>
              <a:spcAft>
                <a:spcPts val="0"/>
              </a:spcAft>
              <a:buNone/>
            </a:pPr>
            <a:r>
              <a:rPr b="1" lang="en">
                <a:solidFill>
                  <a:schemeClr val="dk1"/>
                </a:solidFill>
              </a:rPr>
              <a:t>Class Frequency: </a:t>
            </a:r>
            <a:r>
              <a:rPr lang="en">
                <a:solidFill>
                  <a:schemeClr val="dk1"/>
                </a:solidFill>
              </a:rPr>
              <a:t>The number of observations in a class is termed as the frequency of the class or class frequency.</a:t>
            </a:r>
            <a:endParaRPr>
              <a:solidFill>
                <a:schemeClr val="dk1"/>
              </a:solidFill>
            </a:endParaRPr>
          </a:p>
          <a:p>
            <a:pPr indent="0" lvl="0" marL="0" rtl="0" algn="l">
              <a:spcBef>
                <a:spcPts val="1200"/>
              </a:spcBef>
              <a:spcAft>
                <a:spcPts val="0"/>
              </a:spcAft>
              <a:buNone/>
            </a:pPr>
            <a:r>
              <a:rPr b="1" lang="en">
                <a:solidFill>
                  <a:schemeClr val="dk1"/>
                </a:solidFill>
              </a:rPr>
              <a:t>Class limits and Class boundaries:</a:t>
            </a:r>
            <a:r>
              <a:rPr lang="en">
                <a:solidFill>
                  <a:schemeClr val="dk1"/>
                </a:solidFill>
              </a:rPr>
              <a:t>Class limits are the two endpoints of a class interval which are used for the construction of a frequency distribution.</a:t>
            </a:r>
            <a:endParaRPr>
              <a:solidFill>
                <a:schemeClr val="dk1"/>
              </a:solidFill>
            </a:endParaRPr>
          </a:p>
          <a:p>
            <a:pPr indent="0" lvl="0" marL="0" rtl="0" algn="l">
              <a:spcBef>
                <a:spcPts val="1200"/>
              </a:spcBef>
              <a:spcAft>
                <a:spcPts val="1200"/>
              </a:spcAft>
              <a:buNone/>
            </a:pPr>
            <a:r>
              <a:rPr lang="en">
                <a:solidFill>
                  <a:schemeClr val="dk1"/>
                </a:solidFill>
              </a:rPr>
              <a:t>the class 17-21, the lower-class limit is 17 and the upper-class limit is 21.</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a:solidFill>
                  <a:schemeClr val="dk1"/>
                </a:solidFill>
              </a:rPr>
              <a:t>Size/length of the Class:</a:t>
            </a:r>
            <a:r>
              <a:rPr lang="en">
                <a:solidFill>
                  <a:schemeClr val="dk1"/>
                </a:solidFill>
              </a:rPr>
              <a:t> The length of the class is called the class width. It is also known as class size.</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Class interval or size of the class = U.C.B. – L.C.B.</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U.C.B. is Upper Class Boundary</a:t>
            </a:r>
            <a:endParaRPr>
              <a:solidFill>
                <a:schemeClr val="dk1"/>
              </a:solidFill>
            </a:endParaRPr>
          </a:p>
          <a:p>
            <a:pPr indent="0" lvl="0" marL="0" rtl="0" algn="l">
              <a:spcBef>
                <a:spcPts val="1200"/>
              </a:spcBef>
              <a:spcAft>
                <a:spcPts val="0"/>
              </a:spcAft>
              <a:buNone/>
            </a:pPr>
            <a:r>
              <a:rPr lang="en">
                <a:solidFill>
                  <a:schemeClr val="dk1"/>
                </a:solidFill>
              </a:rPr>
              <a:t>L.C.B. is Lower Class Boundary</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Mid-point/class mark of the Class: </a:t>
            </a:r>
            <a:r>
              <a:rPr lang="en">
                <a:solidFill>
                  <a:schemeClr val="dk1"/>
                </a:solidFill>
              </a:rPr>
              <a:t>The midpoint of a class interval is called Mid-point of the Class. It is the representative value of the entire class.</a:t>
            </a:r>
            <a:endParaRPr>
              <a:solidFill>
                <a:schemeClr val="dk1"/>
              </a:solidFill>
            </a:endParaRPr>
          </a:p>
          <a:p>
            <a:pPr indent="0" lvl="0" marL="0" rtl="0" algn="l">
              <a:spcBef>
                <a:spcPts val="1200"/>
              </a:spcBef>
              <a:spcAft>
                <a:spcPts val="1200"/>
              </a:spcAft>
              <a:buNone/>
            </a:pPr>
            <a:r>
              <a:rPr lang="en">
                <a:solidFill>
                  <a:schemeClr val="dk1"/>
                </a:solidFill>
              </a:rPr>
              <a:t>Mid-point of the class = (U.C.B. +L.C.B.)/2</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990"/>
              <a:buFont typeface="Arial"/>
              <a:buNone/>
            </a:pPr>
            <a:r>
              <a:rPr b="1" lang="en" sz="2130"/>
              <a:t>Sampling Error</a:t>
            </a:r>
            <a:endParaRPr b="1" sz="2130"/>
          </a:p>
          <a:p>
            <a:pPr indent="0" lvl="0" marL="0" rtl="0" algn="l">
              <a:spcBef>
                <a:spcPts val="400"/>
              </a:spcBef>
              <a:spcAft>
                <a:spcPts val="0"/>
              </a:spcAft>
              <a:buSzPts val="990"/>
              <a:buNone/>
            </a:pPr>
            <a:r>
              <a:t/>
            </a:r>
            <a:endParaRPr sz="3120"/>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A sampling error is a statistical error that occurs when an analyst does not select a sample that represents the entire population of data. As a result, the results found in the sample do not represent the results that would be obtained from the entire population. </a:t>
            </a:r>
            <a:endParaRPr>
              <a:solidFill>
                <a:schemeClr val="dk1"/>
              </a:solidFill>
            </a:endParaRPr>
          </a:p>
        </p:txBody>
      </p:sp>
      <p:pic>
        <p:nvPicPr>
          <p:cNvPr id="107" name="Google Shape;107;p21"/>
          <p:cNvPicPr preferRelativeResize="0"/>
          <p:nvPr/>
        </p:nvPicPr>
        <p:blipFill>
          <a:blip r:embed="rId3">
            <a:alphaModFix/>
          </a:blip>
          <a:stretch>
            <a:fillRect/>
          </a:stretch>
        </p:blipFill>
        <p:spPr>
          <a:xfrm>
            <a:off x="373373" y="2738098"/>
            <a:ext cx="3873650" cy="2134775"/>
          </a:xfrm>
          <a:prstGeom prst="rect">
            <a:avLst/>
          </a:prstGeom>
          <a:noFill/>
          <a:ln>
            <a:noFill/>
          </a:ln>
        </p:spPr>
      </p:pic>
      <p:pic>
        <p:nvPicPr>
          <p:cNvPr id="108" name="Google Shape;108;p21"/>
          <p:cNvPicPr preferRelativeResize="0"/>
          <p:nvPr/>
        </p:nvPicPr>
        <p:blipFill>
          <a:blip r:embed="rId4">
            <a:alphaModFix/>
          </a:blip>
          <a:stretch>
            <a:fillRect/>
          </a:stretch>
        </p:blipFill>
        <p:spPr>
          <a:xfrm>
            <a:off x="4363400" y="2553950"/>
            <a:ext cx="4468900" cy="250306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2"/>
          <p:cNvPicPr preferRelativeResize="0"/>
          <p:nvPr/>
        </p:nvPicPr>
        <p:blipFill>
          <a:blip r:embed="rId3">
            <a:alphaModFix/>
          </a:blip>
          <a:stretch>
            <a:fillRect/>
          </a:stretch>
        </p:blipFill>
        <p:spPr>
          <a:xfrm>
            <a:off x="3410175" y="183725"/>
            <a:ext cx="5733826" cy="1944400"/>
          </a:xfrm>
          <a:prstGeom prst="rect">
            <a:avLst/>
          </a:prstGeom>
          <a:noFill/>
          <a:ln>
            <a:noFill/>
          </a:ln>
        </p:spPr>
      </p:pic>
      <p:sp>
        <p:nvSpPr>
          <p:cNvPr id="114" name="Google Shape;114;p22"/>
          <p:cNvSpPr txBox="1"/>
          <p:nvPr/>
        </p:nvSpPr>
        <p:spPr>
          <a:xfrm>
            <a:off x="49200" y="1935575"/>
            <a:ext cx="8845500" cy="33966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400"/>
              </a:spcBef>
              <a:spcAft>
                <a:spcPts val="0"/>
              </a:spcAft>
              <a:buClr>
                <a:schemeClr val="dk1"/>
              </a:buClr>
              <a:buSzPts val="1100"/>
              <a:buChar char="●"/>
            </a:pPr>
            <a:r>
              <a:rPr b="1" lang="en" sz="1500">
                <a:solidFill>
                  <a:schemeClr val="dk1"/>
                </a:solidFill>
              </a:rPr>
              <a:t>Population specification error</a:t>
            </a:r>
            <a:br>
              <a:rPr b="1" lang="en" sz="1500">
                <a:solidFill>
                  <a:schemeClr val="dk1"/>
                </a:solidFill>
              </a:rPr>
            </a:br>
            <a:r>
              <a:rPr lang="en" sz="1300">
                <a:solidFill>
                  <a:schemeClr val="dk1"/>
                </a:solidFill>
              </a:rPr>
              <a:t>A population specification error occurs when researchers don’t know precisely who to survey.</a:t>
            </a:r>
            <a:br>
              <a:rPr lang="en" sz="1300">
                <a:solidFill>
                  <a:schemeClr val="dk1"/>
                </a:solidFill>
              </a:rPr>
            </a:br>
            <a:br>
              <a:rPr lang="en" sz="1300">
                <a:solidFill>
                  <a:schemeClr val="dk1"/>
                </a:solidFill>
              </a:rPr>
            </a:br>
            <a:r>
              <a:rPr lang="en" sz="1300">
                <a:solidFill>
                  <a:schemeClr val="dk1"/>
                </a:solidFill>
              </a:rPr>
              <a:t>For example, imagine a research study about kid’s apparel. Who is the right person to survey? It can be both parents, only the mother, or the child. The parents make purchase decisions, but the kids may influence their choice.</a:t>
            </a:r>
            <a:endParaRPr sz="13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500">
                <a:solidFill>
                  <a:schemeClr val="dk1"/>
                </a:solidFill>
              </a:rPr>
              <a:t>Sample frame error</a:t>
            </a:r>
            <a:br>
              <a:rPr b="1" lang="en" sz="1500">
                <a:solidFill>
                  <a:schemeClr val="dk1"/>
                </a:solidFill>
              </a:rPr>
            </a:br>
            <a:r>
              <a:rPr lang="en" sz="1300">
                <a:solidFill>
                  <a:schemeClr val="dk1"/>
                </a:solidFill>
              </a:rPr>
              <a:t>Sampling frame error occurs when researchers target the sub-population wrongly while selecting the sample.</a:t>
            </a:r>
            <a:br>
              <a:rPr lang="en" sz="1300">
                <a:solidFill>
                  <a:schemeClr val="dk1"/>
                </a:solidFill>
              </a:rPr>
            </a:br>
            <a:br>
              <a:rPr lang="en" sz="1300">
                <a:solidFill>
                  <a:schemeClr val="dk1"/>
                </a:solidFill>
              </a:rPr>
            </a:br>
            <a:r>
              <a:rPr lang="en" sz="1300">
                <a:solidFill>
                  <a:schemeClr val="dk1"/>
                </a:solidFill>
              </a:rPr>
              <a:t>For example, picking a sampling frame from the telephone white pages book may have erroneous inclusions because people shift their cities. Erroneous exclusions occur when people prefer to un-list their numbers. Wealthy households may have more than one connection, thus leading to multiple inclusions.</a:t>
            </a:r>
            <a:endParaRPr sz="1300">
              <a:solidFill>
                <a:schemeClr val="dk1"/>
              </a:solidFill>
            </a:endParaRPr>
          </a:p>
          <a:p>
            <a:pPr indent="0" lvl="0" marL="457200" rtl="0" algn="l">
              <a:lnSpc>
                <a:spcPct val="115000"/>
              </a:lnSpc>
              <a:spcBef>
                <a:spcPts val="1400"/>
              </a:spcBef>
              <a:spcAft>
                <a:spcPts val="1400"/>
              </a:spcAft>
              <a:buNone/>
            </a:pPr>
            <a:r>
              <a:t/>
            </a:r>
            <a:endParaRPr sz="1300">
              <a:solidFill>
                <a:schemeClr val="dk1"/>
              </a:solidFill>
            </a:endParaRPr>
          </a:p>
        </p:txBody>
      </p:sp>
      <p:sp>
        <p:nvSpPr>
          <p:cNvPr id="115" name="Google Shape;115;p22"/>
          <p:cNvSpPr txBox="1"/>
          <p:nvPr/>
        </p:nvSpPr>
        <p:spPr>
          <a:xfrm>
            <a:off x="0" y="0"/>
            <a:ext cx="43509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 sz="1900">
                <a:solidFill>
                  <a:schemeClr val="dk1"/>
                </a:solidFill>
              </a:rPr>
              <a:t>Types of common sampling error</a:t>
            </a:r>
            <a:endParaRPr b="1" sz="19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8450" lvl="0" marL="457200" rtl="0" algn="l">
              <a:spcBef>
                <a:spcPts val="1400"/>
              </a:spcBef>
              <a:spcAft>
                <a:spcPts val="0"/>
              </a:spcAft>
              <a:buClr>
                <a:schemeClr val="dk1"/>
              </a:buClr>
              <a:buSzPts val="1100"/>
              <a:buChar char="●"/>
            </a:pPr>
            <a:r>
              <a:rPr b="1" lang="en" sz="1600">
                <a:solidFill>
                  <a:schemeClr val="dk1"/>
                </a:solidFill>
              </a:rPr>
              <a:t>Selection error</a:t>
            </a:r>
            <a:br>
              <a:rPr b="1" lang="en" sz="1600">
                <a:solidFill>
                  <a:schemeClr val="dk1"/>
                </a:solidFill>
              </a:rPr>
            </a:br>
            <a:r>
              <a:rPr lang="en" sz="1400">
                <a:solidFill>
                  <a:schemeClr val="dk1"/>
                </a:solidFill>
              </a:rPr>
              <a:t>Selection error occurs when respondents self-select themselves to participate in the study. You can control selection errors by going the extra step to request responses from the entire sample. Only interested ones respond.</a:t>
            </a:r>
            <a:br>
              <a:rPr lang="en" sz="1400">
                <a:solidFill>
                  <a:schemeClr val="dk1"/>
                </a:solidFill>
              </a:rPr>
            </a:br>
            <a:br>
              <a:rPr lang="en" sz="1400">
                <a:solidFill>
                  <a:schemeClr val="dk1"/>
                </a:solidFill>
              </a:rPr>
            </a:br>
            <a:r>
              <a:rPr lang="en" sz="1400">
                <a:solidFill>
                  <a:schemeClr val="dk1"/>
                </a:solidFill>
              </a:rPr>
              <a:t>Pre-survey planning, follow-ups, and a neat and clean survey design will boost respondents’ participation rate. Also, try sampling methods like CATI surveys and in-person interviews to maximize responses.</a:t>
            </a:r>
            <a:endParaRPr sz="1400">
              <a:solidFill>
                <a:schemeClr val="dk1"/>
              </a:solidFill>
            </a:endParaRPr>
          </a:p>
          <a:p>
            <a:pPr indent="-298450" lvl="0" marL="457200" rtl="0" algn="l">
              <a:spcBef>
                <a:spcPts val="0"/>
              </a:spcBef>
              <a:spcAft>
                <a:spcPts val="0"/>
              </a:spcAft>
              <a:buClr>
                <a:schemeClr val="dk1"/>
              </a:buClr>
              <a:buSzPts val="1100"/>
              <a:buChar char="●"/>
            </a:pPr>
            <a:r>
              <a:rPr b="1" lang="en" sz="1600">
                <a:solidFill>
                  <a:schemeClr val="dk1"/>
                </a:solidFill>
              </a:rPr>
              <a:t>Sampling errors</a:t>
            </a:r>
            <a:br>
              <a:rPr b="1" lang="en" sz="1600">
                <a:solidFill>
                  <a:schemeClr val="dk1"/>
                </a:solidFill>
              </a:rPr>
            </a:br>
            <a:r>
              <a:rPr lang="en" sz="1400">
                <a:solidFill>
                  <a:schemeClr val="dk1"/>
                </a:solidFill>
              </a:rPr>
              <a:t>Sampling errors occur due to a disparity in the representativeness of the respondents. It majorly happens when the researcher does not plan his sample carefully.</a:t>
            </a:r>
            <a:br>
              <a:rPr lang="en" sz="1400">
                <a:solidFill>
                  <a:schemeClr val="dk1"/>
                </a:solidFill>
              </a:rPr>
            </a:br>
            <a:br>
              <a:rPr lang="en" sz="1400">
                <a:solidFill>
                  <a:schemeClr val="dk1"/>
                </a:solidFill>
              </a:rPr>
            </a:br>
            <a:r>
              <a:rPr lang="en" sz="1400">
                <a:solidFill>
                  <a:schemeClr val="dk1"/>
                </a:solidFill>
              </a:rPr>
              <a:t>These sampling errors can be controlled and eliminated by creating a careful sample design, having a large enough sample to reflect the entire population, or using an online sample or survey audiences to collect responses.</a:t>
            </a:r>
            <a:endParaRPr sz="1400">
              <a:solidFill>
                <a:schemeClr val="dk1"/>
              </a:solidFill>
            </a:endParaRPr>
          </a:p>
          <a:p>
            <a:pPr indent="0" lvl="0" marL="0" rtl="0" algn="l">
              <a:spcBef>
                <a:spcPts val="1400"/>
              </a:spcBef>
              <a:spcAft>
                <a:spcPts val="1200"/>
              </a:spcAft>
              <a:buNone/>
            </a:pPr>
            <a:r>
              <a:t/>
            </a:r>
            <a:endParaRPr sz="2100"/>
          </a:p>
        </p:txBody>
      </p:sp>
      <p:sp>
        <p:nvSpPr>
          <p:cNvPr id="121" name="Google Shape;121;p23"/>
          <p:cNvSpPr txBox="1"/>
          <p:nvPr/>
        </p:nvSpPr>
        <p:spPr>
          <a:xfrm>
            <a:off x="228600" y="152400"/>
            <a:ext cx="43509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 sz="1900">
                <a:solidFill>
                  <a:schemeClr val="dk1"/>
                </a:solidFill>
              </a:rPr>
              <a:t>Types of common sampling error</a:t>
            </a:r>
            <a:endParaRPr b="1" sz="19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990"/>
              <a:buFont typeface="Arial"/>
              <a:buNone/>
            </a:pPr>
            <a:r>
              <a:rPr b="1" lang="en" sz="1929"/>
              <a:t>Absolute Error and Relative errors</a:t>
            </a:r>
            <a:endParaRPr b="1" sz="1929"/>
          </a:p>
          <a:p>
            <a:pPr indent="0" lvl="0" marL="0" rtl="0" algn="l">
              <a:spcBef>
                <a:spcPts val="400"/>
              </a:spcBef>
              <a:spcAft>
                <a:spcPts val="0"/>
              </a:spcAft>
              <a:buSzPts val="990"/>
              <a:buNone/>
            </a:pPr>
            <a:r>
              <a:t/>
            </a:r>
            <a:endParaRPr sz="2920"/>
          </a:p>
        </p:txBody>
      </p:sp>
      <p:sp>
        <p:nvSpPr>
          <p:cNvPr id="127" name="Google Shape;127;p24"/>
          <p:cNvSpPr txBox="1"/>
          <p:nvPr>
            <p:ph idx="1" type="body"/>
          </p:nvPr>
        </p:nvSpPr>
        <p:spPr>
          <a:xfrm>
            <a:off x="438550" y="1106350"/>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800"/>
              </a:spcBef>
              <a:spcAft>
                <a:spcPts val="0"/>
              </a:spcAft>
              <a:buClr>
                <a:schemeClr val="dk1"/>
              </a:buClr>
              <a:buSzPts val="770"/>
              <a:buFont typeface="Arial"/>
              <a:buNone/>
            </a:pPr>
            <a:r>
              <a:rPr b="1" lang="en" sz="1590">
                <a:solidFill>
                  <a:schemeClr val="dk1"/>
                </a:solidFill>
              </a:rPr>
              <a:t>Absolute Error</a:t>
            </a:r>
            <a:endParaRPr b="1" sz="1590">
              <a:solidFill>
                <a:schemeClr val="dk1"/>
              </a:solidFill>
            </a:endParaRPr>
          </a:p>
          <a:p>
            <a:pPr indent="0" lvl="0" marL="0" rtl="0" algn="l">
              <a:lnSpc>
                <a:spcPct val="95000"/>
              </a:lnSpc>
              <a:spcBef>
                <a:spcPts val="400"/>
              </a:spcBef>
              <a:spcAft>
                <a:spcPts val="0"/>
              </a:spcAft>
              <a:buSzPts val="770"/>
              <a:buNone/>
            </a:pPr>
            <a:r>
              <a:rPr lang="en" sz="1660">
                <a:solidFill>
                  <a:schemeClr val="dk1"/>
                </a:solidFill>
              </a:rPr>
              <a:t>The absolute error is the difference between the measured value and the actual value. </a:t>
            </a:r>
            <a:endParaRPr sz="1660">
              <a:solidFill>
                <a:schemeClr val="dk1"/>
              </a:solidFill>
            </a:endParaRPr>
          </a:p>
          <a:p>
            <a:pPr indent="0" lvl="0" marL="0" rtl="0" algn="l">
              <a:lnSpc>
                <a:spcPct val="95000"/>
              </a:lnSpc>
              <a:spcBef>
                <a:spcPts val="1400"/>
              </a:spcBef>
              <a:spcAft>
                <a:spcPts val="0"/>
              </a:spcAft>
              <a:buClr>
                <a:schemeClr val="dk1"/>
              </a:buClr>
              <a:buSzPts val="770"/>
              <a:buFont typeface="Arial"/>
              <a:buNone/>
            </a:pPr>
            <a:r>
              <a:rPr lang="en" sz="1660">
                <a:solidFill>
                  <a:schemeClr val="dk1"/>
                </a:solidFill>
              </a:rPr>
              <a:t>The absolute error value can be determined using the formula if ‘a’ is the actual value of a quantity and ‘e’ is the measured/estimated value of the quantity.</a:t>
            </a:r>
            <a:endParaRPr sz="1660">
              <a:solidFill>
                <a:schemeClr val="dk1"/>
              </a:solidFill>
            </a:endParaRPr>
          </a:p>
          <a:p>
            <a:pPr indent="0" lvl="0" marL="0" rtl="0" algn="l">
              <a:lnSpc>
                <a:spcPct val="95000"/>
              </a:lnSpc>
              <a:spcBef>
                <a:spcPts val="1400"/>
              </a:spcBef>
              <a:spcAft>
                <a:spcPts val="0"/>
              </a:spcAft>
              <a:buClr>
                <a:schemeClr val="dk1"/>
              </a:buClr>
              <a:buSzPts val="770"/>
              <a:buFont typeface="Arial"/>
              <a:buNone/>
            </a:pPr>
            <a:r>
              <a:rPr lang="en" sz="1660">
                <a:solidFill>
                  <a:schemeClr val="dk1"/>
                </a:solidFill>
              </a:rPr>
              <a:t>absolute error =a-e</a:t>
            </a:r>
            <a:r>
              <a:rPr lang="en" sz="1660">
                <a:solidFill>
                  <a:schemeClr val="dk1"/>
                </a:solidFill>
              </a:rPr>
              <a:t>.</a:t>
            </a:r>
            <a:endParaRPr sz="1660">
              <a:solidFill>
                <a:schemeClr val="dk1"/>
              </a:solidFill>
            </a:endParaRPr>
          </a:p>
          <a:p>
            <a:pPr indent="0" lvl="0" marL="0" rtl="0" algn="l">
              <a:lnSpc>
                <a:spcPct val="95000"/>
              </a:lnSpc>
              <a:spcBef>
                <a:spcPts val="1400"/>
              </a:spcBef>
              <a:spcAft>
                <a:spcPts val="0"/>
              </a:spcAft>
              <a:buSzPts val="770"/>
              <a:buNone/>
            </a:pPr>
            <a:r>
              <a:rPr lang="en" sz="1660">
                <a:solidFill>
                  <a:schemeClr val="dk1"/>
                </a:solidFill>
              </a:rPr>
              <a:t>For example, if you measure the length of a room and get a measurement of 10 feet, but the true length of the room is 12 feet, then the absolute error is 2 feet.</a:t>
            </a:r>
            <a:endParaRPr sz="1660">
              <a:solidFill>
                <a:schemeClr val="dk1"/>
              </a:solidFill>
            </a:endParaRPr>
          </a:p>
          <a:p>
            <a:pPr indent="0" lvl="0" marL="0" rtl="0" algn="l">
              <a:lnSpc>
                <a:spcPct val="95000"/>
              </a:lnSpc>
              <a:spcBef>
                <a:spcPts val="1400"/>
              </a:spcBef>
              <a:spcAft>
                <a:spcPts val="0"/>
              </a:spcAft>
              <a:buClr>
                <a:schemeClr val="dk1"/>
              </a:buClr>
              <a:buSzPts val="770"/>
              <a:buFont typeface="Arial"/>
              <a:buNone/>
            </a:pPr>
            <a:r>
              <a:rPr lang="en" sz="1660">
                <a:solidFill>
                  <a:schemeClr val="dk1"/>
                </a:solidFill>
              </a:rPr>
              <a:t>For example: Suppose that the actual value of a measurement is 10.25 cm and the measured value of that measurement is 11.05 cm.</a:t>
            </a:r>
            <a:endParaRPr sz="1660">
              <a:solidFill>
                <a:schemeClr val="dk1"/>
              </a:solidFill>
            </a:endParaRPr>
          </a:p>
          <a:p>
            <a:pPr indent="0" lvl="0" marL="0" rtl="0" algn="l">
              <a:lnSpc>
                <a:spcPct val="95000"/>
              </a:lnSpc>
              <a:spcBef>
                <a:spcPts val="1400"/>
              </a:spcBef>
              <a:spcAft>
                <a:spcPts val="0"/>
              </a:spcAft>
              <a:buClr>
                <a:schemeClr val="dk1"/>
              </a:buClr>
              <a:buSzPts val="770"/>
              <a:buFont typeface="Arial"/>
              <a:buNone/>
            </a:pPr>
            <a:r>
              <a:rPr lang="en" sz="1660">
                <a:solidFill>
                  <a:schemeClr val="dk1"/>
                </a:solidFill>
              </a:rPr>
              <a:t>Then, the value of absolute error is |a – e| i.e. |11.05-10.25|= 0.80 cm.</a:t>
            </a:r>
            <a:endParaRPr sz="1660">
              <a:solidFill>
                <a:schemeClr val="dk1"/>
              </a:solidFill>
            </a:endParaRPr>
          </a:p>
          <a:p>
            <a:pPr indent="0" lvl="0" marL="0" rtl="0" algn="l">
              <a:lnSpc>
                <a:spcPct val="95000"/>
              </a:lnSpc>
              <a:spcBef>
                <a:spcPts val="1400"/>
              </a:spcBef>
              <a:spcAft>
                <a:spcPts val="1200"/>
              </a:spcAft>
              <a:buSzPts val="770"/>
              <a:buNone/>
            </a:pPr>
            <a:r>
              <a:t/>
            </a:r>
            <a:endParaRPr sz="166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idx="1" type="body"/>
          </p:nvPr>
        </p:nvSpPr>
        <p:spPr>
          <a:xfrm>
            <a:off x="311700" y="1152475"/>
            <a:ext cx="8520600" cy="3990900"/>
          </a:xfrm>
          <a:prstGeom prst="rect">
            <a:avLst/>
          </a:prstGeom>
        </p:spPr>
        <p:txBody>
          <a:bodyPr anchorCtr="0" anchor="t" bIns="91425" lIns="91425" spcFirstLastPara="1" rIns="91425" wrap="square" tIns="91425">
            <a:normAutofit fontScale="92500" lnSpcReduction="20000"/>
          </a:bodyPr>
          <a:lstStyle/>
          <a:p>
            <a:pPr indent="0" lvl="0" marL="0" rtl="0" algn="l">
              <a:spcBef>
                <a:spcPts val="1800"/>
              </a:spcBef>
              <a:spcAft>
                <a:spcPts val="0"/>
              </a:spcAft>
              <a:buClr>
                <a:schemeClr val="dk1"/>
              </a:buClr>
              <a:buSzPct val="64705"/>
              <a:buFont typeface="Arial"/>
              <a:buNone/>
            </a:pPr>
            <a:r>
              <a:rPr b="1" lang="en" sz="1700">
                <a:solidFill>
                  <a:schemeClr val="dk1"/>
                </a:solidFill>
              </a:rPr>
              <a:t>Relative Error</a:t>
            </a:r>
            <a:endParaRPr b="1" sz="1700">
              <a:solidFill>
                <a:schemeClr val="dk1"/>
              </a:solidFill>
            </a:endParaRPr>
          </a:p>
          <a:p>
            <a:pPr indent="0" lvl="0" marL="0" rtl="0" algn="l">
              <a:spcBef>
                <a:spcPts val="400"/>
              </a:spcBef>
              <a:spcAft>
                <a:spcPts val="0"/>
              </a:spcAft>
              <a:buNone/>
            </a:pPr>
            <a:r>
              <a:rPr lang="en">
                <a:solidFill>
                  <a:schemeClr val="dk1"/>
                </a:solidFill>
              </a:rPr>
              <a:t>Relative error is a measure of the size of the error in a measurement relative to the size of the measurement itself. Relative error is always expressed as a percentage.</a:t>
            </a:r>
            <a:endParaRPr>
              <a:solidFill>
                <a:schemeClr val="dk1"/>
              </a:solidFill>
            </a:endParaRPr>
          </a:p>
          <a:p>
            <a:pPr indent="-293211" lvl="0" marL="457200" rtl="0" algn="l">
              <a:spcBef>
                <a:spcPts val="1400"/>
              </a:spcBef>
              <a:spcAft>
                <a:spcPts val="0"/>
              </a:spcAft>
              <a:buClr>
                <a:schemeClr val="dk1"/>
              </a:buClr>
              <a:buSzPct val="61111"/>
              <a:buChar char="●"/>
            </a:pPr>
            <a:r>
              <a:rPr lang="en">
                <a:solidFill>
                  <a:schemeClr val="dk1"/>
                </a:solidFill>
              </a:rPr>
              <a:t>Relative Error is defined as the difference between the true value and the estimated value, divided by the true value.</a:t>
            </a:r>
            <a:endParaRPr>
              <a:solidFill>
                <a:schemeClr val="dk1"/>
              </a:solidFill>
            </a:endParaRPr>
          </a:p>
          <a:p>
            <a:pPr indent="-293211" lvl="0" marL="457200" rtl="0" algn="l">
              <a:spcBef>
                <a:spcPts val="0"/>
              </a:spcBef>
              <a:spcAft>
                <a:spcPts val="0"/>
              </a:spcAft>
              <a:buClr>
                <a:schemeClr val="dk1"/>
              </a:buClr>
              <a:buSzPct val="61111"/>
              <a:buChar char="●"/>
            </a:pPr>
            <a:r>
              <a:rPr lang="en">
                <a:solidFill>
                  <a:schemeClr val="dk1"/>
                </a:solidFill>
              </a:rPr>
              <a:t>The relative error is always between 0 and 1.</a:t>
            </a:r>
            <a:endParaRPr>
              <a:solidFill>
                <a:schemeClr val="dk1"/>
              </a:solidFill>
            </a:endParaRPr>
          </a:p>
          <a:p>
            <a:pPr indent="0" lvl="0" marL="0" rtl="0" algn="l">
              <a:spcBef>
                <a:spcPts val="1400"/>
              </a:spcBef>
              <a:spcAft>
                <a:spcPts val="0"/>
              </a:spcAft>
              <a:buNone/>
            </a:pPr>
            <a:r>
              <a:rPr lang="en">
                <a:solidFill>
                  <a:schemeClr val="dk1"/>
                </a:solidFill>
              </a:rPr>
              <a:t>relative error = absolute error / actual value= (a-e)/a</a:t>
            </a:r>
            <a:endParaRPr>
              <a:solidFill>
                <a:schemeClr val="dk1"/>
              </a:solidFill>
            </a:endParaRPr>
          </a:p>
          <a:p>
            <a:pPr indent="0" lvl="0" marL="0" rtl="0" algn="l">
              <a:spcBef>
                <a:spcPts val="1200"/>
              </a:spcBef>
              <a:spcAft>
                <a:spcPts val="0"/>
              </a:spcAft>
              <a:buClr>
                <a:schemeClr val="dk1"/>
              </a:buClr>
              <a:buSzPct val="61111"/>
              <a:buFont typeface="Arial"/>
              <a:buNone/>
            </a:pPr>
            <a:r>
              <a:rPr lang="en">
                <a:solidFill>
                  <a:schemeClr val="dk1"/>
                </a:solidFill>
              </a:rPr>
              <a:t>suppose that an eraser’s true length is 35 mm and the measured length of the eraser is 34.13 mm. The absolute inaccuracy is now (0.87 mm) = (35-34.13) mm.</a:t>
            </a:r>
            <a:endParaRPr>
              <a:solidFill>
                <a:schemeClr val="dk1"/>
              </a:solidFill>
            </a:endParaRPr>
          </a:p>
          <a:p>
            <a:pPr indent="0" lvl="0" marL="0" rtl="0" algn="l">
              <a:spcBef>
                <a:spcPts val="1400"/>
              </a:spcBef>
              <a:spcAft>
                <a:spcPts val="0"/>
              </a:spcAft>
              <a:buClr>
                <a:schemeClr val="dk1"/>
              </a:buClr>
              <a:buSzPct val="61111"/>
              <a:buFont typeface="Arial"/>
              <a:buNone/>
            </a:pPr>
            <a:r>
              <a:rPr lang="en">
                <a:solidFill>
                  <a:schemeClr val="dk1"/>
                </a:solidFill>
              </a:rPr>
              <a:t>As a result, the relative error equals to absolute error/actual length= 0.87/35= 0.02485.</a:t>
            </a:r>
            <a:endParaRPr>
              <a:solidFill>
                <a:schemeClr val="dk1"/>
              </a:solidFill>
            </a:endParaRPr>
          </a:p>
          <a:p>
            <a:pPr indent="0" lvl="0" marL="0" rtl="0" algn="l">
              <a:spcBef>
                <a:spcPts val="1400"/>
              </a:spcBef>
              <a:spcAft>
                <a:spcPts val="1200"/>
              </a:spcAft>
              <a:buNone/>
            </a:pPr>
            <a:r>
              <a:t/>
            </a:r>
            <a:endParaRPr>
              <a:solidFill>
                <a:schemeClr val="dk1"/>
              </a:solidFill>
            </a:endParaRPr>
          </a:p>
        </p:txBody>
      </p:sp>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SzPts val="990"/>
              <a:buNone/>
            </a:pPr>
            <a:r>
              <a:rPr b="1" lang="en" sz="1929"/>
              <a:t>Absolute Error and Relative errors</a:t>
            </a:r>
            <a:endParaRPr b="1" sz="1929"/>
          </a:p>
          <a:p>
            <a:pPr indent="0" lvl="0" marL="0" rtl="0" algn="l">
              <a:spcBef>
                <a:spcPts val="400"/>
              </a:spcBef>
              <a:spcAft>
                <a:spcPts val="0"/>
              </a:spcAft>
              <a:buSzPts val="990"/>
              <a:buNone/>
            </a:pPr>
            <a:r>
              <a:t/>
            </a:r>
            <a:endParaRPr sz="292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n" sz="1900"/>
              <a:t>Systematic sampling</a:t>
            </a:r>
            <a:endParaRPr sz="3600"/>
          </a:p>
        </p:txBody>
      </p:sp>
      <p:sp>
        <p:nvSpPr>
          <p:cNvPr id="139" name="Google Shape;139;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Systematic sampling</a:t>
            </a:r>
            <a:r>
              <a:rPr lang="en">
                <a:solidFill>
                  <a:schemeClr val="dk1"/>
                </a:solidFill>
              </a:rPr>
              <a:t> is a type of probability sampling that selects items of data at regular intervals from a population.</a:t>
            </a:r>
            <a:endParaRPr>
              <a:solidFill>
                <a:schemeClr val="dk1"/>
              </a:solidFill>
            </a:endParaRPr>
          </a:p>
          <a:p>
            <a:pPr indent="0" lvl="0" marL="0" rtl="0" algn="l">
              <a:spcBef>
                <a:spcPts val="1800"/>
              </a:spcBef>
              <a:spcAft>
                <a:spcPts val="0"/>
              </a:spcAft>
              <a:buNone/>
            </a:pPr>
            <a:r>
              <a:rPr b="1" lang="en">
                <a:solidFill>
                  <a:schemeClr val="dk1"/>
                </a:solidFill>
              </a:rPr>
              <a:t>sampling interval/sampling ratio (k)</a:t>
            </a:r>
            <a:endParaRPr b="1">
              <a:solidFill>
                <a:schemeClr val="dk1"/>
              </a:solidFill>
            </a:endParaRPr>
          </a:p>
          <a:p>
            <a:pPr indent="0" lvl="0" marL="0" rtl="0" algn="l">
              <a:spcBef>
                <a:spcPts val="400"/>
              </a:spcBef>
              <a:spcAft>
                <a:spcPts val="1200"/>
              </a:spcAft>
              <a:buNone/>
            </a:pPr>
            <a:r>
              <a:rPr lang="en">
                <a:solidFill>
                  <a:schemeClr val="dk1"/>
                </a:solidFill>
              </a:rPr>
              <a:t> </a:t>
            </a:r>
            <a:endParaRPr/>
          </a:p>
        </p:txBody>
      </p:sp>
      <p:pic>
        <p:nvPicPr>
          <p:cNvPr id="140" name="Google Shape;140;p26"/>
          <p:cNvPicPr preferRelativeResize="0"/>
          <p:nvPr/>
        </p:nvPicPr>
        <p:blipFill>
          <a:blip r:embed="rId3">
            <a:alphaModFix/>
          </a:blip>
          <a:stretch>
            <a:fillRect/>
          </a:stretch>
        </p:blipFill>
        <p:spPr>
          <a:xfrm>
            <a:off x="3086100" y="2441200"/>
            <a:ext cx="2971800" cy="676275"/>
          </a:xfrm>
          <a:prstGeom prst="rect">
            <a:avLst/>
          </a:prstGeom>
          <a:noFill/>
          <a:ln>
            <a:noFill/>
          </a:ln>
        </p:spPr>
      </p:pic>
      <p:sp>
        <p:nvSpPr>
          <p:cNvPr id="141" name="Google Shape;141;p26"/>
          <p:cNvSpPr txBox="1"/>
          <p:nvPr/>
        </p:nvSpPr>
        <p:spPr>
          <a:xfrm>
            <a:off x="580200" y="3059800"/>
            <a:ext cx="7703100" cy="112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sz="1500"/>
              <a:t>E.g.</a:t>
            </a:r>
            <a:endParaRPr sz="1500"/>
          </a:p>
          <a:p>
            <a:pPr indent="0" lvl="0" marL="0" rtl="0" algn="l">
              <a:lnSpc>
                <a:spcPct val="115000"/>
              </a:lnSpc>
              <a:spcBef>
                <a:spcPts val="1400"/>
              </a:spcBef>
              <a:spcAft>
                <a:spcPts val="1400"/>
              </a:spcAft>
              <a:buNone/>
            </a:pPr>
            <a:r>
              <a:rPr lang="en" sz="1500"/>
              <a:t>If the population size is 1200 and the desired sample size is 400 items of data, we divide 1200 by 400 to get an interval of 3.</a:t>
            </a:r>
            <a:endParaRPr sz="1500"/>
          </a:p>
        </p:txBody>
      </p:sp>
      <p:sp>
        <p:nvSpPr>
          <p:cNvPr id="142" name="Google Shape;142;p26"/>
          <p:cNvSpPr txBox="1"/>
          <p:nvPr/>
        </p:nvSpPr>
        <p:spPr>
          <a:xfrm>
            <a:off x="580200" y="4227550"/>
            <a:ext cx="7983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t>This means that every 3rd item of data in the ordered list is selected for the sample.</a:t>
            </a:r>
            <a:endParaRPr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2259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120"/>
              <a:t>MEASURES of CENTRAL TENDENCY</a:t>
            </a:r>
            <a:endParaRPr b="1" sz="2120"/>
          </a:p>
        </p:txBody>
      </p:sp>
      <p:sp>
        <p:nvSpPr>
          <p:cNvPr id="148" name="Google Shape;148;p27"/>
          <p:cNvSpPr txBox="1"/>
          <p:nvPr>
            <p:ph idx="1" type="body"/>
          </p:nvPr>
        </p:nvSpPr>
        <p:spPr>
          <a:xfrm>
            <a:off x="242500" y="6948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A measure of central tendency is a number that represents the typical value in a collection of numbers. Three familiar measures of central tendency are the mean, the median, and the mode.</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n">
                <a:solidFill>
                  <a:schemeClr val="dk1"/>
                </a:solidFill>
                <a:latin typeface="Times New Roman"/>
                <a:ea typeface="Times New Roman"/>
                <a:cs typeface="Times New Roman"/>
                <a:sym typeface="Times New Roman"/>
              </a:rPr>
              <a:t>We will let n represent the number of data points in the distribution. The</a:t>
            </a:r>
            <a:endParaRPr>
              <a:solidFill>
                <a:schemeClr val="dk1"/>
              </a:solidFill>
              <a:latin typeface="Times New Roman"/>
              <a:ea typeface="Times New Roman"/>
              <a:cs typeface="Times New Roman"/>
              <a:sym typeface="Times New Roman"/>
            </a:endParaRPr>
          </a:p>
        </p:txBody>
      </p:sp>
      <p:pic>
        <p:nvPicPr>
          <p:cNvPr id="149" name="Google Shape;149;p27"/>
          <p:cNvPicPr preferRelativeResize="0"/>
          <p:nvPr/>
        </p:nvPicPr>
        <p:blipFill>
          <a:blip r:embed="rId3">
            <a:alphaModFix/>
          </a:blip>
          <a:stretch>
            <a:fillRect/>
          </a:stretch>
        </p:blipFill>
        <p:spPr>
          <a:xfrm>
            <a:off x="454675" y="2184613"/>
            <a:ext cx="8096250" cy="2486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Compute the mean, median and mode for the following DAM STATISTICS</a:t>
            </a:r>
            <a:endParaRPr/>
          </a:p>
        </p:txBody>
      </p:sp>
      <p:pic>
        <p:nvPicPr>
          <p:cNvPr id="155" name="Google Shape;155;p28"/>
          <p:cNvPicPr preferRelativeResize="0"/>
          <p:nvPr/>
        </p:nvPicPr>
        <p:blipFill>
          <a:blip r:embed="rId3">
            <a:alphaModFix/>
          </a:blip>
          <a:stretch>
            <a:fillRect/>
          </a:stretch>
        </p:blipFill>
        <p:spPr>
          <a:xfrm>
            <a:off x="240600" y="1701025"/>
            <a:ext cx="3524250" cy="2438400"/>
          </a:xfrm>
          <a:prstGeom prst="rect">
            <a:avLst/>
          </a:prstGeom>
          <a:noFill/>
          <a:ln>
            <a:noFill/>
          </a:ln>
        </p:spPr>
      </p:pic>
      <p:sp>
        <p:nvSpPr>
          <p:cNvPr id="156" name="Google Shape;156;p28"/>
          <p:cNvSpPr txBox="1"/>
          <p:nvPr/>
        </p:nvSpPr>
        <p:spPr>
          <a:xfrm>
            <a:off x="3926300" y="1752925"/>
            <a:ext cx="4657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MEAN = (756 + 726 + 710 + 568 + 564 + 440 + 440)/7</a:t>
            </a:r>
            <a:endParaRPr/>
          </a:p>
          <a:p>
            <a:pPr indent="0" lvl="0" marL="0" rtl="0" algn="l">
              <a:spcBef>
                <a:spcPts val="0"/>
              </a:spcBef>
              <a:spcAft>
                <a:spcPts val="0"/>
              </a:spcAft>
              <a:buNone/>
            </a:pPr>
            <a:r>
              <a:rPr lang="en"/>
              <a:t>= 4204/7 = 600.57</a:t>
            </a:r>
            <a:endParaRPr/>
          </a:p>
        </p:txBody>
      </p:sp>
      <p:sp>
        <p:nvSpPr>
          <p:cNvPr id="157" name="Google Shape;157;p28"/>
          <p:cNvSpPr txBox="1"/>
          <p:nvPr/>
        </p:nvSpPr>
        <p:spPr>
          <a:xfrm>
            <a:off x="3681950" y="2571750"/>
            <a:ext cx="50397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In order to find the median we must first list the data points in numerical order:</a:t>
            </a:r>
            <a:endParaRPr/>
          </a:p>
          <a:p>
            <a:pPr indent="0" lvl="0" marL="0" rtl="0" algn="l">
              <a:spcBef>
                <a:spcPts val="0"/>
              </a:spcBef>
              <a:spcAft>
                <a:spcPts val="0"/>
              </a:spcAft>
              <a:buNone/>
            </a:pPr>
            <a:r>
              <a:rPr lang="en"/>
              <a:t>756, 726, 710, 568, 564, 440, 440</a:t>
            </a:r>
            <a:endParaRPr/>
          </a:p>
          <a:p>
            <a:pPr indent="0" lvl="0" marL="0" rtl="0" algn="l">
              <a:spcBef>
                <a:spcPts val="0"/>
              </a:spcBef>
              <a:spcAft>
                <a:spcPts val="0"/>
              </a:spcAft>
              <a:buNone/>
            </a:pPr>
            <a:r>
              <a:rPr lang="en"/>
              <a:t>Now we choose the number in the middle of the list.</a:t>
            </a:r>
            <a:endParaRPr/>
          </a:p>
          <a:p>
            <a:pPr indent="0" lvl="0" marL="0" rtl="0" algn="l">
              <a:spcBef>
                <a:spcPts val="0"/>
              </a:spcBef>
              <a:spcAft>
                <a:spcPts val="0"/>
              </a:spcAft>
              <a:buNone/>
            </a:pPr>
            <a:r>
              <a:rPr lang="en"/>
              <a:t>756, 726, 710, </a:t>
            </a:r>
            <a:r>
              <a:rPr b="1" lang="en"/>
              <a:t>568</a:t>
            </a:r>
            <a:r>
              <a:rPr lang="en"/>
              <a:t>, 564, 440, 440</a:t>
            </a:r>
            <a:endParaRPr/>
          </a:p>
          <a:p>
            <a:pPr indent="0" lvl="0" marL="0" rtl="0" algn="l">
              <a:spcBef>
                <a:spcPts val="0"/>
              </a:spcBef>
              <a:spcAft>
                <a:spcPts val="0"/>
              </a:spcAft>
              <a:buNone/>
            </a:pPr>
            <a:r>
              <a:rPr lang="en"/>
              <a:t>The median is 568.</a:t>
            </a:r>
            <a:endParaRPr/>
          </a:p>
        </p:txBody>
      </p:sp>
      <p:sp>
        <p:nvSpPr>
          <p:cNvPr id="158" name="Google Shape;158;p28"/>
          <p:cNvSpPr txBox="1"/>
          <p:nvPr/>
        </p:nvSpPr>
        <p:spPr>
          <a:xfrm>
            <a:off x="3792425" y="3967175"/>
            <a:ext cx="5039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Since the number 440 occurs more often than any of the other numbers on this list, the mode is 440.</a:t>
            </a:r>
            <a:endParaRPr/>
          </a:p>
        </p:txBody>
      </p:sp>
      <p:sp>
        <p:nvSpPr>
          <p:cNvPr id="159" name="Google Shape;159;p28"/>
          <p:cNvSpPr txBox="1"/>
          <p:nvPr>
            <p:ph type="title"/>
          </p:nvPr>
        </p:nvSpPr>
        <p:spPr>
          <a:xfrm>
            <a:off x="311700" y="2259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120"/>
              <a:t>MEASURES of CENTRAL TENDENCY</a:t>
            </a:r>
            <a:endParaRPr b="1" sz="212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1"/>
              </a:buClr>
              <a:buSzPts val="990"/>
              <a:buFont typeface="Arial"/>
              <a:buNone/>
            </a:pPr>
            <a:r>
              <a:rPr b="1" lang="en" sz="2170"/>
              <a:t>Quartiles &amp; Quantiles</a:t>
            </a:r>
            <a:endParaRPr b="1" sz="2170"/>
          </a:p>
          <a:p>
            <a:pPr indent="0" lvl="0" marL="0" rtl="0" algn="l">
              <a:spcBef>
                <a:spcPts val="600"/>
              </a:spcBef>
              <a:spcAft>
                <a:spcPts val="0"/>
              </a:spcAft>
              <a:buSzPts val="990"/>
              <a:buNone/>
            </a:pPr>
            <a:r>
              <a:t/>
            </a:r>
            <a:endParaRPr sz="2620"/>
          </a:p>
        </p:txBody>
      </p:sp>
      <p:sp>
        <p:nvSpPr>
          <p:cNvPr id="165" name="Google Shape;16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chemeClr val="dk1"/>
                </a:solidFill>
              </a:rPr>
              <a:t>Quartiles </a:t>
            </a:r>
            <a:r>
              <a:rPr lang="en" sz="1200">
                <a:solidFill>
                  <a:schemeClr val="dk1"/>
                </a:solidFill>
              </a:rPr>
              <a:t>are three values that split sorted data into four parts, each with an equal number of observations. Quartiles are a type of </a:t>
            </a:r>
            <a:r>
              <a:rPr b="1" lang="en" sz="1200">
                <a:solidFill>
                  <a:schemeClr val="dk1"/>
                </a:solidFill>
              </a:rPr>
              <a:t>quantile</a:t>
            </a:r>
            <a:r>
              <a:rPr lang="en" sz="1200">
                <a:solidFill>
                  <a:schemeClr val="dk1"/>
                </a:solidFill>
              </a:rPr>
              <a:t>.</a:t>
            </a:r>
            <a:endParaRPr sz="1200">
              <a:solidFill>
                <a:schemeClr val="dk1"/>
              </a:solidFill>
            </a:endParaRPr>
          </a:p>
          <a:p>
            <a:pPr indent="-304800" lvl="0" marL="457200" rtl="0" algn="l">
              <a:spcBef>
                <a:spcPts val="1400"/>
              </a:spcBef>
              <a:spcAft>
                <a:spcPts val="0"/>
              </a:spcAft>
              <a:buClr>
                <a:schemeClr val="dk1"/>
              </a:buClr>
              <a:buSzPts val="1200"/>
              <a:buChar char="●"/>
            </a:pPr>
            <a:r>
              <a:rPr lang="en" sz="1200">
                <a:solidFill>
                  <a:schemeClr val="dk1"/>
                </a:solidFill>
              </a:rPr>
              <a:t>The</a:t>
            </a:r>
            <a:r>
              <a:rPr b="1" lang="en" sz="1200">
                <a:solidFill>
                  <a:schemeClr val="dk1"/>
                </a:solidFill>
              </a:rPr>
              <a:t> first quartile</a:t>
            </a:r>
            <a:r>
              <a:rPr lang="en" sz="1200">
                <a:solidFill>
                  <a:schemeClr val="dk1"/>
                </a:solidFill>
              </a:rPr>
              <a:t> (Q1, or the lowest quartile) is the 25th percentile, meaning that 25% of the data falls below the first quartile.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The </a:t>
            </a:r>
            <a:r>
              <a:rPr b="1" lang="en" sz="1200">
                <a:solidFill>
                  <a:schemeClr val="dk1"/>
                </a:solidFill>
              </a:rPr>
              <a:t>second quartile </a:t>
            </a:r>
            <a:r>
              <a:rPr lang="en" sz="1200">
                <a:solidFill>
                  <a:schemeClr val="dk1"/>
                </a:solidFill>
              </a:rPr>
              <a:t>(Q2, or the median) is the 50th percentile, meaning that 50% of the data falls below the second quartile.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The </a:t>
            </a:r>
            <a:r>
              <a:rPr b="1" lang="en" sz="1200">
                <a:solidFill>
                  <a:schemeClr val="dk1"/>
                </a:solidFill>
              </a:rPr>
              <a:t>third quartile</a:t>
            </a:r>
            <a:r>
              <a:rPr lang="en" sz="1200">
                <a:solidFill>
                  <a:schemeClr val="dk1"/>
                </a:solidFill>
              </a:rPr>
              <a:t> (Q3, or the upper quartile) is the 75th percentile, meaning that 75% of the data falls below the third quartile.</a:t>
            </a:r>
            <a:endParaRPr sz="1200">
              <a:solidFill>
                <a:schemeClr val="dk1"/>
              </a:solidFill>
            </a:endParaRPr>
          </a:p>
          <a:p>
            <a:pPr indent="0" lvl="0" marL="457200" rtl="0" algn="l">
              <a:spcBef>
                <a:spcPts val="1400"/>
              </a:spcBef>
              <a:spcAft>
                <a:spcPts val="0"/>
              </a:spcAft>
              <a:buNone/>
            </a:pPr>
            <a:r>
              <a:t/>
            </a:r>
            <a:endParaRPr b="1" sz="1200">
              <a:solidFill>
                <a:schemeClr val="dk1"/>
              </a:solidFill>
            </a:endParaRPr>
          </a:p>
          <a:p>
            <a:pPr indent="0" lvl="0" marL="0" rtl="0" algn="l">
              <a:spcBef>
                <a:spcPts val="1400"/>
              </a:spcBef>
              <a:spcAft>
                <a:spcPts val="1200"/>
              </a:spcAft>
              <a:buNone/>
            </a:pPr>
            <a:r>
              <a:t/>
            </a:r>
            <a:endParaRPr sz="1200">
              <a:solidFill>
                <a:schemeClr val="dk1"/>
              </a:solidFill>
            </a:endParaRPr>
          </a:p>
        </p:txBody>
      </p:sp>
      <p:pic>
        <p:nvPicPr>
          <p:cNvPr id="166" name="Google Shape;166;p29"/>
          <p:cNvPicPr preferRelativeResize="0"/>
          <p:nvPr/>
        </p:nvPicPr>
        <p:blipFill>
          <a:blip r:embed="rId3">
            <a:alphaModFix/>
          </a:blip>
          <a:stretch>
            <a:fillRect/>
          </a:stretch>
        </p:blipFill>
        <p:spPr>
          <a:xfrm>
            <a:off x="1539223" y="3363947"/>
            <a:ext cx="5917178" cy="1585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idx="1" type="body"/>
          </p:nvPr>
        </p:nvSpPr>
        <p:spPr>
          <a:xfrm>
            <a:off x="118400" y="600525"/>
            <a:ext cx="8764500" cy="46263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1100"/>
              <a:buFont typeface="Arial"/>
              <a:buNone/>
            </a:pPr>
            <a:r>
              <a:rPr lang="en" sz="1200">
                <a:solidFill>
                  <a:schemeClr val="dk1"/>
                </a:solidFill>
              </a:rPr>
              <a:t>By splitting the data at the 25th, 50th, and 75th percentiles, the quartiles divide the data into four equal parts.</a:t>
            </a:r>
            <a:endParaRPr sz="1200">
              <a:solidFill>
                <a:schemeClr val="dk1"/>
              </a:solidFill>
            </a:endParaRPr>
          </a:p>
          <a:p>
            <a:pPr indent="-304800" lvl="0" marL="457200" rtl="0" algn="l">
              <a:lnSpc>
                <a:spcPct val="95000"/>
              </a:lnSpc>
              <a:spcBef>
                <a:spcPts val="1400"/>
              </a:spcBef>
              <a:spcAft>
                <a:spcPts val="0"/>
              </a:spcAft>
              <a:buClr>
                <a:schemeClr val="dk1"/>
              </a:buClr>
              <a:buSzPts val="1200"/>
              <a:buChar char="●"/>
            </a:pPr>
            <a:r>
              <a:rPr lang="en" sz="1200">
                <a:solidFill>
                  <a:schemeClr val="dk1"/>
                </a:solidFill>
              </a:rPr>
              <a:t>In a </a:t>
            </a:r>
            <a:r>
              <a:rPr b="1" lang="en" sz="1200">
                <a:solidFill>
                  <a:schemeClr val="dk1"/>
                </a:solidFill>
              </a:rPr>
              <a:t>sample</a:t>
            </a:r>
            <a:r>
              <a:rPr lang="en" sz="1200">
                <a:solidFill>
                  <a:schemeClr val="dk1"/>
                </a:solidFill>
              </a:rPr>
              <a:t> or dataset, the quartiles divide the data into four groups with equal numbers of observations.</a:t>
            </a: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lang="en" sz="1200">
                <a:solidFill>
                  <a:schemeClr val="dk1"/>
                </a:solidFill>
              </a:rPr>
              <a:t>In a </a:t>
            </a:r>
            <a:r>
              <a:rPr b="1" lang="en" sz="1200">
                <a:solidFill>
                  <a:schemeClr val="dk1"/>
                </a:solidFill>
              </a:rPr>
              <a:t>probability distribution</a:t>
            </a:r>
            <a:r>
              <a:rPr lang="en" sz="1200">
                <a:solidFill>
                  <a:schemeClr val="dk1"/>
                </a:solidFill>
              </a:rPr>
              <a:t>, the quartiles divide the distribution’s range into four intervals with equal probability.</a:t>
            </a:r>
            <a:endParaRPr sz="1200">
              <a:solidFill>
                <a:schemeClr val="dk1"/>
              </a:solidFill>
            </a:endParaRPr>
          </a:p>
          <a:p>
            <a:pPr indent="0" lvl="0" marL="0" rtl="0" algn="l">
              <a:lnSpc>
                <a:spcPct val="95000"/>
              </a:lnSpc>
              <a:spcBef>
                <a:spcPts val="1400"/>
              </a:spcBef>
              <a:spcAft>
                <a:spcPts val="0"/>
              </a:spcAft>
              <a:buNone/>
            </a:pPr>
            <a:r>
              <a:rPr b="1" lang="en" sz="1200">
                <a:solidFill>
                  <a:schemeClr val="dk1"/>
                </a:solidFill>
              </a:rPr>
              <a:t>first quartile:</a:t>
            </a:r>
            <a:r>
              <a:rPr lang="en" sz="1200">
                <a:solidFill>
                  <a:schemeClr val="dk1"/>
                </a:solidFill>
              </a:rPr>
              <a:t> Count the number of observations in the dataset (</a:t>
            </a:r>
            <a:r>
              <a:rPr i="1" lang="en" sz="1200">
                <a:solidFill>
                  <a:schemeClr val="dk1"/>
                </a:solidFill>
              </a:rPr>
              <a:t>n</a:t>
            </a:r>
            <a:r>
              <a:rPr lang="en" sz="1200">
                <a:solidFill>
                  <a:schemeClr val="dk1"/>
                </a:solidFill>
              </a:rPr>
              <a:t>)</a:t>
            </a:r>
            <a:endParaRPr sz="1200">
              <a:solidFill>
                <a:schemeClr val="dk1"/>
              </a:solidFill>
            </a:endParaRPr>
          </a:p>
          <a:p>
            <a:pPr indent="-304800" lvl="0" marL="457200" rtl="0" algn="l">
              <a:lnSpc>
                <a:spcPct val="95000"/>
              </a:lnSpc>
              <a:spcBef>
                <a:spcPts val="1400"/>
              </a:spcBef>
              <a:spcAft>
                <a:spcPts val="0"/>
              </a:spcAft>
              <a:buClr>
                <a:schemeClr val="dk1"/>
              </a:buClr>
              <a:buSzPts val="1200"/>
              <a:buChar char="●"/>
            </a:pPr>
            <a:r>
              <a:rPr lang="en" sz="1200">
                <a:solidFill>
                  <a:schemeClr val="dk1"/>
                </a:solidFill>
              </a:rPr>
              <a:t>Calculate </a:t>
            </a:r>
            <a:r>
              <a:rPr i="1" lang="en" sz="1200">
                <a:solidFill>
                  <a:schemeClr val="dk1"/>
                </a:solidFill>
              </a:rPr>
              <a:t>n </a:t>
            </a:r>
            <a:r>
              <a:rPr lang="en" sz="1200">
                <a:solidFill>
                  <a:schemeClr val="dk1"/>
                </a:solidFill>
              </a:rPr>
              <a:t>* (1 / 4).</a:t>
            </a: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lang="en" sz="1200">
                <a:solidFill>
                  <a:schemeClr val="dk1"/>
                </a:solidFill>
              </a:rPr>
              <a:t>If </a:t>
            </a:r>
            <a:r>
              <a:rPr i="1" lang="en" sz="1200">
                <a:solidFill>
                  <a:schemeClr val="dk1"/>
                </a:solidFill>
              </a:rPr>
              <a:t>n </a:t>
            </a:r>
            <a:r>
              <a:rPr lang="en" sz="1200">
                <a:solidFill>
                  <a:schemeClr val="dk1"/>
                </a:solidFill>
              </a:rPr>
              <a:t>* (1 / 4) is an integer, then the first quartile is the mean of the numbers at positions </a:t>
            </a:r>
            <a:r>
              <a:rPr i="1" lang="en" sz="1200">
                <a:solidFill>
                  <a:schemeClr val="dk1"/>
                </a:solidFill>
              </a:rPr>
              <a:t>n </a:t>
            </a:r>
            <a:r>
              <a:rPr lang="en" sz="1200">
                <a:solidFill>
                  <a:schemeClr val="dk1"/>
                </a:solidFill>
              </a:rPr>
              <a:t>* (1 / 4) and </a:t>
            </a:r>
            <a:r>
              <a:rPr i="1" lang="en" sz="1200">
                <a:solidFill>
                  <a:schemeClr val="dk1"/>
                </a:solidFill>
              </a:rPr>
              <a:t>n </a:t>
            </a:r>
            <a:r>
              <a:rPr lang="en" sz="1200">
                <a:solidFill>
                  <a:schemeClr val="dk1"/>
                </a:solidFill>
              </a:rPr>
              <a:t>* (1 / 4) + 1.</a:t>
            </a: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lang="en" sz="1200">
                <a:solidFill>
                  <a:schemeClr val="dk1"/>
                </a:solidFill>
              </a:rPr>
              <a:t>If </a:t>
            </a:r>
            <a:r>
              <a:rPr i="1" lang="en" sz="1200">
                <a:solidFill>
                  <a:schemeClr val="dk1"/>
                </a:solidFill>
              </a:rPr>
              <a:t>n </a:t>
            </a:r>
            <a:r>
              <a:rPr lang="en" sz="1200">
                <a:solidFill>
                  <a:schemeClr val="dk1"/>
                </a:solidFill>
              </a:rPr>
              <a:t>* (1 / 4) is </a:t>
            </a:r>
            <a:r>
              <a:rPr b="1" lang="en" sz="1200">
                <a:solidFill>
                  <a:schemeClr val="dk1"/>
                </a:solidFill>
              </a:rPr>
              <a:t>not </a:t>
            </a:r>
            <a:r>
              <a:rPr lang="en" sz="1200">
                <a:solidFill>
                  <a:schemeClr val="dk1"/>
                </a:solidFill>
              </a:rPr>
              <a:t>an integer, then round it up. The number at this position is the first quartile.</a:t>
            </a:r>
            <a:endParaRPr sz="1200">
              <a:solidFill>
                <a:schemeClr val="dk1"/>
              </a:solidFill>
            </a:endParaRPr>
          </a:p>
          <a:p>
            <a:pPr indent="0" lvl="0" marL="0" rtl="0" algn="l">
              <a:lnSpc>
                <a:spcPct val="95000"/>
              </a:lnSpc>
              <a:spcBef>
                <a:spcPts val="1400"/>
              </a:spcBef>
              <a:spcAft>
                <a:spcPts val="0"/>
              </a:spcAft>
              <a:buNone/>
            </a:pPr>
            <a:r>
              <a:rPr b="1" lang="en" sz="1200">
                <a:solidFill>
                  <a:schemeClr val="dk1"/>
                </a:solidFill>
              </a:rPr>
              <a:t>second quartile:</a:t>
            </a:r>
            <a:endParaRPr b="1" sz="1200">
              <a:solidFill>
                <a:schemeClr val="dk1"/>
              </a:solidFill>
            </a:endParaRPr>
          </a:p>
          <a:p>
            <a:pPr indent="-304800" lvl="0" marL="457200" rtl="0" algn="l">
              <a:lnSpc>
                <a:spcPct val="95000"/>
              </a:lnSpc>
              <a:spcBef>
                <a:spcPts val="1400"/>
              </a:spcBef>
              <a:spcAft>
                <a:spcPts val="0"/>
              </a:spcAft>
              <a:buClr>
                <a:schemeClr val="dk1"/>
              </a:buClr>
              <a:buSzPts val="1200"/>
              <a:buChar char="●"/>
            </a:pPr>
            <a:r>
              <a:rPr lang="en" sz="1200">
                <a:solidFill>
                  <a:schemeClr val="dk1"/>
                </a:solidFill>
              </a:rPr>
              <a:t>Calculate  </a:t>
            </a:r>
            <a:r>
              <a:rPr i="1" lang="en" sz="1200">
                <a:solidFill>
                  <a:schemeClr val="dk1"/>
                </a:solidFill>
              </a:rPr>
              <a:t>n </a:t>
            </a:r>
            <a:r>
              <a:rPr lang="en" sz="1200">
                <a:solidFill>
                  <a:schemeClr val="dk1"/>
                </a:solidFill>
              </a:rPr>
              <a:t>* (2 / 4).</a:t>
            </a: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lang="en" sz="1200">
                <a:solidFill>
                  <a:schemeClr val="dk1"/>
                </a:solidFill>
              </a:rPr>
              <a:t>If </a:t>
            </a:r>
            <a:r>
              <a:rPr i="1" lang="en" sz="1200">
                <a:solidFill>
                  <a:schemeClr val="dk1"/>
                </a:solidFill>
              </a:rPr>
              <a:t>n </a:t>
            </a:r>
            <a:r>
              <a:rPr lang="en" sz="1200">
                <a:solidFill>
                  <a:schemeClr val="dk1"/>
                </a:solidFill>
              </a:rPr>
              <a:t>* (2 / 4) is an integer, the second quartile is the mean of the numbers at positions </a:t>
            </a:r>
            <a:r>
              <a:rPr i="1" lang="en" sz="1200">
                <a:solidFill>
                  <a:schemeClr val="dk1"/>
                </a:solidFill>
              </a:rPr>
              <a:t>n </a:t>
            </a:r>
            <a:r>
              <a:rPr lang="en" sz="1200">
                <a:solidFill>
                  <a:schemeClr val="dk1"/>
                </a:solidFill>
              </a:rPr>
              <a:t>* (2 / 4) and </a:t>
            </a:r>
            <a:r>
              <a:rPr i="1" lang="en" sz="1200">
                <a:solidFill>
                  <a:schemeClr val="dk1"/>
                </a:solidFill>
              </a:rPr>
              <a:t>n </a:t>
            </a:r>
            <a:r>
              <a:rPr lang="en" sz="1200">
                <a:solidFill>
                  <a:schemeClr val="dk1"/>
                </a:solidFill>
              </a:rPr>
              <a:t>* (2 / 4) + 1.</a:t>
            </a: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lang="en" sz="1200">
                <a:solidFill>
                  <a:schemeClr val="dk1"/>
                </a:solidFill>
              </a:rPr>
              <a:t> If </a:t>
            </a:r>
            <a:r>
              <a:rPr i="1" lang="en" sz="1200">
                <a:solidFill>
                  <a:schemeClr val="dk1"/>
                </a:solidFill>
              </a:rPr>
              <a:t>n </a:t>
            </a:r>
            <a:r>
              <a:rPr lang="en" sz="1200">
                <a:solidFill>
                  <a:schemeClr val="dk1"/>
                </a:solidFill>
              </a:rPr>
              <a:t>* (2 / 4) is </a:t>
            </a:r>
            <a:r>
              <a:rPr b="1" lang="en" sz="1200">
                <a:solidFill>
                  <a:schemeClr val="dk1"/>
                </a:solidFill>
              </a:rPr>
              <a:t>not </a:t>
            </a:r>
            <a:r>
              <a:rPr lang="en" sz="1200">
                <a:solidFill>
                  <a:schemeClr val="dk1"/>
                </a:solidFill>
              </a:rPr>
              <a:t>an integer, then round it up. The number at this position is the</a:t>
            </a:r>
            <a:endParaRPr sz="1200">
              <a:solidFill>
                <a:schemeClr val="dk1"/>
              </a:solidFill>
            </a:endParaRPr>
          </a:p>
          <a:p>
            <a:pPr indent="0" lvl="0" marL="0" rtl="0" algn="l">
              <a:lnSpc>
                <a:spcPct val="95000"/>
              </a:lnSpc>
              <a:spcBef>
                <a:spcPts val="1400"/>
              </a:spcBef>
              <a:spcAft>
                <a:spcPts val="0"/>
              </a:spcAft>
              <a:buNone/>
            </a:pPr>
            <a:r>
              <a:rPr b="1" lang="en" sz="1200">
                <a:solidFill>
                  <a:schemeClr val="dk1"/>
                </a:solidFill>
              </a:rPr>
              <a:t>third quartile:</a:t>
            </a:r>
            <a:endParaRPr b="1" sz="1200">
              <a:solidFill>
                <a:schemeClr val="dk1"/>
              </a:solidFill>
            </a:endParaRPr>
          </a:p>
          <a:p>
            <a:pPr indent="-304800" lvl="0" marL="457200" rtl="0" algn="l">
              <a:lnSpc>
                <a:spcPct val="95000"/>
              </a:lnSpc>
              <a:spcBef>
                <a:spcPts val="1400"/>
              </a:spcBef>
              <a:spcAft>
                <a:spcPts val="0"/>
              </a:spcAft>
              <a:buClr>
                <a:schemeClr val="dk1"/>
              </a:buClr>
              <a:buSzPts val="1200"/>
              <a:buChar char="●"/>
            </a:pPr>
            <a:r>
              <a:rPr lang="en" sz="1200">
                <a:solidFill>
                  <a:schemeClr val="dk1"/>
                </a:solidFill>
              </a:rPr>
              <a:t>Calculate </a:t>
            </a:r>
            <a:r>
              <a:rPr i="1" lang="en" sz="1200">
                <a:solidFill>
                  <a:schemeClr val="dk1"/>
                </a:solidFill>
              </a:rPr>
              <a:t>n </a:t>
            </a:r>
            <a:r>
              <a:rPr lang="en" sz="1200">
                <a:solidFill>
                  <a:schemeClr val="dk1"/>
                </a:solidFill>
              </a:rPr>
              <a:t>* (3 / 4).</a:t>
            </a: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lang="en" sz="1200">
                <a:solidFill>
                  <a:schemeClr val="dk1"/>
                </a:solidFill>
              </a:rPr>
              <a:t>If </a:t>
            </a:r>
            <a:r>
              <a:rPr i="1" lang="en" sz="1200">
                <a:solidFill>
                  <a:schemeClr val="dk1"/>
                </a:solidFill>
              </a:rPr>
              <a:t>n </a:t>
            </a:r>
            <a:r>
              <a:rPr lang="en" sz="1200">
                <a:solidFill>
                  <a:schemeClr val="dk1"/>
                </a:solidFill>
              </a:rPr>
              <a:t>* (3 / 4) is an integer, then the third quartile is the mean of the numbers at positions </a:t>
            </a:r>
            <a:r>
              <a:rPr i="1" lang="en" sz="1200">
                <a:solidFill>
                  <a:schemeClr val="dk1"/>
                </a:solidFill>
              </a:rPr>
              <a:t>n </a:t>
            </a:r>
            <a:r>
              <a:rPr lang="en" sz="1200">
                <a:solidFill>
                  <a:schemeClr val="dk1"/>
                </a:solidFill>
              </a:rPr>
              <a:t>* (3 / 4) and </a:t>
            </a:r>
            <a:r>
              <a:rPr i="1" lang="en" sz="1200">
                <a:solidFill>
                  <a:schemeClr val="dk1"/>
                </a:solidFill>
              </a:rPr>
              <a:t>n </a:t>
            </a:r>
            <a:r>
              <a:rPr lang="en" sz="1200">
                <a:solidFill>
                  <a:schemeClr val="dk1"/>
                </a:solidFill>
              </a:rPr>
              <a:t>* (3 / 4) + 1.</a:t>
            </a: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lang="en" sz="1200">
                <a:solidFill>
                  <a:schemeClr val="dk1"/>
                </a:solidFill>
              </a:rPr>
              <a:t>If </a:t>
            </a:r>
            <a:r>
              <a:rPr i="1" lang="en" sz="1200">
                <a:solidFill>
                  <a:schemeClr val="dk1"/>
                </a:solidFill>
              </a:rPr>
              <a:t>n </a:t>
            </a:r>
            <a:r>
              <a:rPr lang="en" sz="1200">
                <a:solidFill>
                  <a:schemeClr val="dk1"/>
                </a:solidFill>
              </a:rPr>
              <a:t>* (3 / 4) is </a:t>
            </a:r>
            <a:r>
              <a:rPr b="1" lang="en" sz="1200">
                <a:solidFill>
                  <a:schemeClr val="dk1"/>
                </a:solidFill>
              </a:rPr>
              <a:t>not </a:t>
            </a:r>
            <a:r>
              <a:rPr lang="en" sz="1200">
                <a:solidFill>
                  <a:schemeClr val="dk1"/>
                </a:solidFill>
              </a:rPr>
              <a:t>an integer, then round it up. The number at this position is the third quartile.</a:t>
            </a:r>
            <a:endParaRPr sz="1900"/>
          </a:p>
        </p:txBody>
      </p:sp>
      <p:sp>
        <p:nvSpPr>
          <p:cNvPr id="172" name="Google Shape;172;p30"/>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SzPts val="990"/>
              <a:buNone/>
            </a:pPr>
            <a:r>
              <a:rPr b="1" lang="en" sz="2070"/>
              <a:t>Quartiles &amp; Quantiles</a:t>
            </a:r>
            <a:endParaRPr b="1" sz="2070"/>
          </a:p>
          <a:p>
            <a:pPr indent="0" lvl="0" marL="0" rtl="0" algn="l">
              <a:spcBef>
                <a:spcPts val="600"/>
              </a:spcBef>
              <a:spcAft>
                <a:spcPts val="0"/>
              </a:spcAft>
              <a:buSzPts val="990"/>
              <a:buNone/>
            </a:pPr>
            <a:r>
              <a:t/>
            </a:r>
            <a:endParaRPr sz="252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Clr>
                <a:schemeClr val="dk1"/>
              </a:buClr>
              <a:buSzPct val="46698"/>
              <a:buFont typeface="Arial"/>
              <a:buNone/>
            </a:pPr>
            <a:r>
              <a:rPr b="1" lang="en" sz="2355"/>
              <a:t>Measures of dispersion</a:t>
            </a:r>
            <a:endParaRPr b="1" sz="3355"/>
          </a:p>
        </p:txBody>
      </p:sp>
      <p:sp>
        <p:nvSpPr>
          <p:cNvPr id="178" name="Google Shape;178;p31"/>
          <p:cNvSpPr txBox="1"/>
          <p:nvPr>
            <p:ph idx="1" type="body"/>
          </p:nvPr>
        </p:nvSpPr>
        <p:spPr>
          <a:xfrm>
            <a:off x="83100" y="1152475"/>
            <a:ext cx="39609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solidFill>
                  <a:schemeClr val="dk1"/>
                </a:solidFill>
              </a:rPr>
              <a:t>Measures of dispersion help to describe the variability in data. </a:t>
            </a:r>
            <a:endParaRPr>
              <a:solidFill>
                <a:schemeClr val="dk1"/>
              </a:solidFill>
            </a:endParaRPr>
          </a:p>
          <a:p>
            <a:pPr indent="0" lvl="0" marL="0" rtl="0" algn="l">
              <a:spcBef>
                <a:spcPts val="1200"/>
              </a:spcBef>
              <a:spcAft>
                <a:spcPts val="0"/>
              </a:spcAft>
              <a:buNone/>
            </a:pPr>
            <a:r>
              <a:rPr lang="en">
                <a:solidFill>
                  <a:schemeClr val="dk1"/>
                </a:solidFill>
              </a:rPr>
              <a:t>Dispersion is a statistical term that can be used to describe the extent to which data is scattered. </a:t>
            </a:r>
            <a:endParaRPr>
              <a:solidFill>
                <a:schemeClr val="dk1"/>
              </a:solidFill>
            </a:endParaRPr>
          </a:p>
          <a:p>
            <a:pPr indent="0" lvl="0" marL="0" rtl="0" algn="l">
              <a:spcBef>
                <a:spcPts val="1200"/>
              </a:spcBef>
              <a:spcAft>
                <a:spcPts val="0"/>
              </a:spcAft>
              <a:buNone/>
            </a:pPr>
            <a:r>
              <a:rPr lang="en">
                <a:solidFill>
                  <a:schemeClr val="dk1"/>
                </a:solidFill>
              </a:rPr>
              <a:t>Thus, measures of dispersion are certain types of measures that are used to quantify the dispersion of data.</a:t>
            </a:r>
            <a:endParaRPr>
              <a:solidFill>
                <a:schemeClr val="dk1"/>
              </a:solidFill>
            </a:endParaRPr>
          </a:p>
          <a:p>
            <a:pPr indent="0" lvl="0" marL="0" rtl="0" algn="l">
              <a:spcBef>
                <a:spcPts val="1800"/>
              </a:spcBef>
              <a:spcAft>
                <a:spcPts val="0"/>
              </a:spcAft>
              <a:buClr>
                <a:schemeClr val="dk1"/>
              </a:buClr>
              <a:buSzPct val="64705"/>
              <a:buFont typeface="Arial"/>
              <a:buNone/>
            </a:pPr>
            <a:r>
              <a:rPr b="1" lang="en" sz="1700">
                <a:solidFill>
                  <a:schemeClr val="dk1"/>
                </a:solidFill>
              </a:rPr>
              <a:t>Absolute Measures of Dispersion</a:t>
            </a:r>
            <a:endParaRPr b="1" sz="1700">
              <a:solidFill>
                <a:schemeClr val="dk1"/>
              </a:solidFill>
            </a:endParaRPr>
          </a:p>
          <a:p>
            <a:pPr indent="0" lvl="0" marL="0" rtl="0" algn="l">
              <a:spcBef>
                <a:spcPts val="400"/>
              </a:spcBef>
              <a:spcAft>
                <a:spcPts val="1200"/>
              </a:spcAft>
              <a:buNone/>
            </a:pPr>
            <a:r>
              <a:t/>
            </a:r>
            <a:endParaRPr>
              <a:solidFill>
                <a:schemeClr val="dk1"/>
              </a:solidFill>
            </a:endParaRPr>
          </a:p>
        </p:txBody>
      </p:sp>
      <p:pic>
        <p:nvPicPr>
          <p:cNvPr id="179" name="Google Shape;179;p31"/>
          <p:cNvPicPr preferRelativeResize="0"/>
          <p:nvPr/>
        </p:nvPicPr>
        <p:blipFill>
          <a:blip r:embed="rId3">
            <a:alphaModFix/>
          </a:blip>
          <a:stretch>
            <a:fillRect/>
          </a:stretch>
        </p:blipFill>
        <p:spPr>
          <a:xfrm>
            <a:off x="4043975" y="674813"/>
            <a:ext cx="4766551" cy="437173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5" name="Google Shape;185;p32"/>
          <p:cNvPicPr preferRelativeResize="0"/>
          <p:nvPr/>
        </p:nvPicPr>
        <p:blipFill>
          <a:blip r:embed="rId3">
            <a:alphaModFix/>
          </a:blip>
          <a:stretch>
            <a:fillRect/>
          </a:stretch>
        </p:blipFill>
        <p:spPr>
          <a:xfrm>
            <a:off x="534974" y="1162488"/>
            <a:ext cx="5662775" cy="2818525"/>
          </a:xfrm>
          <a:prstGeom prst="rect">
            <a:avLst/>
          </a:prstGeom>
          <a:noFill/>
          <a:ln>
            <a:noFill/>
          </a:ln>
        </p:spPr>
      </p:pic>
      <p:sp>
        <p:nvSpPr>
          <p:cNvPr id="186" name="Google Shape;186;p32"/>
          <p:cNvSpPr txBox="1"/>
          <p:nvPr>
            <p:ph type="title"/>
          </p:nvPr>
        </p:nvSpPr>
        <p:spPr>
          <a:xfrm>
            <a:off x="311700" y="2926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355"/>
              <a:t>Measures of dispersion</a:t>
            </a:r>
            <a:endParaRPr b="1" sz="3355"/>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208500" y="8255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n" sz="1800"/>
              <a:t>Skewness</a:t>
            </a:r>
            <a:r>
              <a:rPr lang="en" sz="1800"/>
              <a:t> </a:t>
            </a:r>
            <a:endParaRPr sz="3500"/>
          </a:p>
        </p:txBody>
      </p:sp>
      <p:sp>
        <p:nvSpPr>
          <p:cNvPr id="192" name="Google Shape;192;p33"/>
          <p:cNvSpPr txBox="1"/>
          <p:nvPr>
            <p:ph idx="1" type="body"/>
          </p:nvPr>
        </p:nvSpPr>
        <p:spPr>
          <a:xfrm>
            <a:off x="173300" y="5066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solidFill>
                  <a:schemeClr val="dk1"/>
                </a:solidFill>
              </a:rPr>
              <a:t>Skewness</a:t>
            </a:r>
            <a:r>
              <a:rPr lang="en" sz="1300">
                <a:solidFill>
                  <a:schemeClr val="dk1"/>
                </a:solidFill>
              </a:rPr>
              <a:t> is a measure of the asymmetry of a distribution. A distribution is asymmetrical when its left and right side are not mirror images.</a:t>
            </a:r>
            <a:endParaRPr sz="1300">
              <a:solidFill>
                <a:schemeClr val="dk1"/>
              </a:solidFill>
            </a:endParaRPr>
          </a:p>
          <a:p>
            <a:pPr indent="0" lvl="0" marL="0" rtl="0" algn="l">
              <a:spcBef>
                <a:spcPts val="1200"/>
              </a:spcBef>
              <a:spcAft>
                <a:spcPts val="0"/>
              </a:spcAft>
              <a:buNone/>
            </a:pPr>
            <a:r>
              <a:rPr lang="en" sz="1300">
                <a:solidFill>
                  <a:schemeClr val="dk1"/>
                </a:solidFill>
              </a:rPr>
              <a:t>A distribution can have right (or positive), left (or negative), or zero skewness. </a:t>
            </a:r>
            <a:endParaRPr sz="1300">
              <a:solidFill>
                <a:schemeClr val="dk1"/>
              </a:solidFill>
            </a:endParaRPr>
          </a:p>
          <a:p>
            <a:pPr indent="0" lvl="0" marL="0" rtl="0" algn="l">
              <a:spcBef>
                <a:spcPts val="1200"/>
              </a:spcBef>
              <a:spcAft>
                <a:spcPts val="0"/>
              </a:spcAft>
              <a:buNone/>
            </a:pPr>
            <a:r>
              <a:rPr lang="en" sz="1300">
                <a:solidFill>
                  <a:schemeClr val="dk1"/>
                </a:solidFill>
              </a:rPr>
              <a:t>A right-skewed distribution is longer on the right side of its peak, and a left-skewed distribution is longer on the left side of its peak</a:t>
            </a:r>
            <a:endParaRPr sz="1300">
              <a:solidFill>
                <a:schemeClr val="dk1"/>
              </a:solidFill>
            </a:endParaRPr>
          </a:p>
          <a:p>
            <a:pPr indent="0" lvl="0" marL="0" rtl="0" algn="l">
              <a:spcBef>
                <a:spcPts val="1200"/>
              </a:spcBef>
              <a:spcAft>
                <a:spcPts val="0"/>
              </a:spcAft>
              <a:buNone/>
            </a:pPr>
            <a:r>
              <a:rPr lang="en" sz="1300">
                <a:solidFill>
                  <a:schemeClr val="dk1"/>
                </a:solidFill>
              </a:rPr>
              <a:t>In a distribution with zero skew, the mean and median are equal</a:t>
            </a:r>
            <a:endParaRPr sz="1300">
              <a:solidFill>
                <a:schemeClr val="dk1"/>
              </a:solidFill>
            </a:endParaRPr>
          </a:p>
          <a:p>
            <a:pPr indent="0" lvl="0" marL="0" rtl="0" algn="l">
              <a:spcBef>
                <a:spcPts val="1200"/>
              </a:spcBef>
              <a:spcAft>
                <a:spcPts val="1200"/>
              </a:spcAft>
              <a:buNone/>
            </a:pPr>
            <a:r>
              <a:t/>
            </a:r>
            <a:endParaRPr sz="1300">
              <a:solidFill>
                <a:schemeClr val="dk1"/>
              </a:solidFill>
            </a:endParaRPr>
          </a:p>
        </p:txBody>
      </p:sp>
      <p:pic>
        <p:nvPicPr>
          <p:cNvPr id="193" name="Google Shape;193;p33"/>
          <p:cNvPicPr preferRelativeResize="0"/>
          <p:nvPr/>
        </p:nvPicPr>
        <p:blipFill>
          <a:blip r:embed="rId3">
            <a:alphaModFix/>
          </a:blip>
          <a:stretch>
            <a:fillRect/>
          </a:stretch>
        </p:blipFill>
        <p:spPr>
          <a:xfrm>
            <a:off x="173300" y="2520150"/>
            <a:ext cx="3070400" cy="2172825"/>
          </a:xfrm>
          <a:prstGeom prst="rect">
            <a:avLst/>
          </a:prstGeom>
          <a:noFill/>
          <a:ln>
            <a:noFill/>
          </a:ln>
        </p:spPr>
      </p:pic>
      <p:pic>
        <p:nvPicPr>
          <p:cNvPr id="194" name="Google Shape;194;p33"/>
          <p:cNvPicPr preferRelativeResize="0"/>
          <p:nvPr/>
        </p:nvPicPr>
        <p:blipFill>
          <a:blip r:embed="rId4">
            <a:alphaModFix/>
          </a:blip>
          <a:stretch>
            <a:fillRect/>
          </a:stretch>
        </p:blipFill>
        <p:spPr>
          <a:xfrm>
            <a:off x="3153575" y="2646125"/>
            <a:ext cx="2907003" cy="2046850"/>
          </a:xfrm>
          <a:prstGeom prst="rect">
            <a:avLst/>
          </a:prstGeom>
          <a:noFill/>
          <a:ln>
            <a:noFill/>
          </a:ln>
        </p:spPr>
      </p:pic>
      <p:sp>
        <p:nvSpPr>
          <p:cNvPr id="195" name="Google Shape;195;p33"/>
          <p:cNvSpPr txBox="1"/>
          <p:nvPr/>
        </p:nvSpPr>
        <p:spPr>
          <a:xfrm>
            <a:off x="3621200" y="46929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Right skew: mean &gt; median</a:t>
            </a:r>
            <a:endParaRPr/>
          </a:p>
        </p:txBody>
      </p:sp>
      <p:sp>
        <p:nvSpPr>
          <p:cNvPr id="196" name="Google Shape;196;p33"/>
          <p:cNvSpPr txBox="1"/>
          <p:nvPr/>
        </p:nvSpPr>
        <p:spPr>
          <a:xfrm>
            <a:off x="208500" y="45668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Zero skew: mean = median</a:t>
            </a:r>
            <a:endParaRPr/>
          </a:p>
        </p:txBody>
      </p:sp>
      <p:pic>
        <p:nvPicPr>
          <p:cNvPr id="197" name="Google Shape;197;p33"/>
          <p:cNvPicPr preferRelativeResize="0"/>
          <p:nvPr/>
        </p:nvPicPr>
        <p:blipFill>
          <a:blip r:embed="rId5">
            <a:alphaModFix/>
          </a:blip>
          <a:stretch>
            <a:fillRect/>
          </a:stretch>
        </p:blipFill>
        <p:spPr>
          <a:xfrm>
            <a:off x="5984375" y="2287850"/>
            <a:ext cx="3169850" cy="2282293"/>
          </a:xfrm>
          <a:prstGeom prst="rect">
            <a:avLst/>
          </a:prstGeom>
          <a:noFill/>
          <a:ln>
            <a:noFill/>
          </a:ln>
        </p:spPr>
      </p:pic>
      <p:sp>
        <p:nvSpPr>
          <p:cNvPr id="198" name="Google Shape;198;p33"/>
          <p:cNvSpPr txBox="1"/>
          <p:nvPr/>
        </p:nvSpPr>
        <p:spPr>
          <a:xfrm>
            <a:off x="6319800" y="46929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Left skew: mean &lt; median</a:t>
            </a:r>
            <a:endParaRPr/>
          </a:p>
        </p:txBody>
      </p:sp>
      <p:pic>
        <p:nvPicPr>
          <p:cNvPr id="199" name="Google Shape;199;p33"/>
          <p:cNvPicPr preferRelativeResize="0"/>
          <p:nvPr/>
        </p:nvPicPr>
        <p:blipFill>
          <a:blip r:embed="rId6">
            <a:alphaModFix/>
          </a:blip>
          <a:stretch>
            <a:fillRect/>
          </a:stretch>
        </p:blipFill>
        <p:spPr>
          <a:xfrm>
            <a:off x="2731069" y="0"/>
            <a:ext cx="4640555" cy="572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4"/>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600"/>
              <a:t>Simple Random Sample </a:t>
            </a:r>
            <a:r>
              <a:rPr b="1" lang="en" sz="2600"/>
              <a:t>(SRS)</a:t>
            </a:r>
            <a:endParaRPr b="1" sz="2600"/>
          </a:p>
        </p:txBody>
      </p:sp>
      <p:sp>
        <p:nvSpPr>
          <p:cNvPr id="205" name="Google Shape;205;p34"/>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A Simple Random Sample calculator uses two methods – SRSWOR and SRSWR.</a:t>
            </a:r>
            <a:endParaRPr>
              <a:solidFill>
                <a:schemeClr val="dk1"/>
              </a:solidFill>
            </a:endParaRPr>
          </a:p>
          <a:p>
            <a:pPr indent="0" lvl="0" marL="0" rtl="0" algn="l">
              <a:spcBef>
                <a:spcPts val="1200"/>
              </a:spcBef>
              <a:spcAft>
                <a:spcPts val="0"/>
              </a:spcAft>
              <a:buNone/>
            </a:pPr>
            <a:r>
              <a:rPr b="1" lang="en" sz="1400">
                <a:solidFill>
                  <a:schemeClr val="dk1"/>
                </a:solidFill>
              </a:rPr>
              <a:t>Simple random sample without replacement (SRSWOR):</a:t>
            </a:r>
            <a:endParaRPr b="1" sz="1400">
              <a:solidFill>
                <a:schemeClr val="dk1"/>
              </a:solidFill>
            </a:endParaRPr>
          </a:p>
          <a:p>
            <a:pPr indent="0" lvl="0" marL="0" rtl="0" algn="l">
              <a:spcBef>
                <a:spcPts val="1200"/>
              </a:spcBef>
              <a:spcAft>
                <a:spcPts val="1200"/>
              </a:spcAft>
              <a:buNone/>
            </a:pPr>
            <a:r>
              <a:rPr lang="en" sz="1400">
                <a:solidFill>
                  <a:schemeClr val="dk1"/>
                </a:solidFill>
              </a:rPr>
              <a:t>units are drawn from the population one by one by without replacing the selected units in the previous draw in to the population before the next draw giving equal chance.</a:t>
            </a:r>
            <a:endParaRPr sz="1400">
              <a:solidFill>
                <a:schemeClr val="dk1"/>
              </a:solidFill>
            </a:endParaRPr>
          </a:p>
        </p:txBody>
      </p:sp>
      <p:pic>
        <p:nvPicPr>
          <p:cNvPr id="206" name="Google Shape;206;p34"/>
          <p:cNvPicPr preferRelativeResize="0"/>
          <p:nvPr/>
        </p:nvPicPr>
        <p:blipFill>
          <a:blip r:embed="rId3">
            <a:alphaModFix/>
          </a:blip>
          <a:stretch>
            <a:fillRect/>
          </a:stretch>
        </p:blipFill>
        <p:spPr>
          <a:xfrm>
            <a:off x="1095397" y="2801575"/>
            <a:ext cx="4965951" cy="1552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SRSWR, units are drawn from the population one by one by</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replacing the selected units in the previous draw in to the population before</a:t>
            </a:r>
            <a:endParaRPr>
              <a:solidFill>
                <a:schemeClr val="dk1"/>
              </a:solidFill>
            </a:endParaRPr>
          </a:p>
          <a:p>
            <a:pPr indent="0" lvl="0" marL="0" rtl="0" algn="l">
              <a:spcBef>
                <a:spcPts val="1200"/>
              </a:spcBef>
              <a:spcAft>
                <a:spcPts val="0"/>
              </a:spcAft>
              <a:buNone/>
            </a:pPr>
            <a:r>
              <a:rPr lang="en">
                <a:solidFill>
                  <a:schemeClr val="dk1"/>
                </a:solidFill>
              </a:rPr>
              <a:t>the next draw giving equal chance.</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If Population size is ‘N’ and Sample size is ‘n’,</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the number possible samples by SRSWOR is N n</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 The probability of each sample is 1/ Nn</a:t>
            </a:r>
            <a:endParaRPr>
              <a:solidFill>
                <a:schemeClr val="dk1"/>
              </a:solidFill>
            </a:endParaRPr>
          </a:p>
          <a:p>
            <a:pPr indent="0" lvl="0" marL="0" rtl="0" algn="l">
              <a:spcBef>
                <a:spcPts val="1200"/>
              </a:spcBef>
              <a:spcAft>
                <a:spcPts val="1200"/>
              </a:spcAft>
              <a:buNone/>
            </a:pPr>
            <a:r>
              <a:rPr lang="en">
                <a:solidFill>
                  <a:schemeClr val="dk1"/>
                </a:solidFill>
              </a:rPr>
              <a:t>** The probability of a specified unit being included in the sample is n/N</a:t>
            </a:r>
            <a:endParaRPr>
              <a:solidFill>
                <a:schemeClr val="dk1"/>
              </a:solidFill>
            </a:endParaRPr>
          </a:p>
        </p:txBody>
      </p:sp>
      <p:sp>
        <p:nvSpPr>
          <p:cNvPr id="212" name="Google Shape;212;p35"/>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600"/>
              <a:t>Simple Random Sample (SRS)</a:t>
            </a:r>
            <a:endParaRPr b="1" sz="2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type="title"/>
          </p:nvPr>
        </p:nvSpPr>
        <p:spPr>
          <a:xfrm>
            <a:off x="254025" y="1682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b="1" lang="en" sz="2300"/>
              <a:t>Central Limit Theorem</a:t>
            </a:r>
            <a:endParaRPr b="1" sz="2300"/>
          </a:p>
          <a:p>
            <a:pPr indent="0" lvl="0" marL="0" rtl="0" algn="l">
              <a:spcBef>
                <a:spcPts val="600"/>
              </a:spcBef>
              <a:spcAft>
                <a:spcPts val="0"/>
              </a:spcAft>
              <a:buNone/>
            </a:pPr>
            <a:r>
              <a:t/>
            </a:r>
            <a:endParaRPr/>
          </a:p>
        </p:txBody>
      </p:sp>
      <p:sp>
        <p:nvSpPr>
          <p:cNvPr id="218" name="Google Shape;218;p36"/>
          <p:cNvSpPr txBox="1"/>
          <p:nvPr>
            <p:ph idx="1" type="body"/>
          </p:nvPr>
        </p:nvSpPr>
        <p:spPr>
          <a:xfrm>
            <a:off x="196375" y="6681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rPr>
              <a:t>The </a:t>
            </a:r>
            <a:r>
              <a:rPr b="1" lang="en" sz="1500">
                <a:solidFill>
                  <a:schemeClr val="dk1"/>
                </a:solidFill>
              </a:rPr>
              <a:t>central limit theorem</a:t>
            </a:r>
            <a:r>
              <a:rPr lang="en" sz="1500">
                <a:solidFill>
                  <a:schemeClr val="dk1"/>
                </a:solidFill>
              </a:rPr>
              <a:t> states that if you take sufficiently </a:t>
            </a:r>
            <a:r>
              <a:rPr b="1" lang="en" sz="1500">
                <a:solidFill>
                  <a:schemeClr val="dk1"/>
                </a:solidFill>
              </a:rPr>
              <a:t>large samples from a population</a:t>
            </a:r>
            <a:r>
              <a:rPr lang="en" sz="1500">
                <a:solidFill>
                  <a:schemeClr val="dk1"/>
                </a:solidFill>
              </a:rPr>
              <a:t>, the </a:t>
            </a:r>
            <a:r>
              <a:rPr b="1" lang="en" sz="1500">
                <a:solidFill>
                  <a:schemeClr val="dk1"/>
                </a:solidFill>
              </a:rPr>
              <a:t>samples’ means</a:t>
            </a:r>
            <a:r>
              <a:rPr lang="en" sz="1500">
                <a:solidFill>
                  <a:schemeClr val="dk1"/>
                </a:solidFill>
              </a:rPr>
              <a:t> will be </a:t>
            </a:r>
            <a:r>
              <a:rPr b="1" lang="en" sz="1500">
                <a:solidFill>
                  <a:schemeClr val="dk1"/>
                </a:solidFill>
              </a:rPr>
              <a:t>normally distributed</a:t>
            </a:r>
            <a:r>
              <a:rPr lang="en" sz="1500">
                <a:solidFill>
                  <a:schemeClr val="dk1"/>
                </a:solidFill>
              </a:rPr>
              <a:t>, even if the population isn’t normally distributed.</a:t>
            </a:r>
            <a:endParaRPr sz="2200"/>
          </a:p>
        </p:txBody>
      </p:sp>
      <p:pic>
        <p:nvPicPr>
          <p:cNvPr id="219" name="Google Shape;219;p36"/>
          <p:cNvPicPr preferRelativeResize="0"/>
          <p:nvPr/>
        </p:nvPicPr>
        <p:blipFill>
          <a:blip r:embed="rId3">
            <a:alphaModFix/>
          </a:blip>
          <a:stretch>
            <a:fillRect/>
          </a:stretch>
        </p:blipFill>
        <p:spPr>
          <a:xfrm>
            <a:off x="27925" y="1300175"/>
            <a:ext cx="6291374" cy="2684700"/>
          </a:xfrm>
          <a:prstGeom prst="rect">
            <a:avLst/>
          </a:prstGeom>
          <a:noFill/>
          <a:ln>
            <a:noFill/>
          </a:ln>
        </p:spPr>
      </p:pic>
      <p:pic>
        <p:nvPicPr>
          <p:cNvPr id="220" name="Google Shape;220;p36"/>
          <p:cNvPicPr preferRelativeResize="0"/>
          <p:nvPr/>
        </p:nvPicPr>
        <p:blipFill>
          <a:blip r:embed="rId4">
            <a:alphaModFix/>
          </a:blip>
          <a:stretch>
            <a:fillRect/>
          </a:stretch>
        </p:blipFill>
        <p:spPr>
          <a:xfrm>
            <a:off x="5469500" y="2637350"/>
            <a:ext cx="3801350" cy="1970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a:solidFill>
                  <a:schemeClr val="dk1"/>
                </a:solidFill>
              </a:rPr>
              <a:t>1. Sample size and normality</a:t>
            </a:r>
            <a:endParaRPr b="1">
              <a:solidFill>
                <a:schemeClr val="dk1"/>
              </a:solidFill>
            </a:endParaRPr>
          </a:p>
          <a:p>
            <a:pPr indent="0" lvl="0" marL="0" rtl="0" algn="l">
              <a:spcBef>
                <a:spcPts val="1400"/>
              </a:spcBef>
              <a:spcAft>
                <a:spcPts val="0"/>
              </a:spcAft>
              <a:buNone/>
            </a:pPr>
            <a:r>
              <a:rPr lang="en" sz="1600">
                <a:solidFill>
                  <a:schemeClr val="dk1"/>
                </a:solidFill>
              </a:rPr>
              <a:t>The larger the sample size, the more closely the sampling distribution will follow a normal distribution.</a:t>
            </a:r>
            <a:endParaRPr sz="1600">
              <a:solidFill>
                <a:schemeClr val="dk1"/>
              </a:solidFill>
            </a:endParaRPr>
          </a:p>
          <a:p>
            <a:pPr indent="-330200" lvl="0" marL="457200" rtl="0" algn="l">
              <a:spcBef>
                <a:spcPts val="1400"/>
              </a:spcBef>
              <a:spcAft>
                <a:spcPts val="0"/>
              </a:spcAft>
              <a:buClr>
                <a:schemeClr val="dk1"/>
              </a:buClr>
              <a:buSzPts val="1600"/>
              <a:buChar char="●"/>
            </a:pPr>
            <a:r>
              <a:rPr b="1" lang="en" sz="1600">
                <a:solidFill>
                  <a:schemeClr val="dk1"/>
                </a:solidFill>
              </a:rPr>
              <a:t>When </a:t>
            </a:r>
            <a:r>
              <a:rPr b="1" i="1" lang="en" sz="1600">
                <a:solidFill>
                  <a:schemeClr val="dk1"/>
                </a:solidFill>
              </a:rPr>
              <a:t>n </a:t>
            </a:r>
            <a:r>
              <a:rPr b="1" lang="en" sz="1600">
                <a:solidFill>
                  <a:schemeClr val="dk1"/>
                </a:solidFill>
              </a:rPr>
              <a:t>&lt; 30</a:t>
            </a:r>
            <a:r>
              <a:rPr lang="en" sz="1600">
                <a:solidFill>
                  <a:schemeClr val="dk1"/>
                </a:solidFill>
              </a:rPr>
              <a:t>, the central limit theorem doesn’t apply. The sampling distribution will follow a similar distribution to the population. Therefore, the sampling distribution will only be normal if the population is normal.</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When </a:t>
            </a:r>
            <a:r>
              <a:rPr b="1" i="1" lang="en" sz="1600">
                <a:solidFill>
                  <a:schemeClr val="dk1"/>
                </a:solidFill>
              </a:rPr>
              <a:t>n </a:t>
            </a:r>
            <a:r>
              <a:rPr b="1" lang="en" sz="1600">
                <a:solidFill>
                  <a:schemeClr val="dk1"/>
                </a:solidFill>
              </a:rPr>
              <a:t>≥ 30</a:t>
            </a:r>
            <a:r>
              <a:rPr lang="en" sz="1600">
                <a:solidFill>
                  <a:schemeClr val="dk1"/>
                </a:solidFill>
              </a:rPr>
              <a:t>, the central limit theorem applies. The sampling distribution will approximately follow a normal distribution.</a:t>
            </a:r>
            <a:endParaRPr sz="1600">
              <a:solidFill>
                <a:schemeClr val="dk1"/>
              </a:solidFill>
            </a:endParaRPr>
          </a:p>
          <a:p>
            <a:pPr indent="0" lvl="0" marL="0" rtl="0" algn="l">
              <a:spcBef>
                <a:spcPts val="1400"/>
              </a:spcBef>
              <a:spcAft>
                <a:spcPts val="0"/>
              </a:spcAft>
              <a:buNone/>
            </a:pPr>
            <a:r>
              <a:t/>
            </a:r>
            <a:endParaRPr sz="1600">
              <a:solidFill>
                <a:schemeClr val="dk1"/>
              </a:solidFill>
            </a:endParaRPr>
          </a:p>
          <a:p>
            <a:pPr indent="0" lvl="0" marL="0" rtl="0" algn="l">
              <a:spcBef>
                <a:spcPts val="1400"/>
              </a:spcBef>
              <a:spcAft>
                <a:spcPts val="1200"/>
              </a:spcAft>
              <a:buNone/>
            </a:pPr>
            <a:r>
              <a:t/>
            </a:r>
            <a:endParaRPr sz="2300"/>
          </a:p>
        </p:txBody>
      </p:sp>
      <p:sp>
        <p:nvSpPr>
          <p:cNvPr id="226" name="Google Shape;226;p37"/>
          <p:cNvSpPr txBox="1"/>
          <p:nvPr>
            <p:ph type="title"/>
          </p:nvPr>
        </p:nvSpPr>
        <p:spPr>
          <a:xfrm>
            <a:off x="254025" y="1682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b="1" lang="en" sz="2300"/>
              <a:t>Central Limit Theorem</a:t>
            </a:r>
            <a:endParaRPr b="1" sz="2300"/>
          </a:p>
          <a:p>
            <a:pPr indent="0" lvl="0" marL="0" rtl="0" algn="l">
              <a:spcBef>
                <a:spcPts val="60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sz="2100">
                <a:solidFill>
                  <a:schemeClr val="dk1"/>
                </a:solidFill>
              </a:rPr>
              <a:t>Conditions of the central limit theorem</a:t>
            </a:r>
            <a:endParaRPr b="1" sz="2100">
              <a:solidFill>
                <a:schemeClr val="dk1"/>
              </a:solidFill>
            </a:endParaRPr>
          </a:p>
          <a:p>
            <a:pPr indent="0" lvl="0" marL="0" rtl="0" algn="l">
              <a:spcBef>
                <a:spcPts val="1400"/>
              </a:spcBef>
              <a:spcAft>
                <a:spcPts val="0"/>
              </a:spcAft>
              <a:buNone/>
            </a:pPr>
            <a:r>
              <a:rPr lang="en" sz="1500">
                <a:solidFill>
                  <a:schemeClr val="dk1"/>
                </a:solidFill>
              </a:rPr>
              <a:t>The central limit theorem states that the sampling distribution of the mean will always follow a normal distribution under the following conditions:</a:t>
            </a:r>
            <a:endParaRPr sz="1500">
              <a:solidFill>
                <a:schemeClr val="dk1"/>
              </a:solidFill>
            </a:endParaRPr>
          </a:p>
          <a:p>
            <a:pPr indent="-323850" lvl="0" marL="457200" rtl="0" algn="l">
              <a:spcBef>
                <a:spcPts val="1400"/>
              </a:spcBef>
              <a:spcAft>
                <a:spcPts val="0"/>
              </a:spcAft>
              <a:buClr>
                <a:schemeClr val="dk1"/>
              </a:buClr>
              <a:buSzPts val="1500"/>
              <a:buAutoNum type="arabicPeriod"/>
            </a:pPr>
            <a:r>
              <a:rPr lang="en" sz="1500">
                <a:solidFill>
                  <a:schemeClr val="dk1"/>
                </a:solidFill>
              </a:rPr>
              <a:t>The sample size is </a:t>
            </a:r>
            <a:r>
              <a:rPr b="1" lang="en" sz="1500">
                <a:solidFill>
                  <a:schemeClr val="dk1"/>
                </a:solidFill>
              </a:rPr>
              <a:t>sufficiently large</a:t>
            </a:r>
            <a:r>
              <a:rPr lang="en" sz="1500">
                <a:solidFill>
                  <a:schemeClr val="dk1"/>
                </a:solidFill>
              </a:rPr>
              <a:t>. This condition is usually met if the sample size is </a:t>
            </a:r>
            <a:r>
              <a:rPr i="1" lang="en" sz="1500">
                <a:solidFill>
                  <a:schemeClr val="dk1"/>
                </a:solidFill>
              </a:rPr>
              <a:t>n </a:t>
            </a:r>
            <a:r>
              <a:rPr lang="en" sz="1500">
                <a:solidFill>
                  <a:schemeClr val="dk1"/>
                </a:solidFill>
              </a:rPr>
              <a:t>≥ 30.</a:t>
            </a:r>
            <a:endParaRPr sz="1500">
              <a:solidFill>
                <a:schemeClr val="dk1"/>
              </a:solidFill>
            </a:endParaRPr>
          </a:p>
          <a:p>
            <a:pPr indent="-323850" lvl="0" marL="457200" rtl="0" algn="l">
              <a:spcBef>
                <a:spcPts val="0"/>
              </a:spcBef>
              <a:spcAft>
                <a:spcPts val="0"/>
              </a:spcAft>
              <a:buClr>
                <a:schemeClr val="dk1"/>
              </a:buClr>
              <a:buSzPts val="1500"/>
              <a:buAutoNum type="arabicPeriod" startAt="2"/>
            </a:pPr>
            <a:r>
              <a:rPr lang="en" sz="1500">
                <a:solidFill>
                  <a:schemeClr val="dk1"/>
                </a:solidFill>
              </a:rPr>
              <a:t>The samples are </a:t>
            </a:r>
            <a:r>
              <a:rPr b="1" lang="en" sz="1500">
                <a:solidFill>
                  <a:schemeClr val="dk1"/>
                </a:solidFill>
              </a:rPr>
              <a:t>independent and identically distributed (i.i.d.) random variables</a:t>
            </a:r>
            <a:r>
              <a:rPr lang="en" sz="1500">
                <a:solidFill>
                  <a:schemeClr val="dk1"/>
                </a:solidFill>
              </a:rPr>
              <a:t>. This condition is usually met if the sampling is random.</a:t>
            </a:r>
            <a:endParaRPr sz="1500">
              <a:solidFill>
                <a:schemeClr val="dk1"/>
              </a:solidFill>
            </a:endParaRPr>
          </a:p>
          <a:p>
            <a:pPr indent="-323850" lvl="0" marL="457200" rtl="0" algn="l">
              <a:spcBef>
                <a:spcPts val="0"/>
              </a:spcBef>
              <a:spcAft>
                <a:spcPts val="0"/>
              </a:spcAft>
              <a:buClr>
                <a:schemeClr val="dk1"/>
              </a:buClr>
              <a:buSzPts val="1500"/>
              <a:buAutoNum type="arabicPeriod" startAt="3"/>
            </a:pPr>
            <a:r>
              <a:rPr lang="en" sz="1500">
                <a:solidFill>
                  <a:schemeClr val="dk1"/>
                </a:solidFill>
              </a:rPr>
              <a:t>The population’s distribution has </a:t>
            </a:r>
            <a:r>
              <a:rPr b="1" lang="en" sz="1500">
                <a:solidFill>
                  <a:schemeClr val="dk1"/>
                </a:solidFill>
              </a:rPr>
              <a:t>finite variance</a:t>
            </a:r>
            <a:r>
              <a:rPr lang="en" sz="1500">
                <a:solidFill>
                  <a:schemeClr val="dk1"/>
                </a:solidFill>
              </a:rPr>
              <a:t>. Central limit theorem doesn’t apply to distributions with infinite variance, such as the Cauchy distribution. Most distributions have finite variance.</a:t>
            </a:r>
            <a:endParaRPr sz="1500">
              <a:solidFill>
                <a:schemeClr val="dk1"/>
              </a:solidFill>
            </a:endParaRPr>
          </a:p>
          <a:p>
            <a:pPr indent="0" lvl="0" marL="0" rtl="0" algn="l">
              <a:spcBef>
                <a:spcPts val="1400"/>
              </a:spcBef>
              <a:spcAft>
                <a:spcPts val="0"/>
              </a:spcAft>
              <a:buNone/>
            </a:pPr>
            <a:r>
              <a:t/>
            </a:r>
            <a:endParaRPr b="1" sz="1700">
              <a:solidFill>
                <a:schemeClr val="dk1"/>
              </a:solidFill>
            </a:endParaRPr>
          </a:p>
          <a:p>
            <a:pPr indent="0" lvl="0" marL="0" rtl="0" algn="l">
              <a:spcBef>
                <a:spcPts val="400"/>
              </a:spcBef>
              <a:spcAft>
                <a:spcPts val="1200"/>
              </a:spcAft>
              <a:buNone/>
            </a:pPr>
            <a:r>
              <a:t/>
            </a:r>
            <a:endParaRPr sz="2200"/>
          </a:p>
        </p:txBody>
      </p:sp>
      <p:sp>
        <p:nvSpPr>
          <p:cNvPr id="232" name="Google Shape;232;p38"/>
          <p:cNvSpPr txBox="1"/>
          <p:nvPr>
            <p:ph type="title"/>
          </p:nvPr>
        </p:nvSpPr>
        <p:spPr>
          <a:xfrm>
            <a:off x="254025" y="3206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b="1" lang="en" sz="2300"/>
              <a:t>Central Limit Theorem</a:t>
            </a:r>
            <a:endParaRPr b="1" sz="2300"/>
          </a:p>
          <a:p>
            <a:pPr indent="0" lvl="0" marL="0" rtl="0" algn="l">
              <a:spcBef>
                <a:spcPts val="6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