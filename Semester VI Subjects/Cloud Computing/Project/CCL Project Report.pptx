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56" r:id="rId2"/>
    <p:sldId id="257" r:id="rId3"/>
    <p:sldId id="258" r:id="rId4"/>
    <p:sldId id="261" r:id="rId5"/>
    <p:sldId id="266" r:id="rId6"/>
    <p:sldId id="267" r:id="rId7"/>
    <p:sldId id="268" r:id="rId8"/>
    <p:sldId id="273" r:id="rId9"/>
    <p:sldId id="270" r:id="rId10"/>
    <p:sldId id="271" r:id="rId11"/>
    <p:sldId id="272" r:id="rId12"/>
    <p:sldId id="269"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EC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D8B579-302C-44F6-BF93-0A93D6677D6C}" type="datetimeFigureOut">
              <a:rPr lang="en-US" smtClean="0"/>
              <a:t>5/19/2020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2EE64-42F9-4438-989C-EB6EE5E53231}" type="slidenum">
              <a:rPr lang="en-US" smtClean="0"/>
              <a:t>‹#›</a:t>
            </a:fld>
            <a:endParaRPr lang="en-US"/>
          </a:p>
        </p:txBody>
      </p:sp>
    </p:spTree>
    <p:extLst>
      <p:ext uri="{BB962C8B-B14F-4D97-AF65-F5344CB8AC3E}">
        <p14:creationId xmlns:p14="http://schemas.microsoft.com/office/powerpoint/2010/main" val="3562630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647F38-B617-4D2F-AE0A-013F0C4D2C57}" type="datetimeFigureOut">
              <a:rPr lang="en-US" smtClean="0"/>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5BFA754-D5C3-4E66-96A6-867B257F58DC}" type="datetimeFigureOut">
              <a:rPr lang="en-US" smtClean="0"/>
              <a:t>5/19/2020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t>5/19/2020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t>5/19/2020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t>5/19/2020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t>5/19/2020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t>5/19/2020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t>5/19/2020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t>5/19/2020</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77415" y="303530"/>
            <a:ext cx="6815455" cy="1036320"/>
          </a:xfrm>
        </p:spPr>
        <p:txBody>
          <a:bodyPr>
            <a:normAutofit/>
          </a:bodyPr>
          <a:lstStyle/>
          <a:p>
            <a:r>
              <a:rPr lang="en-IN" altLang="en-US" sz="2800" b="1" dirty="0">
                <a:latin typeface="Arial" panose="020B0604020202020204" pitchFamily="34" charset="0"/>
                <a:cs typeface="Arial" panose="020B0604020202020204" pitchFamily="34" charset="0"/>
              </a:rPr>
              <a:t>    </a:t>
            </a:r>
            <a:r>
              <a:rPr lang="en-US" altLang="en-US" sz="2800" b="1" dirty="0">
                <a:latin typeface="Arial" panose="020B0604020202020204" pitchFamily="34" charset="0"/>
                <a:cs typeface="Arial" panose="020B0604020202020204" pitchFamily="34" charset="0"/>
              </a:rPr>
              <a:t>Bus Booking System using(AWS)</a:t>
            </a:r>
            <a:br>
              <a:rPr lang="en-US" sz="2800" b="1" dirty="0">
                <a:latin typeface="Arial" panose="020B0604020202020204" pitchFamily="34" charset="0"/>
                <a:cs typeface="Arial" panose="020B0604020202020204" pitchFamily="34" charset="0"/>
              </a:rPr>
            </a:br>
            <a:r>
              <a:rPr lang="en-US" sz="2800" b="1" dirty="0">
                <a:latin typeface="Arial" panose="020B0604020202020204" pitchFamily="34" charset="0"/>
                <a:cs typeface="Arial" panose="020B0604020202020204" pitchFamily="34" charset="0"/>
              </a:rPr>
              <a:t> </a:t>
            </a:r>
            <a:r>
              <a:rPr lang="en-IN" altLang="en-US" sz="2800" b="1" dirty="0">
                <a:latin typeface="Times New Roman" panose="02020603050405020304" pitchFamily="18" charset="0"/>
                <a:cs typeface="Times New Roman" panose="02020603050405020304" pitchFamily="18" charset="0"/>
              </a:rPr>
              <a:t>by</a:t>
            </a:r>
          </a:p>
        </p:txBody>
      </p:sp>
      <p:sp>
        <p:nvSpPr>
          <p:cNvPr id="3" name="Subtitle 2"/>
          <p:cNvSpPr>
            <a:spLocks noGrp="1"/>
          </p:cNvSpPr>
          <p:nvPr>
            <p:ph type="subTitle" idx="1"/>
          </p:nvPr>
        </p:nvSpPr>
        <p:spPr>
          <a:xfrm>
            <a:off x="2806065" y="1339850"/>
            <a:ext cx="5645785" cy="1475740"/>
          </a:xfrm>
        </p:spPr>
        <p:txBody>
          <a:bodyPr>
            <a:normAutofit/>
          </a:bodyPr>
          <a:lstStyle/>
          <a:p>
            <a:endParaRPr lang="en-US" sz="2000" dirty="0"/>
          </a:p>
          <a:p>
            <a:r>
              <a:rPr lang="en-US" dirty="0"/>
              <a:t>Nikhil </a:t>
            </a:r>
            <a:r>
              <a:rPr lang="en-US" dirty="0" err="1"/>
              <a:t>Bamane</a:t>
            </a:r>
            <a:r>
              <a:rPr lang="en-US" dirty="0"/>
              <a:t>	                        BE-4	13</a:t>
            </a:r>
            <a:endParaRPr lang="en-IN" sz="1800" dirty="0"/>
          </a:p>
          <a:p>
            <a:r>
              <a:rPr lang="en-US" dirty="0"/>
              <a:t>Mohammad </a:t>
            </a:r>
            <a:r>
              <a:rPr lang="en-US" dirty="0" err="1"/>
              <a:t>Bhanpurwala</a:t>
            </a:r>
            <a:r>
              <a:rPr lang="en-US" dirty="0"/>
              <a:t>    BE-4        14</a:t>
            </a:r>
            <a:endParaRPr lang="en-IN" sz="1800" dirty="0"/>
          </a:p>
          <a:p>
            <a:pPr lvl="1"/>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2528" y="3799203"/>
            <a:ext cx="1665227" cy="1581469"/>
          </a:xfrm>
          <a:prstGeom prst="rect">
            <a:avLst/>
          </a:prstGeom>
        </p:spPr>
      </p:pic>
      <p:sp>
        <p:nvSpPr>
          <p:cNvPr id="6" name="Rectangle 5"/>
          <p:cNvSpPr/>
          <p:nvPr/>
        </p:nvSpPr>
        <p:spPr>
          <a:xfrm>
            <a:off x="2537142" y="5380672"/>
            <a:ext cx="6096000" cy="1477328"/>
          </a:xfrm>
          <a:prstGeom prst="rect">
            <a:avLst/>
          </a:prstGeom>
        </p:spPr>
        <p:txBody>
          <a:bodyPr>
            <a:spAutoFit/>
          </a:bodyPr>
          <a:lstStyle/>
          <a:p>
            <a:pPr lvl="0" algn="ctr"/>
            <a:r>
              <a:rPr lang="en-US" dirty="0">
                <a:latin typeface="Times New Roman"/>
                <a:ea typeface="Times New Roman"/>
                <a:cs typeface="Times New Roman"/>
                <a:sym typeface="Times New Roman"/>
              </a:rPr>
              <a:t>DEPARTMENT OF COMPUTER ENGINEERING</a:t>
            </a:r>
          </a:p>
          <a:p>
            <a:pPr lvl="0" algn="ctr"/>
            <a:r>
              <a:rPr lang="en-US" b="1" dirty="0">
                <a:latin typeface="Times New Roman"/>
                <a:ea typeface="Times New Roman"/>
                <a:cs typeface="Times New Roman"/>
                <a:sym typeface="Times New Roman"/>
              </a:rPr>
              <a:t>SHAH AND ANCHOR KUTCHHI ENGINEERING COLLEGE</a:t>
            </a:r>
          </a:p>
          <a:p>
            <a:pPr lvl="0" algn="ctr"/>
            <a:r>
              <a:rPr lang="en-US" dirty="0">
                <a:latin typeface="Times New Roman"/>
                <a:ea typeface="Times New Roman"/>
                <a:cs typeface="Times New Roman"/>
                <a:sym typeface="Times New Roman"/>
              </a:rPr>
              <a:t>CHEMBUR, MUMBAI-400088.</a:t>
            </a:r>
          </a:p>
          <a:p>
            <a:pPr lvl="0" algn="ctr"/>
            <a:r>
              <a:rPr lang="en-US" dirty="0">
                <a:latin typeface="Times New Roman"/>
                <a:ea typeface="Times New Roman"/>
                <a:cs typeface="Times New Roman"/>
                <a:sym typeface="Times New Roman"/>
              </a:rPr>
              <a:t>2019-2020</a:t>
            </a:r>
          </a:p>
        </p:txBody>
      </p:sp>
      <p:sp>
        <p:nvSpPr>
          <p:cNvPr id="8" name="Rectangle 7"/>
          <p:cNvSpPr/>
          <p:nvPr/>
        </p:nvSpPr>
        <p:spPr>
          <a:xfrm>
            <a:off x="2387774" y="2782357"/>
            <a:ext cx="5870893" cy="861774"/>
          </a:xfrm>
          <a:prstGeom prst="rect">
            <a:avLst/>
          </a:prstGeom>
        </p:spPr>
        <p:txBody>
          <a:bodyPr wrap="square">
            <a:spAutoFit/>
          </a:bodyPr>
          <a:lstStyle/>
          <a:p>
            <a:pPr lvl="0" algn="ctr"/>
            <a:r>
              <a:rPr lang="en-US" sz="1400" b="1" dirty="0">
                <a:latin typeface="Times New Roman"/>
                <a:ea typeface="Times New Roman"/>
                <a:cs typeface="Times New Roman"/>
                <a:sym typeface="Times New Roman"/>
              </a:rPr>
              <a:t>          </a:t>
            </a:r>
            <a:r>
              <a:rPr lang="en-US" sz="1200" b="1" dirty="0">
                <a:latin typeface="Times New Roman"/>
                <a:ea typeface="Times New Roman"/>
                <a:cs typeface="Times New Roman"/>
                <a:sym typeface="Times New Roman"/>
              </a:rPr>
              <a:t>Under the Guidance of</a:t>
            </a:r>
          </a:p>
          <a:p>
            <a:pPr algn="ctr"/>
            <a:r>
              <a:rPr lang="en-US" dirty="0"/>
              <a:t>         Ms. Deepti </a:t>
            </a:r>
            <a:r>
              <a:rPr lang="en-US" dirty="0" err="1"/>
              <a:t>Nikumbh</a:t>
            </a:r>
            <a:r>
              <a:rPr lang="en-US" dirty="0"/>
              <a:t> </a:t>
            </a:r>
            <a:r>
              <a:rPr lang="en-US" dirty="0">
                <a:latin typeface="Times New Roman"/>
                <a:ea typeface="Times New Roman"/>
                <a:cs typeface="Times New Roman"/>
                <a:sym typeface="Times New Roman"/>
              </a:rPr>
              <a:t> (Guide)</a:t>
            </a:r>
            <a:r>
              <a:rPr lang="en-US" dirty="0"/>
              <a:t> </a:t>
            </a:r>
            <a:endParaRPr lang="en-IN" dirty="0"/>
          </a:p>
          <a:p>
            <a:pPr lvl="0" algn="ctr"/>
            <a:r>
              <a:rPr lang="en-US" dirty="0">
                <a:latin typeface="Times New Roman"/>
                <a:ea typeface="Times New Roman"/>
                <a:cs typeface="Times New Roman"/>
                <a:sym typeface="Times New Roman"/>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3795" y="456565"/>
            <a:ext cx="9601200" cy="854075"/>
          </a:xfrm>
        </p:spPr>
        <p:txBody>
          <a:bodyPr>
            <a:normAutofit/>
          </a:bodyPr>
          <a:lstStyle/>
          <a:p>
            <a:pPr algn="ctr"/>
            <a:r>
              <a:rPr lang="en-US" sz="2800" dirty="0">
                <a:latin typeface="Times New Roman" panose="02020603050405020304" pitchFamily="18" charset="0"/>
                <a:cs typeface="Times New Roman" panose="02020603050405020304" pitchFamily="18" charset="0"/>
              </a:rPr>
              <a:t>CONTENT</a:t>
            </a:r>
          </a:p>
        </p:txBody>
      </p:sp>
      <p:sp>
        <p:nvSpPr>
          <p:cNvPr id="3" name="Content Placeholder 2"/>
          <p:cNvSpPr>
            <a:spLocks noGrp="1"/>
          </p:cNvSpPr>
          <p:nvPr>
            <p:ph idx="1"/>
          </p:nvPr>
        </p:nvSpPr>
        <p:spPr>
          <a:xfrm>
            <a:off x="1153735" y="1506829"/>
            <a:ext cx="9601196" cy="4369039"/>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Chapter 1. Introduction.						 	</a:t>
            </a:r>
          </a:p>
          <a:p>
            <a:pPr marL="0" indent="0">
              <a:buNone/>
            </a:pPr>
            <a:r>
              <a:rPr lang="en-US" sz="2400" dirty="0">
                <a:latin typeface="Times New Roman" panose="02020603050405020304" pitchFamily="18" charset="0"/>
                <a:cs typeface="Times New Roman" panose="02020603050405020304" pitchFamily="18" charset="0"/>
              </a:rPr>
              <a:t>Chapter 2. Problem Statement.                                   	 	                </a:t>
            </a:r>
          </a:p>
          <a:p>
            <a:pPr marL="0" indent="0">
              <a:buNone/>
            </a:pPr>
            <a:r>
              <a:rPr lang="en-US" sz="2400" dirty="0">
                <a:latin typeface="Times New Roman" panose="02020603050405020304" pitchFamily="18" charset="0"/>
                <a:cs typeface="Times New Roman" panose="02020603050405020304" pitchFamily="18" charset="0"/>
              </a:rPr>
              <a:t>Chapter 3. Project Design.                                                  	                                                </a:t>
            </a:r>
          </a:p>
          <a:p>
            <a:pPr marL="0" indent="0">
              <a:buNone/>
            </a:pPr>
            <a:r>
              <a:rPr lang="en-US" sz="2400" dirty="0">
                <a:latin typeface="Times New Roman" panose="02020603050405020304" pitchFamily="18" charset="0"/>
                <a:cs typeface="Times New Roman" panose="02020603050405020304" pitchFamily="18" charset="0"/>
              </a:rPr>
              <a:t>Chapter 4. </a:t>
            </a:r>
            <a:r>
              <a:rPr lang="en-US" sz="2400">
                <a:latin typeface="Times New Roman" panose="02020603050405020304" pitchFamily="18" charset="0"/>
                <a:cs typeface="Times New Roman" panose="02020603050405020304" pitchFamily="18" charset="0"/>
              </a:rPr>
              <a:t>Summary.                                                    </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Chapter 5. References.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552425"/>
            <a:ext cx="9455725" cy="829127"/>
          </a:xfrm>
        </p:spPr>
        <p:txBody>
          <a:bodyPr>
            <a:normAutofit/>
          </a:bodyPr>
          <a:lstStyle/>
          <a:p>
            <a:pPr algn="ctr">
              <a:lnSpc>
                <a:spcPct val="150000"/>
              </a:lnSpc>
            </a:pPr>
            <a:r>
              <a:rPr lang="en-US" sz="2800"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1295401" y="1674254"/>
            <a:ext cx="9601196" cy="4520484"/>
          </a:xfrm>
        </p:spPr>
        <p:txBody>
          <a:bodyPr>
            <a:noAutofit/>
          </a:bodyPr>
          <a:lstStyle/>
          <a:p>
            <a:pPr>
              <a:lnSpc>
                <a:spcPct val="100000"/>
              </a:lnSpc>
            </a:pPr>
            <a:r>
              <a:rPr lang="en-US" sz="2400" dirty="0"/>
              <a:t>Public transport especially buses are getting crowded day-by-day due to heavy demand of transport facility.</a:t>
            </a:r>
          </a:p>
          <a:p>
            <a:pPr>
              <a:lnSpc>
                <a:spcPct val="100000"/>
              </a:lnSpc>
            </a:pPr>
            <a:r>
              <a:rPr lang="en-US" sz="2400" dirty="0"/>
              <a:t>This kind of chaos is mainly due to irregular Planning of bus intervals and not knowing the details of the amount of passengers expected at a time.</a:t>
            </a:r>
          </a:p>
          <a:p>
            <a:pPr>
              <a:lnSpc>
                <a:spcPct val="100000"/>
              </a:lnSpc>
            </a:pPr>
            <a:r>
              <a:rPr lang="en-US" sz="2400" dirty="0"/>
              <a:t>Cloud is the best platform to implement this system as the storage is dynamic in cloud and interface can be easily provided to people</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56540"/>
            <a:ext cx="9510395" cy="835660"/>
          </a:xfrm>
        </p:spPr>
        <p:txBody>
          <a:bodyPr>
            <a:normAutofit/>
          </a:bodyPr>
          <a:lstStyle/>
          <a:p>
            <a:pPr algn="ctr"/>
            <a:r>
              <a:rPr lang="en-US" sz="2800" dirty="0">
                <a:latin typeface="Arial" panose="020B0604020202020204" pitchFamily="34" charset="0"/>
                <a:cs typeface="Arial" panose="020B0604020202020204" pitchFamily="34" charset="0"/>
              </a:rPr>
              <a:t>PROBLEM STATEMENT</a:t>
            </a:r>
          </a:p>
        </p:txBody>
      </p:sp>
      <p:sp>
        <p:nvSpPr>
          <p:cNvPr id="3" name="Content Placeholder 2"/>
          <p:cNvSpPr>
            <a:spLocks noGrp="1"/>
          </p:cNvSpPr>
          <p:nvPr>
            <p:ph idx="1"/>
          </p:nvPr>
        </p:nvSpPr>
        <p:spPr>
          <a:xfrm>
            <a:off x="1295400" y="1378039"/>
            <a:ext cx="9601200" cy="5125792"/>
          </a:xfrm>
        </p:spPr>
        <p:txBody>
          <a:bodyPr>
            <a:noAutofit/>
          </a:bodyPr>
          <a:lstStyle/>
          <a:p>
            <a:pPr>
              <a:lnSpc>
                <a:spcPct val="100000"/>
              </a:lnSpc>
            </a:pPr>
            <a:r>
              <a:rPr lang="en-US" sz="2400" dirty="0">
                <a:latin typeface="Times New Roman" panose="02020603050405020304" pitchFamily="18" charset="0"/>
                <a:cs typeface="Times New Roman" panose="02020603050405020304" pitchFamily="18" charset="0"/>
              </a:rPr>
              <a:t>Some of the existing system uses manual process which increase a lot of paper work and it’s time consuming.</a:t>
            </a:r>
          </a:p>
          <a:p>
            <a:pPr>
              <a:lnSpc>
                <a:spcPct val="100000"/>
              </a:lnSpc>
            </a:pPr>
            <a:r>
              <a:rPr lang="en-US" sz="2400" dirty="0">
                <a:latin typeface="Times New Roman" panose="02020603050405020304" pitchFamily="18" charset="0"/>
                <a:cs typeface="Times New Roman" panose="02020603050405020304" pitchFamily="18" charset="0"/>
              </a:rPr>
              <a:t> However this have limitation such as paper costing.</a:t>
            </a:r>
          </a:p>
          <a:p>
            <a:pPr>
              <a:lnSpc>
                <a:spcPct val="100000"/>
              </a:lnSpc>
            </a:pPr>
            <a:r>
              <a:rPr lang="en-US" sz="2400" dirty="0">
                <a:latin typeface="Times New Roman" panose="02020603050405020304" pitchFamily="18" charset="0"/>
                <a:cs typeface="Times New Roman" panose="02020603050405020304" pitchFamily="18" charset="0"/>
              </a:rPr>
              <a:t>Poor manual systems of time and record management can lead to many problems.</a:t>
            </a:r>
          </a:p>
          <a:p>
            <a:pPr>
              <a:lnSpc>
                <a:spcPct val="100000"/>
              </a:lnSpc>
            </a:pPr>
            <a:r>
              <a:rPr lang="en-US" sz="2400" dirty="0">
                <a:latin typeface="Times New Roman" panose="02020603050405020304" pitchFamily="18" charset="0"/>
                <a:cs typeface="Times New Roman" panose="02020603050405020304" pitchFamily="18" charset="0"/>
              </a:rPr>
              <a:t>Paper and time consuming. </a:t>
            </a:r>
          </a:p>
          <a:p>
            <a:pPr>
              <a:lnSpc>
                <a:spcPct val="100000"/>
              </a:lnSpc>
            </a:pPr>
            <a:r>
              <a:rPr lang="en-US" sz="2400" dirty="0">
                <a:latin typeface="Times New Roman" panose="02020603050405020304" pitchFamily="18" charset="0"/>
                <a:cs typeface="Times New Roman" panose="02020603050405020304" pitchFamily="18" charset="0"/>
              </a:rPr>
              <a:t>No data is preserved.</a:t>
            </a:r>
          </a:p>
          <a:p>
            <a:pPr>
              <a:lnSpc>
                <a:spcPct val="100000"/>
              </a:lnSpc>
            </a:pPr>
            <a:endParaRPr lang="en-US" sz="2400" dirty="0">
              <a:latin typeface="Times New Roman" panose="02020603050405020304" pitchFamily="18" charset="0"/>
              <a:cs typeface="Times New Roman" panose="02020603050405020304" pitchFamily="18" charset="0"/>
            </a:endParaRPr>
          </a:p>
          <a:p>
            <a:pPr>
              <a:lnSpc>
                <a:spcPct val="100000"/>
              </a:lnSpc>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487" y="115910"/>
            <a:ext cx="10515600" cy="799193"/>
          </a:xfrm>
        </p:spPr>
        <p:txBody>
          <a:bodyPr>
            <a:normAutofit/>
          </a:bodyPr>
          <a:lstStyle/>
          <a:p>
            <a:r>
              <a:rPr lang="en-IN" alt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PROJECT DESIGN</a:t>
            </a:r>
          </a:p>
        </p:txBody>
      </p:sp>
      <p:pic>
        <p:nvPicPr>
          <p:cNvPr id="8" name="Picture 7">
            <a:extLst>
              <a:ext uri="{FF2B5EF4-FFF2-40B4-BE49-F238E27FC236}">
                <a16:creationId xmlns:a16="http://schemas.microsoft.com/office/drawing/2014/main" id="{2C448763-5FB7-4832-B136-B6E502EB9506}"/>
              </a:ext>
            </a:extLst>
          </p:cNvPr>
          <p:cNvPicPr>
            <a:picLocks noChangeAspect="1"/>
          </p:cNvPicPr>
          <p:nvPr/>
        </p:nvPicPr>
        <p:blipFill>
          <a:blip r:embed="rId2"/>
          <a:stretch>
            <a:fillRect/>
          </a:stretch>
        </p:blipFill>
        <p:spPr>
          <a:xfrm>
            <a:off x="3731619" y="237185"/>
            <a:ext cx="6002059" cy="65049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84D11-DDFB-409F-9090-B2ABC8143E2D}"/>
              </a:ext>
            </a:extLst>
          </p:cNvPr>
          <p:cNvSpPr>
            <a:spLocks noGrp="1"/>
          </p:cNvSpPr>
          <p:nvPr>
            <p:ph type="title"/>
          </p:nvPr>
        </p:nvSpPr>
        <p:spPr>
          <a:xfrm>
            <a:off x="838200" y="365126"/>
            <a:ext cx="10515600" cy="510638"/>
          </a:xfrm>
        </p:spPr>
        <p:txBody>
          <a:bodyPr>
            <a:noAutofit/>
          </a:bodyPr>
          <a:lstStyle/>
          <a:p>
            <a:r>
              <a:rPr lang="en-IN" alt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PROJECT DESIGN</a:t>
            </a:r>
            <a:endParaRPr lang="en-IN" sz="2800" dirty="0"/>
          </a:p>
        </p:txBody>
      </p:sp>
      <p:pic>
        <p:nvPicPr>
          <p:cNvPr id="5" name="Picture 4">
            <a:extLst>
              <a:ext uri="{FF2B5EF4-FFF2-40B4-BE49-F238E27FC236}">
                <a16:creationId xmlns:a16="http://schemas.microsoft.com/office/drawing/2014/main" id="{C319206F-244A-4CF7-A355-615C9731E7FC}"/>
              </a:ext>
            </a:extLst>
          </p:cNvPr>
          <p:cNvPicPr>
            <a:picLocks noChangeAspect="1"/>
          </p:cNvPicPr>
          <p:nvPr/>
        </p:nvPicPr>
        <p:blipFill>
          <a:blip r:embed="rId2"/>
          <a:stretch>
            <a:fillRect/>
          </a:stretch>
        </p:blipFill>
        <p:spPr>
          <a:xfrm>
            <a:off x="4224270" y="653783"/>
            <a:ext cx="6776434" cy="5550434"/>
          </a:xfrm>
          <a:prstGeom prst="rect">
            <a:avLst/>
          </a:prstGeom>
        </p:spPr>
      </p:pic>
    </p:spTree>
    <p:extLst>
      <p:ext uri="{BB962C8B-B14F-4D97-AF65-F5344CB8AC3E}">
        <p14:creationId xmlns:p14="http://schemas.microsoft.com/office/powerpoint/2010/main" val="2353616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6C164-50CC-46FA-AD2A-9AC7D52203AD}"/>
              </a:ext>
            </a:extLst>
          </p:cNvPr>
          <p:cNvSpPr>
            <a:spLocks noGrp="1"/>
          </p:cNvSpPr>
          <p:nvPr>
            <p:ph type="title"/>
          </p:nvPr>
        </p:nvSpPr>
        <p:spPr>
          <a:xfrm>
            <a:off x="838200" y="365125"/>
            <a:ext cx="10515600" cy="575033"/>
          </a:xfrm>
        </p:spPr>
        <p:txBody>
          <a:bodyPr>
            <a:normAutofit/>
          </a:bodyPr>
          <a:lstStyle/>
          <a:p>
            <a:r>
              <a:rPr lang="en-IN" alt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PROJECT DESIGN</a:t>
            </a:r>
            <a:endParaRPr lang="en-IN" sz="2800" dirty="0"/>
          </a:p>
        </p:txBody>
      </p:sp>
      <p:pic>
        <p:nvPicPr>
          <p:cNvPr id="4" name="Picture 3">
            <a:extLst>
              <a:ext uri="{FF2B5EF4-FFF2-40B4-BE49-F238E27FC236}">
                <a16:creationId xmlns:a16="http://schemas.microsoft.com/office/drawing/2014/main" id="{F169166A-0304-4813-913A-B0EB00EBC32B}"/>
              </a:ext>
            </a:extLst>
          </p:cNvPr>
          <p:cNvPicPr>
            <a:picLocks noChangeAspect="1"/>
          </p:cNvPicPr>
          <p:nvPr/>
        </p:nvPicPr>
        <p:blipFill>
          <a:blip r:embed="rId2"/>
          <a:stretch>
            <a:fillRect/>
          </a:stretch>
        </p:blipFill>
        <p:spPr>
          <a:xfrm>
            <a:off x="4468969" y="511734"/>
            <a:ext cx="7255300" cy="5986614"/>
          </a:xfrm>
          <a:prstGeom prst="rect">
            <a:avLst/>
          </a:prstGeom>
        </p:spPr>
      </p:pic>
    </p:spTree>
    <p:extLst>
      <p:ext uri="{BB962C8B-B14F-4D97-AF65-F5344CB8AC3E}">
        <p14:creationId xmlns:p14="http://schemas.microsoft.com/office/powerpoint/2010/main" val="3148149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D5684B-EC19-4FFA-8C06-95D92F033946}"/>
              </a:ext>
            </a:extLst>
          </p:cNvPr>
          <p:cNvPicPr>
            <a:picLocks noChangeAspect="1"/>
          </p:cNvPicPr>
          <p:nvPr/>
        </p:nvPicPr>
        <p:blipFill rotWithShape="1">
          <a:blip r:embed="rId2"/>
          <a:srcRect t="4861" b="7585"/>
          <a:stretch/>
        </p:blipFill>
        <p:spPr>
          <a:xfrm>
            <a:off x="1236373" y="659126"/>
            <a:ext cx="9937294" cy="4891668"/>
          </a:xfrm>
          <a:prstGeom prst="rect">
            <a:avLst/>
          </a:prstGeom>
        </p:spPr>
      </p:pic>
    </p:spTree>
    <p:extLst>
      <p:ext uri="{BB962C8B-B14F-4D97-AF65-F5344CB8AC3E}">
        <p14:creationId xmlns:p14="http://schemas.microsoft.com/office/powerpoint/2010/main" val="725523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FD5444-84A3-499F-96FE-49A9E5852CC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4318" y="574085"/>
            <a:ext cx="5731510" cy="3086735"/>
          </a:xfrm>
          <a:prstGeom prst="rect">
            <a:avLst/>
          </a:prstGeom>
          <a:noFill/>
          <a:ln>
            <a:noFill/>
          </a:ln>
        </p:spPr>
      </p:pic>
      <p:pic>
        <p:nvPicPr>
          <p:cNvPr id="4" name="Picture 3">
            <a:extLst>
              <a:ext uri="{FF2B5EF4-FFF2-40B4-BE49-F238E27FC236}">
                <a16:creationId xmlns:a16="http://schemas.microsoft.com/office/drawing/2014/main" id="{0D54A1C9-FDC0-414C-BB77-EBE55530202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398859" y="2421228"/>
            <a:ext cx="5475462" cy="3451126"/>
          </a:xfrm>
          <a:prstGeom prst="rect">
            <a:avLst/>
          </a:prstGeom>
          <a:noFill/>
          <a:ln>
            <a:noFill/>
          </a:ln>
        </p:spPr>
      </p:pic>
      <p:sp>
        <p:nvSpPr>
          <p:cNvPr id="5" name="Rectangle 4">
            <a:extLst>
              <a:ext uri="{FF2B5EF4-FFF2-40B4-BE49-F238E27FC236}">
                <a16:creationId xmlns:a16="http://schemas.microsoft.com/office/drawing/2014/main" id="{DCBF1086-6DDF-42BE-9B09-7EA2F4850CD5}"/>
              </a:ext>
            </a:extLst>
          </p:cNvPr>
          <p:cNvSpPr/>
          <p:nvPr/>
        </p:nvSpPr>
        <p:spPr>
          <a:xfrm>
            <a:off x="2139728" y="3683394"/>
            <a:ext cx="1576137" cy="463397"/>
          </a:xfrm>
          <a:prstGeom prst="rect">
            <a:avLst/>
          </a:prstGeom>
        </p:spPr>
        <p:txBody>
          <a:bodyPr wrap="none">
            <a:spAutoFit/>
          </a:bodyPr>
          <a:lstStyle/>
          <a:p>
            <a:pPr>
              <a:lnSpc>
                <a:spcPct val="150000"/>
              </a:lnSpc>
              <a:spcAft>
                <a:spcPts val="0"/>
              </a:spcAft>
            </a:pPr>
            <a:r>
              <a:rPr lang="en-IN" b="1" dirty="0">
                <a:latin typeface="Times New Roman" panose="02020603050405020304" pitchFamily="18" charset="0"/>
                <a:ea typeface="Calibri" panose="020F0502020204030204" pitchFamily="34" charset="0"/>
                <a:cs typeface="Times New Roman" panose="02020603050405020304" pitchFamily="18" charset="0"/>
              </a:rPr>
              <a:t>AWS Instance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3FF9B064-6F57-459E-8463-C2E9AF6868BF}"/>
              </a:ext>
            </a:extLst>
          </p:cNvPr>
          <p:cNvSpPr/>
          <p:nvPr/>
        </p:nvSpPr>
        <p:spPr>
          <a:xfrm>
            <a:off x="8902565" y="1885753"/>
            <a:ext cx="723275" cy="463397"/>
          </a:xfrm>
          <a:prstGeom prst="rect">
            <a:avLst/>
          </a:prstGeom>
        </p:spPr>
        <p:txBody>
          <a:bodyPr wrap="none">
            <a:spAutoFit/>
          </a:bodyPr>
          <a:lstStyle/>
          <a:p>
            <a:pPr>
              <a:lnSpc>
                <a:spcPct val="150000"/>
              </a:lnSpc>
              <a:spcAft>
                <a:spcPts val="0"/>
              </a:spcAft>
            </a:pPr>
            <a:r>
              <a:rPr lang="en-IN" b="1" dirty="0">
                <a:latin typeface="Times New Roman" panose="02020603050405020304" pitchFamily="18" charset="0"/>
                <a:ea typeface="Calibri" panose="020F0502020204030204" pitchFamily="34" charset="0"/>
                <a:cs typeface="Times New Roman" panose="02020603050405020304" pitchFamily="18" charset="0"/>
              </a:rPr>
              <a:t>Putty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50946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2041FD-7B5C-46DF-B6E0-1AD92C4F973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7350" y="447008"/>
            <a:ext cx="5731510" cy="3079115"/>
          </a:xfrm>
          <a:prstGeom prst="rect">
            <a:avLst/>
          </a:prstGeom>
          <a:noFill/>
          <a:ln>
            <a:noFill/>
          </a:ln>
        </p:spPr>
      </p:pic>
      <p:pic>
        <p:nvPicPr>
          <p:cNvPr id="3" name="Picture 2">
            <a:extLst>
              <a:ext uri="{FF2B5EF4-FFF2-40B4-BE49-F238E27FC236}">
                <a16:creationId xmlns:a16="http://schemas.microsoft.com/office/drawing/2014/main" id="{8E48B3B0-E140-4939-8521-19F9E6A5BD8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1321" y="3526123"/>
            <a:ext cx="5731510" cy="3104515"/>
          </a:xfrm>
          <a:prstGeom prst="rect">
            <a:avLst/>
          </a:prstGeom>
          <a:noFill/>
          <a:ln>
            <a:noFill/>
          </a:ln>
        </p:spPr>
      </p:pic>
      <p:sp>
        <p:nvSpPr>
          <p:cNvPr id="4" name="Rectangle 3">
            <a:extLst>
              <a:ext uri="{FF2B5EF4-FFF2-40B4-BE49-F238E27FC236}">
                <a16:creationId xmlns:a16="http://schemas.microsoft.com/office/drawing/2014/main" id="{2E7A7365-5FC1-4CA4-953C-AD983C689FE2}"/>
              </a:ext>
            </a:extLst>
          </p:cNvPr>
          <p:cNvSpPr/>
          <p:nvPr/>
        </p:nvSpPr>
        <p:spPr>
          <a:xfrm>
            <a:off x="2040804" y="3526123"/>
            <a:ext cx="2147063" cy="838948"/>
          </a:xfrm>
          <a:prstGeom prst="rect">
            <a:avLst/>
          </a:prstGeom>
        </p:spPr>
        <p:txBody>
          <a:bodyPr wrap="none">
            <a:spAutoFit/>
          </a:bodyPr>
          <a:lstStyle/>
          <a:p>
            <a:pPr>
              <a:lnSpc>
                <a:spcPct val="150000"/>
              </a:lnSpc>
            </a:pPr>
            <a:r>
              <a:rPr lang="en-IN" b="1" dirty="0">
                <a:latin typeface="Times New Roman" panose="02020603050405020304" pitchFamily="18" charset="0"/>
                <a:ea typeface="Calibri" panose="020F0502020204030204" pitchFamily="34" charset="0"/>
                <a:cs typeface="Times New Roman" panose="02020603050405020304" pitchFamily="18" charset="0"/>
              </a:rPr>
              <a:t>Vesta Control Panel</a:t>
            </a:r>
            <a:endParaRPr lang="en-IN" dirty="0"/>
          </a:p>
          <a:p>
            <a:pPr>
              <a:lnSpc>
                <a:spcPct val="150000"/>
              </a:lnSpc>
              <a:spcAft>
                <a:spcPts val="0"/>
              </a:spcAf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14A6F3B7-77A0-4E95-8F0B-109CE59AACA5}"/>
              </a:ext>
            </a:extLst>
          </p:cNvPr>
          <p:cNvSpPr/>
          <p:nvPr/>
        </p:nvSpPr>
        <p:spPr>
          <a:xfrm>
            <a:off x="8652058" y="2868480"/>
            <a:ext cx="1018227" cy="463397"/>
          </a:xfrm>
          <a:prstGeom prst="rect">
            <a:avLst/>
          </a:prstGeom>
        </p:spPr>
        <p:txBody>
          <a:bodyPr wrap="none">
            <a:spAutoFit/>
          </a:bodyPr>
          <a:lstStyle/>
          <a:p>
            <a:pPr>
              <a:lnSpc>
                <a:spcPct val="150000"/>
              </a:lnSpc>
              <a:spcAft>
                <a:spcPts val="0"/>
              </a:spcAft>
            </a:pPr>
            <a:r>
              <a:rPr lang="en-IN" b="1" dirty="0">
                <a:latin typeface="Times New Roman" panose="02020603050405020304" pitchFamily="18" charset="0"/>
                <a:ea typeface="Calibri" panose="020F0502020204030204" pitchFamily="34" charset="0"/>
                <a:cs typeface="Times New Roman" panose="02020603050405020304" pitchFamily="18" charset="0"/>
              </a:rPr>
              <a:t>FileZilla</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83315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BB0C7-6FF7-4C23-8FEA-40D61D2CD78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0751" y="502276"/>
            <a:ext cx="8870498" cy="4507605"/>
          </a:xfrm>
          <a:prstGeom prst="rect">
            <a:avLst/>
          </a:prstGeom>
          <a:noFill/>
          <a:ln>
            <a:noFill/>
          </a:ln>
        </p:spPr>
      </p:pic>
      <p:sp>
        <p:nvSpPr>
          <p:cNvPr id="3" name="Rectangle 2">
            <a:extLst>
              <a:ext uri="{FF2B5EF4-FFF2-40B4-BE49-F238E27FC236}">
                <a16:creationId xmlns:a16="http://schemas.microsoft.com/office/drawing/2014/main" id="{140B3579-2CE9-4FBF-AFE9-4F88886F8AE8}"/>
              </a:ext>
            </a:extLst>
          </p:cNvPr>
          <p:cNvSpPr/>
          <p:nvPr/>
        </p:nvSpPr>
        <p:spPr>
          <a:xfrm>
            <a:off x="5439178" y="5557476"/>
            <a:ext cx="1595309" cy="463397"/>
          </a:xfrm>
          <a:prstGeom prst="rect">
            <a:avLst/>
          </a:prstGeom>
        </p:spPr>
        <p:txBody>
          <a:bodyPr wrap="square">
            <a:spAutoFit/>
          </a:bodyPr>
          <a:lstStyle/>
          <a:p>
            <a:pPr>
              <a:lnSpc>
                <a:spcPct val="150000"/>
              </a:lnSpc>
              <a:spcAft>
                <a:spcPts val="0"/>
              </a:spcAft>
            </a:pPr>
            <a:r>
              <a:rPr lang="en-IN" b="1" dirty="0">
                <a:latin typeface="Times New Roman" panose="02020603050405020304" pitchFamily="18" charset="0"/>
                <a:ea typeface="Calibri" panose="020F0502020204030204" pitchFamily="34" charset="0"/>
                <a:cs typeface="Times New Roman" panose="02020603050405020304" pitchFamily="18" charset="0"/>
              </a:rPr>
              <a:t>PhpMyAdmin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31178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B91C9-367F-41DA-993C-7D4E00D05984}"/>
              </a:ext>
            </a:extLst>
          </p:cNvPr>
          <p:cNvSpPr>
            <a:spLocks noGrp="1"/>
          </p:cNvSpPr>
          <p:nvPr>
            <p:ph type="title"/>
          </p:nvPr>
        </p:nvSpPr>
        <p:spPr>
          <a:xfrm>
            <a:off x="838200" y="365126"/>
            <a:ext cx="10515600" cy="652306"/>
          </a:xfrm>
        </p:spPr>
        <p:txBody>
          <a:bodyPr>
            <a:normAutofit/>
          </a:bodyPr>
          <a:lstStyle/>
          <a:p>
            <a:pPr algn="ctr"/>
            <a:r>
              <a:rPr lang="en-US" sz="2800" dirty="0">
                <a:latin typeface="Times New Roman" panose="02020603050405020304" pitchFamily="18" charset="0"/>
                <a:cs typeface="Times New Roman" panose="02020603050405020304" pitchFamily="18" charset="0"/>
              </a:rPr>
              <a:t>SUMMARY</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F819829-8D3A-4B24-B357-B4C642A45227}"/>
              </a:ext>
            </a:extLst>
          </p:cNvPr>
          <p:cNvSpPr>
            <a:spLocks noGrp="1"/>
          </p:cNvSpPr>
          <p:nvPr>
            <p:ph idx="1"/>
          </p:nvPr>
        </p:nvSpPr>
        <p:spPr>
          <a:xfrm>
            <a:off x="838200" y="1146220"/>
            <a:ext cx="10515600" cy="5030743"/>
          </a:xfrm>
        </p:spPr>
        <p:txBody>
          <a:bodyPr>
            <a:normAutofit/>
          </a:bodyPr>
          <a:lstStyle/>
          <a:p>
            <a:r>
              <a:rPr lang="en-IN" sz="2400" dirty="0"/>
              <a:t>Nowadays, bus agencies are taking important role in transportation, and to make reservation reliable they need a strong system that they will make reservation easier, faster and safer. </a:t>
            </a:r>
          </a:p>
          <a:p>
            <a:r>
              <a:rPr lang="en-IN" sz="2400" dirty="0"/>
              <a:t>This project designed to meet requirements of a bus reservation system. It has been developed in XHTML, PHP, CSS, JAVASCRIPT and database has been built in MySQL.</a:t>
            </a:r>
          </a:p>
          <a:p>
            <a:r>
              <a:rPr lang="en-IN" sz="2400" dirty="0"/>
              <a:t> By using this application, the company can provide reservation services and information to their customers without the limitation of office hours or manpower. </a:t>
            </a:r>
          </a:p>
          <a:p>
            <a:r>
              <a:rPr lang="en-IN" sz="2400" dirty="0"/>
              <a:t>Not only does it let customers book trips around the clock from any location with an internet connection but it is also designed for use by the company to internally manage their business processes; minimizing human errors and overcoming difficulties and problems that arose in the previous system.</a:t>
            </a:r>
          </a:p>
          <a:p>
            <a:pPr marL="0" indent="0">
              <a:buNone/>
            </a:pPr>
            <a:endParaRPr lang="en-IN" sz="2400" dirty="0"/>
          </a:p>
          <a:p>
            <a:endParaRPr lang="en-IN" sz="2400" dirty="0"/>
          </a:p>
        </p:txBody>
      </p:sp>
    </p:spTree>
    <p:extLst>
      <p:ext uri="{BB962C8B-B14F-4D97-AF65-F5344CB8AC3E}">
        <p14:creationId xmlns:p14="http://schemas.microsoft.com/office/powerpoint/2010/main" val="2949134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2530" y="198120"/>
            <a:ext cx="9601200" cy="575310"/>
          </a:xfrm>
        </p:spPr>
        <p:txBody>
          <a:bodyPr>
            <a:normAutofit/>
          </a:bodyPr>
          <a:lstStyle/>
          <a:p>
            <a:pPr algn="ctr"/>
            <a:r>
              <a:rPr lang="en-IN" altLang="en-US" sz="2800"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REFERENCES</a:t>
            </a:r>
          </a:p>
        </p:txBody>
      </p:sp>
      <p:sp>
        <p:nvSpPr>
          <p:cNvPr id="3" name="Content Placeholder 2"/>
          <p:cNvSpPr>
            <a:spLocks noGrp="1"/>
          </p:cNvSpPr>
          <p:nvPr>
            <p:ph idx="1"/>
          </p:nvPr>
        </p:nvSpPr>
        <p:spPr>
          <a:xfrm>
            <a:off x="1295400" y="894715"/>
            <a:ext cx="9601200" cy="5765165"/>
          </a:xfrm>
        </p:spPr>
        <p:txBody>
          <a:bodyPr>
            <a:noAutofit/>
          </a:bodyPr>
          <a:lstStyle/>
          <a:p>
            <a:pPr marL="0" indent="0">
              <a:buNone/>
            </a:pPr>
            <a:r>
              <a:rPr lang="en-IN" sz="1900" dirty="0">
                <a:latin typeface="Times New Roman" panose="02020603050405020304" pitchFamily="18" charset="0"/>
                <a:cs typeface="Times New Roman" panose="02020603050405020304" pitchFamily="18" charset="0"/>
              </a:rPr>
              <a:t>[1] M. A. HANNAN, A. M. MUSTAPHA, A. HUSSAIN and H. </a:t>
            </a:r>
            <a:r>
              <a:rPr lang="en-IN" sz="1900" dirty="0" err="1">
                <a:latin typeface="Times New Roman" panose="02020603050405020304" pitchFamily="18" charset="0"/>
                <a:cs typeface="Times New Roman" panose="02020603050405020304" pitchFamily="18" charset="0"/>
              </a:rPr>
              <a:t>BASRI.Intelligent</a:t>
            </a:r>
            <a:r>
              <a:rPr lang="en-IN" sz="1900" dirty="0">
                <a:latin typeface="Times New Roman" panose="02020603050405020304" pitchFamily="18" charset="0"/>
                <a:cs typeface="Times New Roman" panose="02020603050405020304" pitchFamily="18" charset="0"/>
              </a:rPr>
              <a:t> Bus Monitoring and Management System. Proceedings of the World Congress on Engineering and Computer Science 2012 Vol II WCECS 2012, October 24-26, 2012, San Francisco, USA</a:t>
            </a:r>
          </a:p>
          <a:p>
            <a:pPr marL="0" indent="0">
              <a:buNone/>
            </a:pPr>
            <a:r>
              <a:rPr lang="en-IN" sz="1900" dirty="0">
                <a:latin typeface="Times New Roman" panose="02020603050405020304" pitchFamily="18" charset="0"/>
                <a:cs typeface="Times New Roman" panose="02020603050405020304" pitchFamily="18" charset="0"/>
              </a:rPr>
              <a:t> [2] </a:t>
            </a:r>
            <a:r>
              <a:rPr lang="en-IN" sz="1900" dirty="0" err="1">
                <a:latin typeface="Times New Roman" panose="02020603050405020304" pitchFamily="18" charset="0"/>
                <a:cs typeface="Times New Roman" panose="02020603050405020304" pitchFamily="18" charset="0"/>
              </a:rPr>
              <a:t>Oloyede</a:t>
            </a:r>
            <a:r>
              <a:rPr lang="en-IN" sz="1900" dirty="0">
                <a:latin typeface="Times New Roman" panose="02020603050405020304" pitchFamily="18" charset="0"/>
                <a:cs typeface="Times New Roman" panose="02020603050405020304" pitchFamily="18" charset="0"/>
              </a:rPr>
              <a:t>, M.O. 1 *, </a:t>
            </a:r>
            <a:r>
              <a:rPr lang="en-IN" sz="1900" dirty="0" err="1">
                <a:latin typeface="Times New Roman" panose="02020603050405020304" pitchFamily="18" charset="0"/>
                <a:cs typeface="Times New Roman" panose="02020603050405020304" pitchFamily="18" charset="0"/>
              </a:rPr>
              <a:t>Alaya</a:t>
            </a:r>
            <a:r>
              <a:rPr lang="en-IN" sz="1900" dirty="0">
                <a:latin typeface="Times New Roman" panose="02020603050405020304" pitchFamily="18" charset="0"/>
                <a:cs typeface="Times New Roman" panose="02020603050405020304" pitchFamily="18" charset="0"/>
              </a:rPr>
              <a:t> S.M. 2 </a:t>
            </a:r>
            <a:r>
              <a:rPr lang="en-IN" sz="1900" dirty="0" err="1">
                <a:latin typeface="Times New Roman" panose="02020603050405020304" pitchFamily="18" charset="0"/>
                <a:cs typeface="Times New Roman" panose="02020603050405020304" pitchFamily="18" charset="0"/>
              </a:rPr>
              <a:t>Adewole</a:t>
            </a:r>
            <a:r>
              <a:rPr lang="en-IN" sz="1900" dirty="0">
                <a:latin typeface="Times New Roman" panose="02020603050405020304" pitchFamily="18" charset="0"/>
                <a:cs typeface="Times New Roman" panose="02020603050405020304" pitchFamily="18" charset="0"/>
              </a:rPr>
              <a:t>, K.S 3. Development of an Online Bus Ticket Reservation System for a Transportation Service in Nigeria. Computer Engineering and Intelligent Systems ISSN 2222-1719 (Paper) ISSN 2222-2863 (Online) Vol.5, No.12, 2014.</a:t>
            </a:r>
          </a:p>
          <a:p>
            <a:pPr marL="0" indent="0">
              <a:buNone/>
            </a:pPr>
            <a:r>
              <a:rPr lang="en-IN" sz="1900" dirty="0">
                <a:latin typeface="Times New Roman" panose="02020603050405020304" pitchFamily="18" charset="0"/>
                <a:cs typeface="Times New Roman" panose="02020603050405020304" pitchFamily="18" charset="0"/>
              </a:rPr>
              <a:t>[3] </a:t>
            </a:r>
            <a:r>
              <a:rPr lang="en-IN" sz="1900" dirty="0" err="1">
                <a:latin typeface="Times New Roman" panose="02020603050405020304" pitchFamily="18" charset="0"/>
                <a:cs typeface="Times New Roman" panose="02020603050405020304" pitchFamily="18" charset="0"/>
              </a:rPr>
              <a:t>Sharmin</a:t>
            </a:r>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Akter</a:t>
            </a:r>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Thouhedul</a:t>
            </a:r>
            <a:r>
              <a:rPr lang="en-IN" sz="1900" dirty="0">
                <a:latin typeface="Times New Roman" panose="02020603050405020304" pitchFamily="18" charset="0"/>
                <a:cs typeface="Times New Roman" panose="02020603050405020304" pitchFamily="18" charset="0"/>
              </a:rPr>
              <a:t> Islam, </a:t>
            </a:r>
            <a:r>
              <a:rPr lang="en-IN" sz="1900" dirty="0" err="1">
                <a:latin typeface="Times New Roman" panose="02020603050405020304" pitchFamily="18" charset="0"/>
                <a:cs typeface="Times New Roman" panose="02020603050405020304" pitchFamily="18" charset="0"/>
              </a:rPr>
              <a:t>Rashidah</a:t>
            </a:r>
            <a:r>
              <a:rPr lang="en-IN" sz="1900" dirty="0">
                <a:latin typeface="Times New Roman" panose="02020603050405020304" pitchFamily="18" charset="0"/>
                <a:cs typeface="Times New Roman" panose="02020603050405020304" pitchFamily="18" charset="0"/>
              </a:rPr>
              <a:t> F. Olanrewaju, Ajayi Adeniyi Binyamin. A Cloud-Based Bus Tracking System Based on Internet-of-Things Technology. 2019 7th International Conference on Mechatronics Engineering (ICOM).</a:t>
            </a:r>
          </a:p>
          <a:p>
            <a:pPr marL="0" indent="0">
              <a:buNone/>
            </a:pPr>
            <a:r>
              <a:rPr lang="en-IN" sz="1900" dirty="0">
                <a:latin typeface="Times New Roman" panose="02020603050405020304" pitchFamily="18" charset="0"/>
                <a:cs typeface="Times New Roman" panose="02020603050405020304" pitchFamily="18" charset="0"/>
              </a:rPr>
              <a:t>[4] Vinayak Nair, Amit </a:t>
            </a:r>
            <a:r>
              <a:rPr lang="en-IN" sz="1900" dirty="0" err="1">
                <a:latin typeface="Times New Roman" panose="02020603050405020304" pitchFamily="18" charset="0"/>
                <a:cs typeface="Times New Roman" panose="02020603050405020304" pitchFamily="18" charset="0"/>
              </a:rPr>
              <a:t>Pawar</a:t>
            </a:r>
            <a:r>
              <a:rPr lang="en-IN" sz="1900" dirty="0">
                <a:latin typeface="Times New Roman" panose="02020603050405020304" pitchFamily="18" charset="0"/>
                <a:cs typeface="Times New Roman" panose="02020603050405020304" pitchFamily="18" charset="0"/>
              </a:rPr>
              <a:t>, D. L. </a:t>
            </a:r>
            <a:r>
              <a:rPr lang="en-IN" sz="1900" dirty="0" err="1">
                <a:latin typeface="Times New Roman" panose="02020603050405020304" pitchFamily="18" charset="0"/>
                <a:cs typeface="Times New Roman" panose="02020603050405020304" pitchFamily="18" charset="0"/>
              </a:rPr>
              <a:t>Tidke</a:t>
            </a:r>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Vishakha</a:t>
            </a:r>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Pagar</a:t>
            </a:r>
            <a:r>
              <a:rPr lang="en-IN" sz="1900" dirty="0">
                <a:latin typeface="Times New Roman" panose="02020603050405020304" pitchFamily="18" charset="0"/>
                <a:cs typeface="Times New Roman" panose="02020603050405020304" pitchFamily="18" charset="0"/>
              </a:rPr>
              <a:t> and Nikita </a:t>
            </a:r>
            <a:r>
              <a:rPr lang="en-IN" sz="1900" dirty="0" err="1">
                <a:latin typeface="Times New Roman" panose="02020603050405020304" pitchFamily="18" charset="0"/>
                <a:cs typeface="Times New Roman" panose="02020603050405020304" pitchFamily="18" charset="0"/>
              </a:rPr>
              <a:t>Wani</a:t>
            </a:r>
            <a:r>
              <a:rPr lang="en-IN" sz="1900" dirty="0">
                <a:latin typeface="Times New Roman" panose="02020603050405020304" pitchFamily="18" charset="0"/>
                <a:cs typeface="Times New Roman" panose="02020603050405020304" pitchFamily="18" charset="0"/>
              </a:rPr>
              <a:t>. Online Bus Tracking and Ticketing System. MVP Journal of Engineering Sciences, Vol 1(1), DOI: 10.18311/</a:t>
            </a:r>
            <a:r>
              <a:rPr lang="en-IN" sz="1900" dirty="0" err="1">
                <a:latin typeface="Times New Roman" panose="02020603050405020304" pitchFamily="18" charset="0"/>
                <a:cs typeface="Times New Roman" panose="02020603050405020304" pitchFamily="18" charset="0"/>
              </a:rPr>
              <a:t>mvpjes</a:t>
            </a:r>
            <a:r>
              <a:rPr lang="en-IN" sz="1900" dirty="0">
                <a:latin typeface="Times New Roman" panose="02020603050405020304" pitchFamily="18" charset="0"/>
                <a:cs typeface="Times New Roman" panose="02020603050405020304" pitchFamily="18" charset="0"/>
              </a:rPr>
              <a:t>/2018/v1i1/18297, June 2018.</a:t>
            </a:r>
          </a:p>
          <a:p>
            <a:pPr marL="0" indent="0">
              <a:buNone/>
            </a:pPr>
            <a:r>
              <a:rPr lang="en-IN" sz="1900" dirty="0">
                <a:latin typeface="Times New Roman" panose="02020603050405020304" pitchFamily="18" charset="0"/>
                <a:cs typeface="Times New Roman" panose="02020603050405020304" pitchFamily="18" charset="0"/>
              </a:rPr>
              <a:t>[5] Filipe Araujo, Marilia </a:t>
            </a:r>
            <a:r>
              <a:rPr lang="en-IN" sz="1900" dirty="0" err="1">
                <a:latin typeface="Times New Roman" panose="02020603050405020304" pitchFamily="18" charset="0"/>
                <a:cs typeface="Times New Roman" panose="02020603050405020304" pitchFamily="18" charset="0"/>
              </a:rPr>
              <a:t>Curado</a:t>
            </a:r>
            <a:r>
              <a:rPr lang="en-IN" sz="1900" dirty="0">
                <a:latin typeface="Times New Roman" panose="02020603050405020304" pitchFamily="18" charset="0"/>
                <a:cs typeface="Times New Roman" panose="02020603050405020304" pitchFamily="18" charset="0"/>
              </a:rPr>
              <a:t>, Pedro Furtado, Raul Barbosa. Taking an Electronic Ticketing System to the Cloud: Design and Discussion. 2014 IEEE International Conference on Big Data.</a:t>
            </a:r>
          </a:p>
          <a:p>
            <a:pPr marL="0" indent="0">
              <a:buNone/>
            </a:pPr>
            <a:r>
              <a:rPr lang="en-IN" sz="1900" dirty="0">
                <a:latin typeface="Times New Roman" panose="02020603050405020304" pitchFamily="18" charset="0"/>
                <a:cs typeface="Times New Roman" panose="02020603050405020304" pitchFamily="18" charset="0"/>
              </a:rPr>
              <a:t>[6] </a:t>
            </a:r>
            <a:r>
              <a:rPr lang="en-IN" sz="1900" dirty="0" err="1">
                <a:latin typeface="Times New Roman" panose="02020603050405020304" pitchFamily="18" charset="0"/>
                <a:cs typeface="Times New Roman" panose="02020603050405020304" pitchFamily="18" charset="0"/>
              </a:rPr>
              <a:t>Nwakanma</a:t>
            </a:r>
            <a:r>
              <a:rPr lang="en-IN" sz="1900" dirty="0">
                <a:latin typeface="Times New Roman" panose="02020603050405020304" pitchFamily="18" charset="0"/>
                <a:cs typeface="Times New Roman" panose="02020603050405020304" pitchFamily="18" charset="0"/>
              </a:rPr>
              <a:t> Ifeanyi Cosmas, </a:t>
            </a:r>
            <a:r>
              <a:rPr lang="en-IN" sz="1900" dirty="0" err="1">
                <a:latin typeface="Times New Roman" panose="02020603050405020304" pitchFamily="18" charset="0"/>
                <a:cs typeface="Times New Roman" panose="02020603050405020304" pitchFamily="18" charset="0"/>
              </a:rPr>
              <a:t>Etus</a:t>
            </a:r>
            <a:r>
              <a:rPr lang="en-IN" sz="1900" dirty="0">
                <a:latin typeface="Times New Roman" panose="02020603050405020304" pitchFamily="18" charset="0"/>
                <a:cs typeface="Times New Roman" panose="02020603050405020304" pitchFamily="18" charset="0"/>
              </a:rPr>
              <a:t> C, </a:t>
            </a:r>
            <a:r>
              <a:rPr lang="en-IN" sz="1900" dirty="0" err="1">
                <a:latin typeface="Times New Roman" panose="02020603050405020304" pitchFamily="18" charset="0"/>
                <a:cs typeface="Times New Roman" panose="02020603050405020304" pitchFamily="18" charset="0"/>
              </a:rPr>
              <a:t>Ajere</a:t>
            </a:r>
            <a:r>
              <a:rPr lang="en-IN" sz="1900" dirty="0">
                <a:latin typeface="Times New Roman" panose="02020603050405020304" pitchFamily="18" charset="0"/>
                <a:cs typeface="Times New Roman" panose="02020603050405020304" pitchFamily="18" charset="0"/>
              </a:rPr>
              <a:t> I.U. &amp; </a:t>
            </a:r>
            <a:r>
              <a:rPr lang="en-IN" sz="1900" dirty="0" err="1">
                <a:latin typeface="Times New Roman" panose="02020603050405020304" pitchFamily="18" charset="0"/>
                <a:cs typeface="Times New Roman" panose="02020603050405020304" pitchFamily="18" charset="0"/>
              </a:rPr>
              <a:t>Agomuo</a:t>
            </a:r>
            <a:r>
              <a:rPr lang="en-IN" sz="1900" dirty="0">
                <a:latin typeface="Times New Roman" panose="02020603050405020304" pitchFamily="18" charset="0"/>
                <a:cs typeface="Times New Roman" panose="02020603050405020304" pitchFamily="18" charset="0"/>
              </a:rPr>
              <a:t> </a:t>
            </a:r>
            <a:r>
              <a:rPr lang="en-IN" sz="1900" dirty="0" err="1">
                <a:latin typeface="Times New Roman" panose="02020603050405020304" pitchFamily="18" charset="0"/>
                <a:cs typeface="Times New Roman" panose="02020603050405020304" pitchFamily="18" charset="0"/>
              </a:rPr>
              <a:t>Uchechukwu</a:t>
            </a:r>
            <a:r>
              <a:rPr lang="en-IN" sz="1900" dirty="0">
                <a:latin typeface="Times New Roman" panose="02020603050405020304" pitchFamily="18" charset="0"/>
                <a:cs typeface="Times New Roman" panose="02020603050405020304" pitchFamily="18" charset="0"/>
              </a:rPr>
              <a:t> Godswill. Online Bus Ticket Reservation System. IIARD International Journal Of Computer Science And Statistics Vol. 1 No.2, 2015 www.iiardonline.org</a:t>
            </a:r>
          </a:p>
          <a:p>
            <a:pPr marL="0" indent="0">
              <a:buNone/>
            </a:pPr>
            <a:endParaRPr lang="en-US" sz="19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812</TotalTime>
  <Words>679</Words>
  <Application>Microsoft Office PowerPoint</Application>
  <PresentationFormat>Widescreen</PresentationFormat>
  <Paragraphs>47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    Bus Booking System using(AWS)  by</vt:lpstr>
      <vt:lpstr>CONTENT</vt:lpstr>
      <vt:lpstr>INTRODUCTION</vt:lpstr>
      <vt:lpstr>PROBLEM STATEMENT</vt:lpstr>
      <vt:lpstr>  PROJECT DESIGN</vt:lpstr>
      <vt:lpstr> PROJECT DESIGN</vt:lpstr>
      <vt:lpstr> PROJECT DESIGN</vt:lpstr>
      <vt:lpstr>PowerPoint Presentation</vt:lpstr>
      <vt:lpstr>PowerPoint Presentation</vt:lpstr>
      <vt:lpstr>PowerPoint Presentation</vt:lpstr>
      <vt:lpstr>PowerPoint Presentation</vt:lpstr>
      <vt:lpstr>SUMMARY</vt:lpstr>
      <vt:lpstr>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mitesh raval</dc:creator>
  <cp:lastModifiedBy> </cp:lastModifiedBy>
  <cp:revision>89</cp:revision>
  <dcterms:created xsi:type="dcterms:W3CDTF">2019-10-23T13:44:00Z</dcterms:created>
  <dcterms:modified xsi:type="dcterms:W3CDTF">2020-05-19T10:05:50Z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1033-10.2.0.7636</vt:lpwstr>
  </property>
</Properties>
</file>